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LM 迭代用上标 (k)，路径 Newton 用下标 n，正文在不混淆处省略迭代标记。ŝ 表示代码返回的有限次路径估计，s* 仅在讨论理想的内部最近点时使用。表内 w 是 0/1 有效性掩码，不是测量精度权重；seed 使用三维全局、未白化的欧氏残差。优化坐标混合了位移、角度、斜率和缩放曲率，J 各列及 H 各元素的单位不相同；αI₅ 是所选数值坐标中的阻尼，不应赋予统一物理单位。κ 赋予 mm⁻¹ 单位时，ρₛ 无量纲。vᵢ 对应 p_smt / hit_directions，只用于初始方向。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这里 dx/ds、dy/ds 是横向切向分量；三者不宜统称为三维方向余弦。积分式在 ρ = 0 处有可去奇点，并非曲线本身发散。非归一化 sinc 的展开是 1 − a²/6 + O(a⁴)。若仅讨论物理背景，SI 制中 |ρ| = |qB_z|/p_T，需统一动量、长度单位；本 seed 算法不使用该关系，故正文不引入磁场、电荷和动量符号。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这里的 gauge（参考点规范）固定是局部参数化：初始切向穿过其法平面，局部可消去沿曲线平移原点的自由度；不声称任意远处曲线与该平面有唯一交点。几何目标的参数冗余不能直接用于断言“冻结路径 JᵀJ 必定奇异”，因为该 J 没有包含路径随参数变化的项。当前 _fit_helix_points_gauss_newton_block 在进入 LM 前构造 frame，迭代过程中不重建。初始方向分母的 10⁻⁶ 是代码数值保护，不是由几何推导出的物理常数。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路径初值取 xy 切向投影，随后优化的仍是三维欧氏距离。到初始直线的三维最小二乘投影为 ((p−r₀)ᵀt(0))/(1+τ²)，数学上可作对照，但当前代码没有采用。路径边界用于候选有效性检查，不是对闭区间约束极小问题的完整求解，也不是把路径截断到边界。分母保护仍允许负二阶导，不能保证距离每步下降。上述 cₙ 是本页局部记号，表示 Newton 候选路径。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残差乘 w 的公式只表达有效项选择；程序用 torch.where，避免将无效数值简单乘零。每次目标评估重新求路径，在线性化中对路径和有效 mask 停止梯度。对固定路径残差映射，精确 Hessian 为 JᵀJ + Σⱼ rⱼ∇²rⱼ；GN 省略后一项。对完整最近点目标，还须考虑路径全导数及有效集变化。只有在精确内部最近点、有效集固定、分支可微时，包络性质使路径项对目标一阶导的贡献为零；有限次 Newton 仅近似满足。两种 Jacobian 的二次型一般不同，因此当前驻点指标是基于冻结路径局部模型的指标。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εμ 用于驻点评估，与自适应步长阻尼 μ 不同。令 mε(Δ)=m(Δ)+(εμ/2)ΔᵀMΔ，则 ΔA 是该微阻尼模型的极小点，mε(0)−mε(ΔA)=ν/2；在原始 m 上下降还多出 (εμ/2)ΔAᵀMΔA。因此有微阻尼时不应把原始模型下降量无条件写成 ν/2。只有无微阻尼且 H 可逆时，Δ=−H⁻¹g 的原始模型下降才严格等于 gᵀH⁻¹g/2。当前实际 LM 步使用自适应 μ，亦不能把 ν/2 当作其实际目标下降。终态非驻点比例允许最多 0.1%，与循环内“全部驻点才提前退出”不同。当前主线 JOINT_SMT_SEED_ITERS=200，并传入求解器；底层 GAUSS_NEWTON_MAX_ITERS=60 只在调用未覆盖时生效。CPU 路径使用 float64；主线 GPU 路径可传入 float32，底层求解器不会自动升精度。主线还按配置检查无效点比例。这里不使用“10⁻⁶ 低于 float32 分辨率”这一不准确解释。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9.png"/><Relationship Id="rId10" Type="http://schemas.openxmlformats.org/officeDocument/2006/relationships/image" Target="../media/image38.png"/><Relationship Id="rId1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png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52.png"/><Relationship Id="rId12" Type="http://schemas.openxmlformats.org/officeDocument/2006/relationships/image" Target="../media/image51.png"/><Relationship Id="rId11" Type="http://schemas.openxmlformats.org/officeDocument/2006/relationships/image" Target="../media/image50.png"/><Relationship Id="rId10" Type="http://schemas.openxmlformats.org/officeDocument/2006/relationships/image" Target="../media/image49.png"/><Relationship Id="rId1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统一符号表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约定：单径迹推导省略径迹索引；位置用 mm，曲率用 mm⁻¹。表内向量在展示公式中加粗。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几何与参数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35024"/>
          <a:ext cx="6611112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056632"/>
              </a:tblGrid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定义 · 维度 / 单位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i；n；k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hit；路径 Newton；外层 LM 的索引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Nₕ；T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单轨 hit 槽位数；批内径迹数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pᵢ；vᵢ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SMT 全局点 [mm]；初始方向 [3 维]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s；ℓ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横向有向弧长；三维弧长 [mm]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η；r₀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六维几何参数；s = 0 参考点 [mm]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ψ₀；τ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初始方位角 [rad]；dz/ds = tanλ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ρ；ρₛ；κ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曲率；无量纲缩放曲率；10⁻⁴ mm⁻¹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θ；a₀, a₁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五维优化变量；法平面位移 [mm]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o；e₀, e₁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固定参考原点；两条正交单位轴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h(η,s)；t(s)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位置 [mm]；∂h/∂s [无量纲]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h″(s)；d(s)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路径二阶导 [mm⁻¹]；h − p [mm]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f(s)；ŝᵢ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单点距离目标 [mm²]；路径估计 [mm]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16368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残差与优化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16368" y="1335024"/>
          <a:ext cx="6611112" cy="5111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056632"/>
              </a:tblGrid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符号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定义 · 维度 / 单位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bᵢ；wᵢ；E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非目标层 mask；有效 mask；有效点集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rᵢ；r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单点 3 维；堆叠 3Nₕ 维 [mm]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F；m(Δ)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整轨目标；局部二次模型 [mm²]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J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冻结路径 Jacobian [3Nₕ × 5]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H；g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JᵀJ [5 × 5]；Jᵀr [5 维]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Δ；θᶜ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五维候选步；候选优化变量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α；M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平均对角尺度；M = αI₅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μ；εμ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自适应 LM 阻尼；固定微阻尼 10⁻¹²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A；ν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 + εμM；gᵀA⁻¹g [mm²]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νʳᵉˡ；stat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相对驻点指标；逐轨驻点判定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εc；Smax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路径分母保护 10⁻⁹；路径界 1200 mm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Kmax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LM 预算；主线默认 200，底层 60</a:t>
                      </a:r>
                    </a:p>
                  </a:txBody>
                  <a:tcPr marL="64008" marR="27432" marT="32004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4500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e000" descr="\boldsymbol\eta=(x_0,y_0,z_0,\psi_0,\tau,\rho)"/>
              <p:cNvSpPr txBox="1"/>
              <p:nvPr/>
            </p:nvSpPr>
            <p:spPr>
              <a:xfrm>
                <a:off x="502920" y="6638544"/>
                <a:ext cx="6611112" cy="43891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𝜼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𝑥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𝑧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𝜓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𝜏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𝜌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" name="e000" descr="\boldsymbol\eta=(x_0,y_0,z_0,\psi_0,\tau,\rho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6638544"/>
                <a:ext cx="6611112" cy="438912"/>
              </a:xfrm>
              <a:prstGeom prst="rect">
                <a:avLst/>
              </a:prstGeom>
              <a:blipFill rotWithShape="1">
                <a:blip r:embed="rId1"/>
                <a:stretch>
                  <a:fillRect t="-58" r="2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fallback_e000" descr="\boldsymbol\eta=(x_0,y_0,z_0,\psi_0,\tau,\rho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731000"/>
            <a:ext cx="2512847" cy="254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001" descr="\boldsymbol\theta=(a_0,a_1,\psi_0,\tau,\rho_s),\quad\rho=\kappa\rho_s"/>
              <p:cNvSpPr txBox="1"/>
              <p:nvPr/>
            </p:nvSpPr>
            <p:spPr>
              <a:xfrm>
                <a:off x="7516368" y="6638544"/>
                <a:ext cx="6611112" cy="43891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𝜽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𝜓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𝜏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𝜌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𝜌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𝜅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𝜌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" name="e001" descr="\boldsymbol\theta=(a_0,a_1,\psi_0,\tau,\rho_s),\quad\rho=\kappa\rho_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6638544"/>
                <a:ext cx="6611112" cy="438912"/>
              </a:xfrm>
              <a:prstGeom prst="rect">
                <a:avLst/>
              </a:prstGeom>
              <a:blipFill rotWithShape="1">
                <a:blip r:embed="rId3"/>
                <a:stretch>
                  <a:fillRect l="-8" t="-58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fallback_e001" descr="\boldsymbol\theta=(a_0,a_1,\psi_0,\tau,\rho_s),\quad\rho=\kappa\rho_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6731000"/>
            <a:ext cx="3485489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819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Helix 方程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实现：scripts/helix_model.py · helix_point / helix_tangent / _sinc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横向弧长约定 → 坐标积分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002" descr="\psi(s)=\psi_0+\rho s,\qquad\rho=\frac{d\psi}{ds}"/>
              <p:cNvSpPr txBox="1"/>
              <p:nvPr/>
            </p:nvSpPr>
            <p:spPr>
              <a:xfrm>
                <a:off x="502920" y="1353312"/>
                <a:ext cx="6611112" cy="5943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𝜓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𝜓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a:rPr sz="2000">
                          <a:latin typeface="Cambria Math" panose="02040503050406030204"/>
                        </a:rPr>
                        <m:t>𝜌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𝜌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𝑑𝜓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𝑑𝑠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6" name="e002" descr="\psi(s)=\psi_0+\rho s,\qquad\rho=\frac{d\psi}{ds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353312"/>
                <a:ext cx="6611112" cy="594360"/>
              </a:xfrm>
              <a:prstGeom prst="rect">
                <a:avLst/>
              </a:prstGeom>
              <a:blipFill rotWithShape="1">
                <a:blip r:embed="rId1"/>
                <a:stretch>
                  <a:fillRect t="-4081" r="2" b="-4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003" descr="\frac{dx}{ds}=\cos\psi(s),\quad\frac{dy}{ds}=\sin\psi(s),\quad\frac{dz}{ds}=\tau"/>
              <p:cNvSpPr txBox="1"/>
              <p:nvPr/>
            </p:nvSpPr>
            <p:spPr>
              <a:xfrm>
                <a:off x="502920" y="2039112"/>
                <a:ext cx="6611112" cy="58521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𝑑𝑥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𝑑𝑠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𝑐𝑜𝑠</m:t>
                      </m:r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𝜓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𝑑𝑦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𝑑𝑠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𝑠𝑖𝑛</m:t>
                      </m:r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𝜓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𝑑𝑧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𝑑𝑠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𝜏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e003" descr="\frac{dx}{ds}=\cos\psi(s),\quad\frac{dy}{ds}=\sin\psi(s),\quad\frac{dz}{ds}=\tau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039112"/>
                <a:ext cx="6611112" cy="585216"/>
              </a:xfrm>
              <a:prstGeom prst="rect">
                <a:avLst/>
              </a:prstGeom>
              <a:blipFill rotWithShape="1">
                <a:blip r:embed="rId2"/>
                <a:stretch>
                  <a:fillRect t="-4905" r="2" b="-4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004" descr="x(s)=x_0+\frac{\sin(\psi_0+\rho s)-\sin\psi_0}{\rho}"/>
              <p:cNvSpPr txBox="1"/>
              <p:nvPr/>
            </p:nvSpPr>
            <p:spPr>
              <a:xfrm>
                <a:off x="502920" y="3154680"/>
                <a:ext cx="6611112" cy="6400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𝑥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𝑥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𝑠𝑖𝑛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𝜓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0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/>
                            </a:rPr>
                            <m:t>+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𝜌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𝑠𝑖𝑛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𝜓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9" name="e004" descr="x(s)=x_0+\frac{\sin(\psi_0+\rho s)-\sin\psi_0}{\rho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154680"/>
                <a:ext cx="6611112" cy="640080"/>
              </a:xfrm>
              <a:prstGeom prst="rect">
                <a:avLst/>
              </a:prstGeom>
              <a:blipFill rotWithShape="1">
                <a:blip r:embed="rId3"/>
                <a:stretch>
                  <a:fillRect t="-4762" r="2" b="-49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005" descr="y(s)=y_0+\frac{\cos\psi_0-\cos(\psi_0+\rho s)}{\rho}"/>
              <p:cNvSpPr txBox="1"/>
              <p:nvPr/>
            </p:nvSpPr>
            <p:spPr>
              <a:xfrm>
                <a:off x="502920" y="3922776"/>
                <a:ext cx="6611112" cy="6400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𝑦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𝑐𝑜𝑠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𝜓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0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𝑐𝑜𝑠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𝜓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0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/>
                            </a:rPr>
                            <m:t>+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𝜌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0" name="e005" descr="y(s)=y_0+\frac{\cos\psi_0-\cos(\psi_0+\rho s)}{\rho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922776"/>
                <a:ext cx="6611112" cy="640080"/>
              </a:xfrm>
              <a:prstGeom prst="rect">
                <a:avLst/>
              </a:prstGeom>
              <a:blipFill rotWithShape="1">
                <a:blip r:embed="rId4"/>
                <a:stretch>
                  <a:fillRect t="-4821" r="2" b="-4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006" descr="z(s)=z_0+\tau s"/>
              <p:cNvSpPr txBox="1"/>
              <p:nvPr/>
            </p:nvSpPr>
            <p:spPr>
              <a:xfrm>
                <a:off x="502920" y="4690872"/>
                <a:ext cx="6611112" cy="43891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𝑧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𝑧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a:rPr sz="2000">
                          <a:latin typeface="Cambria Math" panose="02040503050406030204"/>
                        </a:rPr>
                        <m:t>𝜏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e006" descr="z(s)=z_0+\tau 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690872"/>
                <a:ext cx="6611112" cy="438912"/>
              </a:xfrm>
              <a:prstGeom prst="rect">
                <a:avLst/>
              </a:prstGeom>
              <a:blipFill rotWithShape="1">
                <a:blip r:embed="rId5"/>
                <a:stretch>
                  <a:fillRect t="-29" r="2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007" descr="a=\rho s/2,\qquad\operatorname{sinc}(a)=\frac{\sin a}{a},\quad\operatorname{sinc}(0)=1"/>
              <p:cNvSpPr txBox="1"/>
              <p:nvPr/>
            </p:nvSpPr>
            <p:spPr>
              <a:xfrm>
                <a:off x="502920" y="5797296"/>
                <a:ext cx="6611112" cy="56692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8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 panose="02040503050406030204"/>
                        </a:rPr>
                        <m:t>𝑎</m:t>
                      </m:r>
                      <m:r>
                        <a:rPr sz="1800">
                          <a:latin typeface="Cambria Math" panose="02040503050406030204"/>
                        </a:rPr>
                        <m:t>=</m:t>
                      </m:r>
                      <m:r>
                        <a:rPr sz="1800">
                          <a:latin typeface="Cambria Math" panose="02040503050406030204"/>
                        </a:rPr>
                        <m:t>𝜌</m:t>
                      </m:r>
                      <m:r>
                        <a:rPr sz="1800">
                          <a:latin typeface="Cambria Math" panose="02040503050406030204"/>
                        </a:rPr>
                        <m:t>𝑠</m:t>
                      </m:r>
                      <m:r>
                        <a:rPr sz="1800">
                          <a:latin typeface="Cambria Math" panose="02040503050406030204"/>
                        </a:rPr>
                        <m:t>/</m:t>
                      </m:r>
                      <m:r>
                        <a:rPr sz="1800">
                          <a:latin typeface="Cambria Math" panose="02040503050406030204"/>
                        </a:rPr>
                        <m:t>2</m:t>
                      </m:r>
                      <m:r>
                        <a:rPr sz="1800">
                          <a:latin typeface="Cambria Math" panose="02040503050406030204"/>
                        </a:rPr>
                        <m:t>,</m:t>
                      </m:r>
                      <m:r>
                        <a:rPr sz="1800">
                          <a:latin typeface="Cambria Math" panose="02040503050406030204"/>
                        </a:rPr>
                        <m:t> </m:t>
                      </m:r>
                      <m:r>
                        <a:rPr sz="1800">
                          <a:latin typeface="Cambria Math" panose="02040503050406030204"/>
                        </a:rPr>
                        <m:t>𝑠𝑖𝑛𝑐</m:t>
                      </m:r>
                      <m:r>
                        <a:rPr sz="1800">
                          <a:latin typeface="Cambria Math" panose="02040503050406030204"/>
                        </a:rPr>
                        <m:t>⁡</m:t>
                      </m:r>
                      <m:r>
                        <a:rPr sz="1800">
                          <a:latin typeface="Cambria Math" panose="02040503050406030204"/>
                        </a:rPr>
                        <m:t>(</m:t>
                      </m:r>
                      <m:r>
                        <a:rPr sz="1800">
                          <a:latin typeface="Cambria Math" panose="02040503050406030204"/>
                        </a:rPr>
                        <m:t>𝑎</m:t>
                      </m:r>
                      <m:r>
                        <a:rPr sz="1800">
                          <a:latin typeface="Cambria Math" panose="02040503050406030204"/>
                        </a:rPr>
                        <m:t>)</m:t>
                      </m:r>
                      <m:r>
                        <a:rPr sz="18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1800">
                              <a:latin typeface="Cambria Math" panose="02040503050406030204"/>
                            </a:rPr>
                            <m:t>𝑠𝑖𝑛</m:t>
                          </m:r>
                          <m:r>
                            <a:rPr sz="18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1800">
                              <a:latin typeface="Cambria Math" panose="02040503050406030204"/>
                            </a:rPr>
                            <m:t> </m:t>
                          </m:r>
                          <m:r>
                            <a:rPr sz="1800">
                              <a:latin typeface="Cambria Math" panose="02040503050406030204"/>
                            </a:rPr>
                            <m:t>𝑎</m:t>
                          </m:r>
                        </m:num>
                        <m:den>
                          <m:r>
                            <a:rPr sz="1800">
                              <a:latin typeface="Cambria Math" panose="02040503050406030204"/>
                            </a:rPr>
                            <m:t>𝑎</m:t>
                          </m:r>
                        </m:den>
                      </m:f>
                      <m:r>
                        <a:rPr sz="1800">
                          <a:latin typeface="Cambria Math" panose="02040503050406030204"/>
                        </a:rPr>
                        <m:t>,</m:t>
                      </m:r>
                      <m:r>
                        <a:rPr sz="1800">
                          <a:latin typeface="Cambria Math" panose="02040503050406030204"/>
                        </a:rPr>
                        <m:t> </m:t>
                      </m:r>
                      <m:r>
                        <a:rPr sz="1800">
                          <a:latin typeface="Cambria Math" panose="02040503050406030204"/>
                        </a:rPr>
                        <m:t>𝑠𝑖𝑛𝑐</m:t>
                      </m:r>
                      <m:r>
                        <a:rPr sz="1800">
                          <a:latin typeface="Cambria Math" panose="02040503050406030204"/>
                        </a:rPr>
                        <m:t>⁡</m:t>
                      </m:r>
                      <m:r>
                        <a:rPr sz="1800">
                          <a:latin typeface="Cambria Math" panose="02040503050406030204"/>
                        </a:rPr>
                        <m:t>(</m:t>
                      </m:r>
                      <m:r>
                        <a:rPr sz="1800">
                          <a:latin typeface="Cambria Math" panose="02040503050406030204"/>
                        </a:rPr>
                        <m:t>0</m:t>
                      </m:r>
                      <m:r>
                        <a:rPr sz="1800">
                          <a:latin typeface="Cambria Math" panose="02040503050406030204"/>
                        </a:rPr>
                        <m:t>)</m:t>
                      </m:r>
                      <m:r>
                        <a:rPr sz="1800">
                          <a:latin typeface="Cambria Math" panose="02040503050406030204"/>
                        </a:rPr>
                        <m:t>=</m:t>
                      </m:r>
                      <m:r>
                        <a:rPr sz="1800">
                          <a:latin typeface="Cambria Math" panose="02040503050406030204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3" name="e007" descr="a=\rho s/2,\qquad\operatorname{sinc}(a)=\frac{\sin a}{a},\quad\operatorname{sinc}(0)=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797296"/>
                <a:ext cx="6611112" cy="566928"/>
              </a:xfrm>
              <a:prstGeom prst="rect">
                <a:avLst/>
              </a:prstGeom>
              <a:blipFill rotWithShape="1">
                <a:blip r:embed="rId6"/>
                <a:stretch>
                  <a:fillRect t="-515" r="2" b="-4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008" descr="\sin(\psi_0+2a)-\sin\psi_0=2\cos(\psi_0+a)\sin a"/>
              <p:cNvSpPr txBox="1"/>
              <p:nvPr/>
            </p:nvSpPr>
            <p:spPr>
              <a:xfrm>
                <a:off x="502920" y="6538786"/>
                <a:ext cx="6611112" cy="30924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8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 panose="02040503050406030204"/>
                        </a:rPr>
                        <m:t>𝑠𝑖𝑛</m:t>
                      </m:r>
                      <m:r>
                        <a:rPr sz="1800">
                          <a:latin typeface="Cambria Math" panose="02040503050406030204"/>
                        </a:rPr>
                        <m:t>⁡(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800">
                              <a:latin typeface="Cambria Math" panose="02040503050406030204"/>
                            </a:rPr>
                            <m:t>𝜓</m:t>
                          </m:r>
                        </m:e>
                        <m:sub>
                          <m:r>
                            <a:rPr sz="18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800">
                          <a:latin typeface="Cambria Math" panose="02040503050406030204"/>
                        </a:rPr>
                        <m:t>+</m:t>
                      </m:r>
                      <m:r>
                        <a:rPr sz="1800">
                          <a:latin typeface="Cambria Math" panose="02040503050406030204"/>
                        </a:rPr>
                        <m:t>2</m:t>
                      </m:r>
                      <m:r>
                        <a:rPr lang="en-US" sz="1800">
                          <a:latin typeface="Cambria Math" panose="02040503050406030204"/>
                          <a:ea typeface="MS Mincho" charset="0"/>
                          <a:cs typeface="Cambria Math" panose="02040503050406030204"/>
                        </a:rPr>
                        <m:t>a</m:t>
                      </m:r>
                      <m:r>
                        <a:rPr sz="1800">
                          <a:latin typeface="Cambria Math" panose="02040503050406030204"/>
                        </a:rPr>
                        <m:t>)</m:t>
                      </m:r>
                      <m:r>
                        <a:rPr sz="1800">
                          <a:latin typeface="Cambria Math" panose="02040503050406030204"/>
                        </a:rPr>
                        <m:t>−</m:t>
                      </m:r>
                      <m:r>
                        <a:rPr sz="1800">
                          <a:latin typeface="Cambria Math" panose="02040503050406030204"/>
                        </a:rPr>
                        <m:t>𝑠𝑖𝑛</m:t>
                      </m:r>
                      <m:r>
                        <a:rPr sz="1800">
                          <a:latin typeface="Cambria Math" panose="02040503050406030204"/>
                        </a:rPr>
                        <m:t>⁡</m:t>
                      </m:r>
                      <m:r>
                        <a:rPr sz="18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800">
                              <a:latin typeface="Cambria Math" panose="02040503050406030204"/>
                            </a:rPr>
                            <m:t>𝜓</m:t>
                          </m:r>
                        </m:e>
                        <m:sub>
                          <m:r>
                            <a:rPr sz="18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800">
                          <a:latin typeface="Cambria Math" panose="02040503050406030204"/>
                        </a:rPr>
                        <m:t>=</m:t>
                      </m:r>
                      <m:r>
                        <a:rPr sz="1800">
                          <a:latin typeface="Cambria Math" panose="02040503050406030204"/>
                        </a:rPr>
                        <m:t>2</m:t>
                      </m:r>
                      <m:r>
                        <a:rPr sz="1800">
                          <a:latin typeface="Cambria Math" panose="02040503050406030204"/>
                        </a:rPr>
                        <m:t> </m:t>
                      </m:r>
                      <m:r>
                        <a:rPr sz="1800">
                          <a:latin typeface="Cambria Math" panose="02040503050406030204"/>
                        </a:rPr>
                        <m:t>𝑐𝑜𝑠</m:t>
                      </m:r>
                      <m:r>
                        <a:rPr sz="1800">
                          <a:latin typeface="Cambria Math" panose="02040503050406030204"/>
                        </a:rPr>
                        <m:t>⁡</m:t>
                      </m:r>
                      <m:r>
                        <a:rPr sz="18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800">
                              <a:latin typeface="Cambria Math" panose="02040503050406030204"/>
                            </a:rPr>
                            <m:t>𝜓</m:t>
                          </m:r>
                        </m:e>
                        <m:sub>
                          <m:r>
                            <a:rPr sz="18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800">
                          <a:latin typeface="Cambria Math" panose="02040503050406030204"/>
                        </a:rPr>
                        <m:t>+</m:t>
                      </m:r>
                      <m:r>
                        <a:rPr sz="1800">
                          <a:latin typeface="Cambria Math" panose="02040503050406030204"/>
                        </a:rPr>
                        <m:t>𝑎</m:t>
                      </m:r>
                      <m:r>
                        <a:rPr sz="1800">
                          <a:latin typeface="Cambria Math" panose="02040503050406030204"/>
                        </a:rPr>
                        <m:t>)</m:t>
                      </m:r>
                      <m:r>
                        <a:rPr sz="1800">
                          <a:latin typeface="Cambria Math" panose="02040503050406030204"/>
                        </a:rPr>
                        <m:t>𝑠𝑖𝑛</m:t>
                      </m:r>
                      <m:r>
                        <a:rPr sz="1800">
                          <a:latin typeface="Cambria Math" panose="02040503050406030204"/>
                        </a:rPr>
                        <m:t>⁡</m:t>
                      </m:r>
                      <m:r>
                        <a:rPr sz="1800">
                          <a:latin typeface="Cambria Math" panose="02040503050406030204"/>
                        </a:rPr>
                        <m:t> </m:t>
                      </m:r>
                      <m:r>
                        <a:rPr sz="1800">
                          <a:latin typeface="Cambria Math" panose="02040503050406030204"/>
                        </a:rPr>
                        <m:t>𝑎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e008" descr="\sin(\psi_0+2a)-\sin\psi_0=2\cos(\psi_0+a)\sin 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6538786"/>
                <a:ext cx="6611112" cy="309245"/>
              </a:xfrm>
              <a:prstGeom prst="rect">
                <a:avLst/>
              </a:prstGeom>
              <a:blipFill rotWithShape="1">
                <a:blip r:embed="rId7"/>
                <a:stretch>
                  <a:fillRect t="-62" r="2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fallback_e009" descr="\cos\psi_0-\cos(\psi_0+2a)=2\sin(\psi_0+a)\sin 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7146036"/>
            <a:ext cx="4161708" cy="228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010" descr="\mathbf h(\boldsymbol\eta,s)=\begin{bmatrix}x_0+s\cos(\psi_0+a)\operatorname{sinc}(a)\\y_0+s\sin(\psi_0+a)\operatorname{sinc}(a)\\z_0+\tau s\end{bmatrix}"/>
              <p:cNvSpPr txBox="1"/>
              <p:nvPr/>
            </p:nvSpPr>
            <p:spPr>
              <a:xfrm>
                <a:off x="7516368" y="1371600"/>
                <a:ext cx="6611112" cy="11887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𝜼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[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/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/>
                                </m:ctrlPr>
                              </m:sSubPr>
                              <m:e>
                                <m:r>
                                  <a:rPr sz="2000">
                                    <a:latin typeface="Cambria Math" panose="02040503050406030204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sz="2000">
                                    <a:latin typeface="Cambria Math" panose="02040503050406030204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000">
                                <a:latin typeface="Cambria Math" panose="02040503050406030204"/>
                              </a:rPr>
                              <m:t>+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𝑠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 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𝑐𝑜𝑠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⁡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/>
                                </m:ctrlPr>
                              </m:sSubPr>
                              <m:e>
                                <m:r>
                                  <a:rPr sz="2000">
                                    <a:latin typeface="Cambria Math" panose="02040503050406030204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sz="2000">
                                    <a:latin typeface="Cambria Math" panose="02040503050406030204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000">
                                <a:latin typeface="Cambria Math" panose="02040503050406030204"/>
                              </a:rPr>
                              <m:t>+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𝑎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)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𝑠𝑖𝑛𝑐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⁡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(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𝑎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)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/>
                                </m:ctrlPr>
                              </m:sSubPr>
                              <m:e>
                                <m:r>
                                  <a:rPr sz="2000">
                                    <a:latin typeface="Cambria Math" panose="02040503050406030204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sz="2000">
                                    <a:latin typeface="Cambria Math" panose="02040503050406030204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000">
                                <a:latin typeface="Cambria Math" panose="02040503050406030204"/>
                              </a:rPr>
                              <m:t>+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𝑠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 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𝑠𝑖𝑛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⁡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/>
                                </m:ctrlPr>
                              </m:sSubPr>
                              <m:e>
                                <m:r>
                                  <a:rPr sz="2000">
                                    <a:latin typeface="Cambria Math" panose="02040503050406030204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sz="2000">
                                    <a:latin typeface="Cambria Math" panose="02040503050406030204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000">
                                <a:latin typeface="Cambria Math" panose="02040503050406030204"/>
                              </a:rPr>
                              <m:t>+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𝑎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)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𝑠𝑖𝑛𝑐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⁡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(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𝑎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)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/>
                                </m:ctrlPr>
                              </m:sSubPr>
                              <m:e>
                                <m:r>
                                  <a:rPr sz="2000">
                                    <a:latin typeface="Cambria Math" panose="02040503050406030204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sz="2000">
                                    <a:latin typeface="Cambria Math" panose="02040503050406030204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sz="2000">
                                <a:latin typeface="Cambria Math" panose="02040503050406030204"/>
                              </a:rPr>
                              <m:t>+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𝜏</m:t>
                            </m:r>
                            <m:r>
                              <a:rPr sz="2000">
                                <a:latin typeface="Cambria Math" panose="02040503050406030204"/>
                              </a:rPr>
                              <m:t>𝑠</m:t>
                            </m:r>
                          </m:e>
                        </m:mr>
                      </m:m>
                      <m:r>
                        <a:rPr sz="2000">
                          <a:latin typeface="Cambria Math" panose="02040503050406030204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7" name="e010" descr="\mathbf h(\boldsymbol\eta,s)=\begin{bmatrix}x_0+s\cos(\psi_0+a)\operatorname{sinc}(a)\\y_0+s\sin(\psi_0+a)\operatorname{sinc}(a)\\z_0+\tau s\end{bmatrix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1371600"/>
                <a:ext cx="6611112" cy="1188720"/>
              </a:xfrm>
              <a:prstGeom prst="rect">
                <a:avLst/>
              </a:prstGeom>
              <a:blipFill rotWithShape="1">
                <a:blip r:embed="rId9"/>
                <a:stretch>
                  <a:fillRect l="-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011" descr="\rho\to0:\quad\mathbf h\to\mathbf r_0+s(\cos\psi_0,\sin\psi_0,\tau)^{\mathsf T}"/>
              <p:cNvSpPr txBox="1"/>
              <p:nvPr/>
            </p:nvSpPr>
            <p:spPr>
              <a:xfrm>
                <a:off x="7516368" y="2734056"/>
                <a:ext cx="6611112" cy="5029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00">
                          <a:latin typeface="Cambria Math" panose="02040503050406030204"/>
                        </a:rPr>
                        <m:t>𝜌</m:t>
                      </m:r>
                      <m:r>
                        <a:rPr sz="1900">
                          <a:latin typeface="Cambria Math" panose="02040503050406030204"/>
                        </a:rPr>
                        <m:t>→</m:t>
                      </m:r>
                      <m:r>
                        <a:rPr sz="1900">
                          <a:latin typeface="Cambria Math" panose="02040503050406030204"/>
                        </a:rPr>
                        <m:t>0</m:t>
                      </m:r>
                      <m:r>
                        <a:rPr sz="1900">
                          <a:latin typeface="Cambria Math" panose="02040503050406030204"/>
                        </a:rPr>
                        <m:t>: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r>
                        <a:rPr sz="1900">
                          <a:latin typeface="Cambria Math" panose="02040503050406030204"/>
                        </a:rPr>
                        <m:t>𝐡</m:t>
                      </m:r>
                      <m:r>
                        <a:rPr sz="1900">
                          <a:latin typeface="Cambria Math" panose="02040503050406030204"/>
                        </a:rPr>
                        <m:t>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+</m:t>
                      </m:r>
                      <m:r>
                        <a:rPr sz="1900">
                          <a:latin typeface="Cambria Math" panose="02040503050406030204"/>
                        </a:rPr>
                        <m:t>𝑠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𝑐𝑜𝑠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 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𝜓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0</m:t>
                              </m:r>
                            </m:sub>
                          </m:sSub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𝑠𝑖𝑛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 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𝜓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0</m:t>
                              </m:r>
                            </m:sub>
                          </m:sSub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𝜏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8" name="e011" descr="\rho\to0:\quad\mathbf h\to\mathbf r_0+s(\cos\psi_0,\sin\psi_0,\tau)^{\mathsf T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734056"/>
                <a:ext cx="6611112" cy="502920"/>
              </a:xfrm>
              <a:prstGeom prst="rect">
                <a:avLst/>
              </a:prstGeom>
              <a:blipFill rotWithShape="1">
                <a:blip r:embed="rId10"/>
                <a:stretch>
                  <a:fillRect l="-8" t="-76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7516368" y="4206240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4  路径一、二阶导数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e012" descr="\mathbf t(s)=\mathbf h_s=(\cos\psi(s),\sin\psi(s),\tau)^{\mathsf T}"/>
              <p:cNvSpPr txBox="1"/>
              <p:nvPr/>
            </p:nvSpPr>
            <p:spPr>
              <a:xfrm>
                <a:off x="7516368" y="4682236"/>
                <a:ext cx="6611112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𝐭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)=</m:t>
                      </m:r>
                      <m:acc>
                        <m:accPr>
                          <m:chr m:val="̇"/>
                          <m:ctrlPr>
                            <a:rPr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</m:t>
                          </m:r>
                        </m:e>
                      </m:acc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𝑐𝑜𝑠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𝜓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𝑠𝑖𝑛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𝜓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𝜏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1" name="e012" descr="\mathbf t(s)=\mathbf h_s=(\cos\psi(s),\sin\psi(s),\tau)^{\mathsf T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4682236"/>
                <a:ext cx="6611112" cy="355600"/>
              </a:xfrm>
              <a:prstGeom prst="rect">
                <a:avLst/>
              </a:prstGeom>
              <a:blipFill rotWithShape="1">
                <a:blip r:embed="rId11"/>
                <a:stretch>
                  <a:fillRect l="-8" t="-107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013" descr="\mathbf h_{ss}=(-\rho\sin\psi(s),\rho\cos\psi(s),0)^{\mathsf T}"/>
              <p:cNvSpPr txBox="1"/>
              <p:nvPr/>
            </p:nvSpPr>
            <p:spPr>
              <a:xfrm>
                <a:off x="7516368" y="5313172"/>
                <a:ext cx="6611112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</m:t>
                          </m:r>
                        </m:e>
                      </m:acc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(−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𝜌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𝑠𝑖𝑛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𝜓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𝜌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𝑐𝑜𝑠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𝜓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2" name="e013" descr="\mathbf h_{ss}=(-\rho\sin\psi(s),\rho\cos\psi(s),0)^{\mathsf T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5313172"/>
                <a:ext cx="6611112" cy="355600"/>
              </a:xfrm>
              <a:prstGeom prst="rect">
                <a:avLst/>
              </a:prstGeom>
              <a:blipFill rotWithShape="1">
                <a:blip r:embed="rId12"/>
                <a:stretch>
                  <a:fillRect l="-8" t="-36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e014" descr="\|\mathbf t\|^2=1+\tau^2,\qquad\frac{d\ell}{ds}=\sqrt{1+\tau^2}"/>
              <p:cNvSpPr txBox="1"/>
              <p:nvPr/>
            </p:nvSpPr>
            <p:spPr>
              <a:xfrm>
                <a:off x="7516368" y="5971032"/>
                <a:ext cx="6611112" cy="6400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‖</m:t>
                      </m:r>
                      <m:r>
                        <a:rPr sz="2000">
                          <a:latin typeface="Cambria Math" panose="02040503050406030204"/>
                        </a:rPr>
                        <m:t>𝐭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‖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2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1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𝜏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2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ℓ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𝑑𝑠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/>
                          </m:ctrlPr>
                        </m:radPr>
                        <m:deg/>
                        <m:e>
                          <m:r>
                            <a:rPr sz="2000">
                              <a:latin typeface="Cambria Math" panose="02040503050406030204"/>
                            </a:rPr>
                            <m:t>1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+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𝜏</m:t>
                              </m:r>
                            </m:e>
                            <m:sup>
                              <m:r>
                                <a:rPr sz="2000">
                                  <a:latin typeface="Cambria Math" panose="02040503050406030204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</a:p>
            </p:txBody>
          </p:sp>
        </mc:Choice>
        <mc:Fallback>
          <p:sp>
            <p:nvSpPr>
              <p:cNvPr id="23" name="e014" descr="\|\mathbf t\|^2=1+\tau^2,\qquad\frac{d\ell}{ds}=\sqrt{1+\tau^2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5971032"/>
                <a:ext cx="6611112" cy="640080"/>
              </a:xfrm>
              <a:prstGeom prst="rect">
                <a:avLst/>
              </a:prstGeom>
              <a:blipFill rotWithShape="1">
                <a:blip r:embed="rId13"/>
                <a:stretch>
                  <a:fillRect l="-8" t="-119" b="-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7374255" y="245554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初始化取 </a:t>
            </a:r>
            <a:r>
              <a:rPr lang="en-US" altLang="zh-CN"/>
              <a:t>ρ = 0，sinc </a:t>
            </a:r>
            <a:r>
              <a:rPr lang="zh-CN" altLang="en-US"/>
              <a:t>形式直接给出直线极限。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86105" y="285496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 </a:t>
            </a:r>
            <a:r>
              <a:rPr lang="en-US" altLang="zh-CN"/>
              <a:t>r₀ </a:t>
            </a:r>
            <a:r>
              <a:rPr lang="zh-CN" altLang="en-US"/>
              <a:t>为 </a:t>
            </a:r>
            <a:r>
              <a:rPr lang="en-US" altLang="zh-CN"/>
              <a:t>s = 0 </a:t>
            </a:r>
            <a:r>
              <a:rPr lang="zh-CN" altLang="en-US"/>
              <a:t>的参考点。</a:t>
            </a:r>
            <a:r>
              <a:rPr lang="en-US" altLang="zh-CN"/>
              <a:t>ρ ≠ 0 </a:t>
            </a:r>
            <a:r>
              <a:rPr lang="zh-CN" altLang="en-US"/>
              <a:t>时积分：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2920" y="545782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和</a:t>
            </a:r>
            <a:r>
              <a:rPr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化积 → 消去直接除以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ρ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374255" y="111950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实际计算采用的稳定式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374255" y="6848475"/>
            <a:ext cx="5803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 </a:t>
            </a:r>
            <a:r>
              <a:rPr lang="zh-CN" altLang="en-US"/>
              <a:t>是对横向弧长的导数，通常不是三维单位切向量。</a:t>
            </a:r>
            <a:endParaRPr lang="zh-CN" altLang="en-US"/>
          </a:p>
          <a:p>
            <a:r>
              <a:rPr lang="en-US" altLang="zh-CN"/>
              <a:t>ρ </a:t>
            </a:r>
            <a:r>
              <a:rPr lang="zh-CN" altLang="en-US"/>
              <a:t>为带符号几何拟合量，不由磁场公式赋初值。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五维参数化与初始化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实现：ml_alignment_autograd.py · seed_helices；helix_model.py · reference_gauge_frame / pack / unpack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同一曲线的参考点冗余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015" descr="\mathbf r_0^{\prime}=\mathbf h(\boldsymbol\eta,\delta),\quad\psi_0^{\prime}=\psi_0+\rho\delta"/>
              <p:cNvSpPr txBox="1"/>
              <p:nvPr/>
            </p:nvSpPr>
            <p:spPr>
              <a:xfrm>
                <a:off x="502920" y="1335024"/>
                <a:ext cx="6611112" cy="5029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′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𝜼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𝛿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𝜓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′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𝜓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a:rPr sz="2000">
                          <a:latin typeface="Cambria Math" panose="02040503050406030204"/>
                        </a:rPr>
                        <m:t>𝜌</m:t>
                      </m:r>
                      <m:r>
                        <a:rPr sz="2000">
                          <a:latin typeface="Cambria Math" panose="02040503050406030204"/>
                        </a:rPr>
                        <m:t>𝛿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015" descr="\mathbf r_0^{\prime}=\mathbf h(\boldsymbol\eta,\delta),\quad\psi_0^{\prime}=\psi_0+\rho\delt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335024"/>
                <a:ext cx="6611112" cy="502920"/>
              </a:xfrm>
              <a:prstGeom prst="rect">
                <a:avLst/>
              </a:prstGeom>
              <a:blipFill rotWithShape="1">
                <a:blip r:embed="rId1"/>
                <a:stretch>
                  <a:fillRect t="-51" r="2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016" descr="\mathbf h(\boldsymbol\eta^{\prime},s-\delta)=\mathbf h(\boldsymbol\eta,s)"/>
              <p:cNvSpPr txBox="1"/>
              <p:nvPr/>
            </p:nvSpPr>
            <p:spPr>
              <a:xfrm>
                <a:off x="502920" y="1956816"/>
                <a:ext cx="6611112" cy="4572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𝜼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′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−</m:t>
                      </m:r>
                      <m:r>
                        <a:rPr sz="2000">
                          <a:latin typeface="Cambria Math" panose="02040503050406030204"/>
                        </a:rPr>
                        <m:t>𝛿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𝜼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e016" descr="\mathbf h(\boldsymbol\eta^{\prime},s-\delta)=\mathbf h(\boldsymbol\eta,s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956816"/>
                <a:ext cx="6611112" cy="457200"/>
              </a:xfrm>
              <a:prstGeom prst="rect">
                <a:avLst/>
              </a:prstGeom>
              <a:blipFill rotWithShape="1">
                <a:blip r:embed="rId2"/>
                <a:stretch>
                  <a:fillRect t="-83" r="2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02920" y="3456432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2  构造固定参考平面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017" descr="\widehat{\mathbf t}_0=\frac{\mathbf t(\boldsymbol\eta^{(0)},0)}{\|\mathbf t(\boldsymbol\eta^{(0)},0)\|}"/>
              <p:cNvSpPr txBox="1"/>
              <p:nvPr/>
            </p:nvSpPr>
            <p:spPr>
              <a:xfrm>
                <a:off x="502920" y="3849624"/>
                <a:ext cx="6611112" cy="6583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limUpp>
                            <m:limUppPr>
                              <m:ctrlPr>
                                <a:rPr/>
                              </m:ctrlPr>
                            </m:limUppPr>
                            <m:e>
                              <m:r>
                                <a:rPr sz="1895">
                                  <a:latin typeface="Cambria Math" panose="02040503050406030204"/>
                                </a:rPr>
                                <m:t>𝐭</m:t>
                              </m:r>
                            </m:e>
                            <m:lim>
                              <m:r>
                                <a:rPr sz="1895">
                                  <a:latin typeface="Cambria Math" panose="02040503050406030204"/>
                                </a:rPr>
                                <m:t>ˆ</m:t>
                              </m:r>
                            </m:lim>
                          </m:limUpp>
                        </m:e>
                        <m:sub>
                          <m:r>
                            <a:rPr sz="1895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895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1895">
                              <a:latin typeface="Cambria Math" panose="02040503050406030204"/>
                            </a:rPr>
                            <m:t>𝐭</m:t>
                          </m:r>
                          <m:r>
                            <a:rPr sz="1895">
                              <a:latin typeface="Cambria Math" panose="02040503050406030204"/>
                            </a:rPr>
                            <m:t>(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1895">
                                  <a:latin typeface="Cambria Math" panose="02040503050406030204"/>
                                </a:rPr>
                                <m:t>𝜼</m:t>
                              </m:r>
                            </m:e>
                            <m:sup>
                              <m:r>
                                <a:rPr sz="1895">
                                  <a:latin typeface="Cambria Math" panose="02040503050406030204"/>
                                </a:rPr>
                                <m:t>(</m:t>
                              </m:r>
                              <m:r>
                                <a:rPr sz="1895">
                                  <a:latin typeface="Cambria Math" panose="02040503050406030204"/>
                                </a:rPr>
                                <m:t>0</m:t>
                              </m:r>
                              <m:r>
                                <a:rPr sz="1895">
                                  <a:latin typeface="Cambria Math" panose="02040503050406030204"/>
                                </a:rPr>
                                <m:t>)</m:t>
                              </m:r>
                            </m:sup>
                          </m:sSup>
                          <m:r>
                            <a:rPr sz="1895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895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1895">
                              <a:latin typeface="Cambria Math" panose="02040503050406030204"/>
                            </a:rPr>
                            <m:t>)</m:t>
                          </m:r>
                        </m:num>
                        <m:den>
                          <m:r>
                            <a:rPr sz="1895">
                              <a:latin typeface="Cambria Math" panose="02040503050406030204"/>
                            </a:rPr>
                            <m:t>‖</m:t>
                          </m:r>
                          <m:r>
                            <a:rPr sz="1895">
                              <a:latin typeface="Cambria Math" panose="02040503050406030204"/>
                            </a:rPr>
                            <m:t>𝐭</m:t>
                          </m:r>
                          <m:r>
                            <a:rPr sz="1895">
                              <a:latin typeface="Cambria Math" panose="02040503050406030204"/>
                            </a:rPr>
                            <m:t>(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1895">
                                  <a:latin typeface="Cambria Math" panose="02040503050406030204"/>
                                </a:rPr>
                                <m:t>𝜼</m:t>
                              </m:r>
                            </m:e>
                            <m:sup>
                              <m:r>
                                <a:rPr sz="1895">
                                  <a:latin typeface="Cambria Math" panose="02040503050406030204"/>
                                </a:rPr>
                                <m:t>(</m:t>
                              </m:r>
                              <m:r>
                                <a:rPr sz="1895">
                                  <a:latin typeface="Cambria Math" panose="02040503050406030204"/>
                                </a:rPr>
                                <m:t>0</m:t>
                              </m:r>
                              <m:r>
                                <a:rPr sz="1895">
                                  <a:latin typeface="Cambria Math" panose="02040503050406030204"/>
                                </a:rPr>
                                <m:t>)</m:t>
                              </m:r>
                            </m:sup>
                          </m:sSup>
                          <m:r>
                            <a:rPr sz="1895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895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1895">
                              <a:latin typeface="Cambria Math" panose="02040503050406030204"/>
                            </a:rPr>
                            <m:t>)</m:t>
                          </m:r>
                          <m:r>
                            <a:rPr sz="1895">
                              <a:latin typeface="Cambria Math" panose="02040503050406030204"/>
                            </a:rPr>
                            <m:t>‖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0" name="e017" descr="\widehat{\mathbf t}_0=\frac{\mathbf t(\boldsymbol\eta^{(0)},0)}{\|\mathbf t(\boldsymbol\eta^{(0)},0)\|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849624"/>
                <a:ext cx="6611112" cy="658368"/>
              </a:xfrm>
              <a:prstGeom prst="rect">
                <a:avLst/>
              </a:prstGeom>
              <a:blipFill rotWithShape="1">
                <a:blip r:embed="rId3"/>
                <a:stretch>
                  <a:fillRect t="-7272" r="2" b="-7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018" descr="\mathbf e_0=\frac{\mathbf u\times\widehat{\mathbf t}_0}{\|\mathbf u\times\widehat{\mathbf t}_0\|},\quad\mathbf e_1=\widehat{\mathbf t}_0\times\mathbf e_0"/>
              <p:cNvSpPr txBox="1"/>
              <p:nvPr/>
            </p:nvSpPr>
            <p:spPr>
              <a:xfrm>
                <a:off x="502920" y="4663440"/>
                <a:ext cx="6611112" cy="7680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𝐞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𝐮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×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/>
                                  </m:ctrlPr>
                                </m:limUppPr>
                                <m:e>
                                  <m:r>
                                    <a:rPr sz="2000">
                                      <a:latin typeface="Cambria Math" panose="02040503050406030204"/>
                                    </a:rPr>
                                    <m:t>𝐭</m:t>
                                  </m:r>
                                </m:e>
                                <m:lim>
                                  <m:r>
                                    <a:rPr sz="2000">
                                      <a:latin typeface="Cambria Math" panose="02040503050406030204"/>
                                    </a:rPr>
                                    <m:t>ˆ</m:t>
                                  </m:r>
                                </m:lim>
                              </m:limUpp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‖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𝐮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×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/>
                                  </m:ctrlPr>
                                </m:limUppPr>
                                <m:e>
                                  <m:r>
                                    <a:rPr sz="2000">
                                      <a:latin typeface="Cambria Math" panose="02040503050406030204"/>
                                    </a:rPr>
                                    <m:t>𝐭</m:t>
                                  </m:r>
                                </m:e>
                                <m:lim>
                                  <m:r>
                                    <a:rPr sz="2000">
                                      <a:latin typeface="Cambria Math" panose="02040503050406030204"/>
                                    </a:rPr>
                                    <m:t>ˆ</m:t>
                                  </m:r>
                                </m:lim>
                              </m:limUpp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0</m:t>
                              </m:r>
                            </m:sub>
                          </m:sSub>
                          <m:r>
                            <a:rPr sz="2000">
                              <a:latin typeface="Cambria Math" panose="02040503050406030204"/>
                            </a:rPr>
                            <m:t>‖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𝐞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limUpp>
                            <m:limUppPr>
                              <m:ctrlPr>
                                <a:rPr/>
                              </m:ctrlPr>
                            </m:limUp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𝐭</m:t>
                              </m:r>
                            </m:e>
                            <m:lim>
                              <m:r>
                                <a:rPr sz="2000">
                                  <a:latin typeface="Cambria Math" panose="02040503050406030204"/>
                                </a:rPr>
                                <m:t>ˆ</m:t>
                              </m:r>
                            </m:lim>
                          </m:limUpp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×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𝐞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" name="e018" descr="\mathbf e_0=\frac{\mathbf u\times\widehat{\mathbf t}_0}{\|\mathbf u\times\widehat{\mathbf t}_0\|},\quad\mathbf e_1=\widehat{\mathbf t}_0\times\mathbf e_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663440"/>
                <a:ext cx="6611112" cy="768096"/>
              </a:xfrm>
              <a:prstGeom prst="rect">
                <a:avLst/>
              </a:prstGeom>
              <a:blipFill rotWithShape="1">
                <a:blip r:embed="rId4"/>
                <a:stretch>
                  <a:fillRect t="-18271" r="2" b="-183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019" descr="\mathbf r_0=\mathbf o+a_0\mathbf e_0+a_1\mathbf e_1,\quad\rho=\kappa\rho_s"/>
              <p:cNvSpPr txBox="1"/>
              <p:nvPr/>
            </p:nvSpPr>
            <p:spPr>
              <a:xfrm>
                <a:off x="543560" y="6634607"/>
                <a:ext cx="6611112" cy="5303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𝐨</m:t>
                      </m:r>
                      <m:r>
                        <a:rPr sz="1900">
                          <a:latin typeface="Cambria Math" panose="02040503050406030204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𝐞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𝐞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r>
                        <a:rPr sz="1900">
                          <a:latin typeface="Cambria Math" panose="02040503050406030204"/>
                        </a:rPr>
                        <m:t>𝜌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𝜅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𝜌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" name="e019" descr="\mathbf r_0=\mathbf o+a_0\mathbf e_0+a_1\mathbf e_1,\quad\rho=\kappa\rho_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60" y="6634607"/>
                <a:ext cx="6611112" cy="530352"/>
              </a:xfrm>
              <a:prstGeom prst="rect">
                <a:avLst/>
              </a:prstGeom>
              <a:blipFill rotWithShape="1">
                <a:blip r:embed="rId5"/>
                <a:stretch>
                  <a:fillRect t="-24" r="2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7516368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3  按实际 seed 流程构造初值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1344168"/>
            <a:ext cx="6611112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bᵢ 为非目标层拟合 mask，j 为首个 bᵢ = 1 的槽位。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取该点的 SMT 全局位置 pⱼ 与方向 vⱼ。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020" descr="\mathbf r_0^{(0)}=\mathbf p_j,\qquad\psi_0^{(0)}=\operatorname{atan2}(v_{j,y},v_{j,x})"/>
              <p:cNvSpPr txBox="1"/>
              <p:nvPr/>
            </p:nvSpPr>
            <p:spPr>
              <a:xfrm>
                <a:off x="7516368" y="2221992"/>
                <a:ext cx="6611112" cy="5486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𝐩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𝜓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𝑎𝑡𝑎𝑛</m:t>
                      </m:r>
                      <m:r>
                        <a:rPr sz="1900">
                          <a:latin typeface="Cambria Math" panose="02040503050406030204"/>
                        </a:rPr>
                        <m:t>2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𝑦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𝑗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,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𝑥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7" name="e020" descr="\mathbf r_0^{(0)}=\mathbf p_j,\qquad\psi_0^{(0)}=\operatorname{atan2}(v_{j,y},v_{j,x}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221992"/>
                <a:ext cx="6611112" cy="548640"/>
              </a:xfrm>
              <a:prstGeom prst="rect">
                <a:avLst/>
              </a:prstGeom>
              <a:blipFill rotWithShape="1">
                <a:blip r:embed="rId6"/>
                <a:stretch>
                  <a:fillRect l="-8" t="-23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021" descr="\tau^{(0)}=\frac{v_{j,z}}{\max(\sqrt{v_{j,x}^2+v_{j,y}^2},10^{-6})}"/>
              <p:cNvSpPr txBox="1"/>
              <p:nvPr/>
            </p:nvSpPr>
            <p:spPr>
              <a:xfrm>
                <a:off x="7516368" y="2935224"/>
                <a:ext cx="6611112" cy="74980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890">
                              <a:latin typeface="Cambria Math" panose="02040503050406030204"/>
                            </a:rPr>
                            <m:t>𝜏</m:t>
                          </m:r>
                        </m:e>
                        <m:sup>
                          <m:r>
                            <a:rPr sz="189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189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1890">
                              <a:latin typeface="Cambria Math" panose="02040503050406030204"/>
                            </a:rPr>
                            <m:t>)</m:t>
                          </m:r>
                        </m:sup>
                      </m:sSup>
                      <m:r>
                        <a:rPr sz="189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890">
                                  <a:latin typeface="Cambria Math" panose="02040503050406030204"/>
                                </a:rPr>
                                <m:t>𝑣</m:t>
                              </m:r>
                            </m:e>
                            <m:sub>
                              <m:r>
                                <a:rPr sz="1890">
                                  <a:latin typeface="Cambria Math" panose="02040503050406030204"/>
                                </a:rPr>
                                <m:t>𝑗</m:t>
                              </m:r>
                              <m:r>
                                <a:rPr sz="1890">
                                  <a:latin typeface="Cambria Math" panose="02040503050406030204"/>
                                </a:rPr>
                                <m:t>,</m:t>
                              </m:r>
                              <m:r>
                                <a:rPr sz="1890">
                                  <a:latin typeface="Cambria Math" panose="02040503050406030204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sz="1890">
                              <a:latin typeface="Cambria Math" panose="02040503050406030204"/>
                            </a:rPr>
                            <m:t>𝑚𝑎𝑥</m:t>
                          </m:r>
                          <m:r>
                            <a:rPr sz="189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1890">
                              <a:latin typeface="Cambria Math" panose="02040503050406030204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/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/>
                                  </m:ctrlPr>
                                </m:sSubSupPr>
                                <m:e>
                                  <m:r>
                                    <a:rPr sz="1890">
                                      <a:latin typeface="Cambria Math" panose="02040503050406030204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sz="1890">
                                      <a:latin typeface="Cambria Math" panose="02040503050406030204"/>
                                    </a:rPr>
                                    <m:t>𝑗</m:t>
                                  </m:r>
                                  <m:r>
                                    <a:rPr sz="1890">
                                      <a:latin typeface="Cambria Math" panose="02040503050406030204"/>
                                    </a:rPr>
                                    <m:t>,</m:t>
                                  </m:r>
                                  <m:r>
                                    <a:rPr sz="1890">
                                      <a:latin typeface="Cambria Math" panose="02040503050406030204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sz="1890">
                                      <a:latin typeface="Cambria Math" panose="02040503050406030204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sz="1890">
                                  <a:latin typeface="Cambria Math" panose="02040503050406030204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/>
                                  </m:ctrlPr>
                                </m:sSubSupPr>
                                <m:e>
                                  <m:r>
                                    <a:rPr sz="1890">
                                      <a:latin typeface="Cambria Math" panose="02040503050406030204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sz="1890">
                                      <a:latin typeface="Cambria Math" panose="02040503050406030204"/>
                                    </a:rPr>
                                    <m:t>𝑗</m:t>
                                  </m:r>
                                  <m:r>
                                    <a:rPr sz="1890">
                                      <a:latin typeface="Cambria Math" panose="02040503050406030204"/>
                                    </a:rPr>
                                    <m:t>,</m:t>
                                  </m:r>
                                  <m:r>
                                    <a:rPr sz="1890">
                                      <a:latin typeface="Cambria Math" panose="02040503050406030204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sz="1890">
                                      <a:latin typeface="Cambria Math" panose="02040503050406030204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  <m:r>
                            <a:rPr sz="1890">
                              <a:latin typeface="Cambria Math" panose="02040503050406030204"/>
                            </a:rPr>
                            <m:t>,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1890">
                                  <a:latin typeface="Cambria Math" panose="02040503050406030204"/>
                                </a:rPr>
                                <m:t>10</m:t>
                              </m:r>
                            </m:e>
                            <m:sup>
                              <m:r>
                                <a:rPr sz="1890">
                                  <a:latin typeface="Cambria Math" panose="02040503050406030204"/>
                                </a:rPr>
                                <m:t>−</m:t>
                              </m:r>
                              <m:r>
                                <a:rPr sz="1890">
                                  <a:latin typeface="Cambria Math" panose="02040503050406030204"/>
                                </a:rPr>
                                <m:t>6</m:t>
                              </m:r>
                            </m:sup>
                          </m:sSup>
                          <m:r>
                            <a:rPr sz="1890">
                              <a:latin typeface="Cambria Math" panose="02040503050406030204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8" name="e021" descr="\tau^{(0)}=\frac{v_{j,z}}{\max(\sqrt{v_{j,x}^2+v_{j,y}^2},10^{-6})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935224"/>
                <a:ext cx="6611112" cy="749808"/>
              </a:xfrm>
              <a:prstGeom prst="rect">
                <a:avLst/>
              </a:prstGeom>
              <a:blipFill rotWithShape="1">
                <a:blip r:embed="rId7"/>
                <a:stretch>
                  <a:fillRect l="-8" t="-16802" b="-16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022" descr="\rho^{(0)}=0,\qquad a_0^{(0)}=a_1^{(0)}=\rho_s^{(0)}=0"/>
              <p:cNvSpPr txBox="1"/>
              <p:nvPr/>
            </p:nvSpPr>
            <p:spPr>
              <a:xfrm>
                <a:off x="7516368" y="3822191"/>
                <a:ext cx="6611112" cy="5303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𝜌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0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1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𝜌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</m:sub>
                        <m:sup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sup>
                      </m:sSub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9" name="e022" descr="\rho^{(0)}=0,\qquad a_0^{(0)}=a_1^{(0)}=\rho_s^{(0)}=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3822191"/>
                <a:ext cx="6611112" cy="530352"/>
              </a:xfrm>
              <a:prstGeom prst="rect">
                <a:avLst/>
              </a:prstGeom>
              <a:blipFill rotWithShape="1">
                <a:blip r:embed="rId8"/>
                <a:stretch>
                  <a:fillRect l="-8" t="-24" b="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e023" descr="\boldsymbol\theta=(a_0,a_1,\psi_0,\tau,\rho_s)\in\mathbb R^5"/>
              <p:cNvSpPr txBox="1"/>
              <p:nvPr/>
            </p:nvSpPr>
            <p:spPr>
              <a:xfrm>
                <a:off x="7516368" y="5047488"/>
                <a:ext cx="6611112" cy="5029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𝜽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𝜓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𝜏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𝜌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∈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ℝ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1" name="e023" descr="\boldsymbol\theta=(a_0,a_1,\psi_0,\tau,\rho_s)\in\mathbb R^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5047488"/>
                <a:ext cx="6611112" cy="502920"/>
              </a:xfrm>
              <a:prstGeom prst="rect">
                <a:avLst/>
              </a:prstGeom>
              <a:blipFill rotWithShape="1">
                <a:blip r:embed="rId9"/>
                <a:stretch>
                  <a:fillRect l="-8" t="-101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024" descr="\boldsymbol\eta(\boldsymbol\theta)=\left(\mathbf r_0(\boldsymbol\theta),\psi_0,\tau,\kappa\rho_s\right)"/>
              <p:cNvSpPr txBox="1"/>
              <p:nvPr/>
            </p:nvSpPr>
            <p:spPr>
              <a:xfrm>
                <a:off x="7516368" y="5715000"/>
                <a:ext cx="6611112" cy="5029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𝜼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𝜽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𝜽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𝜓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𝜏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𝜅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𝜌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2" name="e024" descr="\boldsymbol\eta(\boldsymbol\theta)=\left(\mathbf r_0(\boldsymbol\theta),\psi_0,\tau,\kappa\rho_s\righ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5715000"/>
                <a:ext cx="6611112" cy="502920"/>
              </a:xfrm>
              <a:prstGeom prst="rect">
                <a:avLst/>
              </a:prstGeom>
              <a:blipFill rotWithShape="1">
                <a:blip r:embed="rId10"/>
                <a:stretch>
                  <a:fillRect l="-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349885" y="2440940"/>
            <a:ext cx="55232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同步移动参考点与路径原点，点集不变。</a:t>
            </a:r>
            <a:endParaRPr lang="zh-CN" altLang="en-US"/>
          </a:p>
          <a:p>
            <a:r>
              <a:rPr lang="zh-CN" altLang="en-US"/>
              <a:t>六维描述包含一维冗余；以参考平面选取局部代表。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43560" y="584898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 </a:t>
            </a:r>
            <a:r>
              <a:rPr lang="zh-CN" altLang="en-US"/>
              <a:t>默认取 </a:t>
            </a:r>
            <a:r>
              <a:rPr lang="en-US" altLang="zh-CN"/>
              <a:t>z </a:t>
            </a:r>
            <a:r>
              <a:rPr lang="zh-CN" altLang="en-US"/>
              <a:t>轴；若</a:t>
            </a:r>
            <a:r>
              <a:rPr lang="zh-CN" altLang="en-US">
                <a:sym typeface="+mn-ea"/>
              </a:rPr>
              <a:t> |</a:t>
            </a:r>
            <a:r>
              <a:rPr lang="en-US" altLang="zh-CN">
                <a:sym typeface="+mn-ea"/>
              </a:rPr>
              <a:t>t̂₀,z| &gt; 1 − 10⁻⁶</a:t>
            </a:r>
            <a:r>
              <a:rPr lang="en-US" altLang="zh-CN"/>
              <a:t>，</a:t>
            </a:r>
            <a:r>
              <a:rPr lang="zh-CN" altLang="en-US"/>
              <a:t>改用 </a:t>
            </a:r>
            <a:r>
              <a:rPr lang="en-US" altLang="zh-CN"/>
              <a:t>x </a:t>
            </a:r>
            <a:r>
              <a:rPr lang="zh-CN" altLang="en-US"/>
              <a:t>轴。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02920" y="626618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 = </a:t>
            </a:r>
            <a:r>
              <a:rPr lang="zh-CN" altLang="en-US"/>
              <a:t>初始参考点；(</a:t>
            </a:r>
            <a:r>
              <a:rPr lang="en-US" altLang="zh-CN"/>
              <a:t>o, e₀, e₁) </a:t>
            </a:r>
            <a:r>
              <a:rPr lang="zh-CN" altLang="en-US"/>
              <a:t>在整次求解中固定。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02920" y="7244080"/>
            <a:ext cx="545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降维来自参考点约束；曲率缩放只改变数值坐标。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516495" y="451612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 五维求解 → 六维几何输出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/>
              <p:cNvSpPr txBox="1"/>
              <p:nvPr/>
            </p:nvSpPr>
            <p:spPr>
              <a:xfrm>
                <a:off x="7516431" y="6392164"/>
                <a:ext cx="1886585" cy="3784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𝜅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=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⁻⁴ 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mm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⁻¹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431" y="6392164"/>
                <a:ext cx="1886585" cy="378460"/>
              </a:xfrm>
              <a:prstGeom prst="rect">
                <a:avLst/>
              </a:prstGeom>
              <a:blipFill rotWithShape="1">
                <a:blip r:embed="rId11"/>
                <a:stretch>
                  <a:fillRect l="-30" t="-67" r="30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最近点求解：距离目标 → Newton 迭代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实现：scripts/helix_model.py · closest_helix_points / accept_newton_candidate；ŝ 表示有限次返回值。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固定当前几何参数，建立单点目标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025" descr="\mathbf d(s)=\mathbf h(\boldsymbol\eta,s)-\mathbf p,\quad f(s)=\tfrac12\mathbf d^{\mathsf T}\mathbf d"/>
              <p:cNvSpPr txBox="1"/>
              <p:nvPr/>
            </p:nvSpPr>
            <p:spPr>
              <a:xfrm>
                <a:off x="502920" y="1335024"/>
                <a:ext cx="6611112" cy="5303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𝐝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𝜼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−</m:t>
                      </m:r>
                      <m:r>
                        <a:rPr sz="2000">
                          <a:latin typeface="Cambria Math" panose="02040503050406030204"/>
                        </a:rPr>
                        <m:t>𝐩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𝑓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𝐝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𝐝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025" descr="\mathbf d(s)=\mathbf h(\boldsymbol\eta,s)-\mathbf p,\quad f(s)=\tfrac12\mathbf d^{\mathsf T}\mathbf d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335024"/>
                <a:ext cx="6611112" cy="530352"/>
              </a:xfrm>
              <a:prstGeom prst="rect">
                <a:avLst/>
              </a:prstGeom>
              <a:blipFill rotWithShape="1">
                <a:blip r:embed="rId1"/>
                <a:stretch>
                  <a:fillRect t="-9626" r="2" b="-97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026" descr="f^{\prime}(s)=\tfrac12(\mathbf d_s^{\mathsf T}\mathbf d+\mathbf d^{\mathsf T}\mathbf d_s)=\mathbf d^{\mathsf T}\mathbf t"/>
              <p:cNvSpPr txBox="1"/>
              <p:nvPr/>
            </p:nvSpPr>
            <p:spPr>
              <a:xfrm>
                <a:off x="502920" y="2039112"/>
                <a:ext cx="6611112" cy="55778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𝑓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′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r>
                        <a:rPr sz="1900">
                          <a:latin typeface="Cambria Math" panose="02040503050406030204"/>
                        </a:rPr>
                        <m:t>𝑠</m:t>
                      </m:r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1900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𝐝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𝑠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𝐝</m:t>
                      </m:r>
                      <m:r>
                        <a:rPr sz="1900">
                          <a:latin typeface="Cambria Math" panose="02040503050406030204"/>
                        </a:rPr>
                        <m:t>+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𝐝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𝐝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𝑠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𝐝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𝐭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e026" descr="f^{\prime}(s)=\tfrac12(\mathbf d_s^{\mathsf T}\mathbf d+\mathbf d^{\mathsf T}\mathbf d_s)=\mathbf d^{\mathsf T}\mathbf 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039112"/>
                <a:ext cx="6611112" cy="557784"/>
              </a:xfrm>
              <a:prstGeom prst="rect">
                <a:avLst/>
              </a:prstGeom>
              <a:blipFill rotWithShape="1">
                <a:blip r:embed="rId2"/>
                <a:stretch>
                  <a:fillRect t="-3893" r="2" b="-39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027" descr="f^{\prime\prime}(s)=\mathbf t^{\mathsf T}\mathbf t+\mathbf d^{\mathsf T}\mathbf h_{ss}"/>
              <p:cNvSpPr txBox="1"/>
              <p:nvPr/>
            </p:nvSpPr>
            <p:spPr>
              <a:xfrm>
                <a:off x="502920" y="2770632"/>
                <a:ext cx="6611112" cy="5029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𝑓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′′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𝐭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𝐭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𝐝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𝐡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𝑠𝑠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8" name="e027" descr="f^{\prime\prime}(s)=\mathbf t^{\mathsf T}\mathbf t+\mathbf d^{\mathsf T}\mathbf h_{ss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770632"/>
                <a:ext cx="6611112" cy="502920"/>
              </a:xfrm>
              <a:prstGeom prst="rect">
                <a:avLst/>
              </a:prstGeom>
              <a:blipFill rotWithShape="1">
                <a:blip r:embed="rId3"/>
                <a:stretch>
                  <a:fillRect t="-25" r="2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028" descr="f^{\prime\prime}(s)=1+\tau^2+\mathbf d^{\mathsf T}\mathbf h_{ss}"/>
              <p:cNvSpPr txBox="1"/>
              <p:nvPr/>
            </p:nvSpPr>
            <p:spPr>
              <a:xfrm>
                <a:off x="502920" y="3392424"/>
                <a:ext cx="6611112" cy="5029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𝑓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′′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𝑠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1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𝜏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2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𝐝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𝐡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𝑠𝑠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9" name="e028" descr="f^{\prime\prime}(s)=1+\tau^2+\mathbf d^{\mathsf T}\mathbf h_{ss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392424"/>
                <a:ext cx="6611112" cy="502920"/>
              </a:xfrm>
              <a:prstGeom prst="rect">
                <a:avLst/>
              </a:prstGeom>
              <a:blipFill rotWithShape="1">
                <a:blip r:embed="rId4"/>
                <a:stretch>
                  <a:fillRect t="-51" r="2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029" descr="f^{\prime}(s^*)=0\quad\Longleftrightarrow\quad\mathbf d(s^*)\perp\mathbf t(s^*)"/>
              <p:cNvSpPr txBox="1"/>
              <p:nvPr/>
            </p:nvSpPr>
            <p:spPr>
              <a:xfrm>
                <a:off x="502920" y="4553712"/>
                <a:ext cx="6611112" cy="5394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𝑓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′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𝑠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∗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0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r>
                        <a:rPr sz="1900">
                          <a:latin typeface="Cambria Math" panose="02040503050406030204"/>
                        </a:rPr>
                        <m:t>⟺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r>
                        <a:rPr sz="1900">
                          <a:latin typeface="Cambria Math" panose="02040503050406030204"/>
                        </a:rPr>
                        <m:t>𝐝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𝑠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∗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⟂</m:t>
                      </m:r>
                      <m:r>
                        <a:rPr sz="1900">
                          <a:latin typeface="Cambria Math" panose="02040503050406030204"/>
                        </a:rPr>
                        <m:t>𝐭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𝑠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∗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e029" descr="f^{\prime}(s^*)=0\quad\Longleftrightarrow\quad\mathbf d(s^*)\perp\mathbf t(s^*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553712"/>
                <a:ext cx="6611112" cy="539496"/>
              </a:xfrm>
              <a:prstGeom prst="rect">
                <a:avLst/>
              </a:prstGeom>
              <a:blipFill rotWithShape="1">
                <a:blip r:embed="rId5"/>
                <a:stretch>
                  <a:fillRect t="-24" r="2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02920" y="6172200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3  线性化驻点方程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030" descr="0\approx f^{\prime}(s_n)+f^{\prime\prime}(s_n)\Delta s_n"/>
              <p:cNvSpPr txBox="1"/>
              <p:nvPr/>
            </p:nvSpPr>
            <p:spPr>
              <a:xfrm>
                <a:off x="502920" y="6574536"/>
                <a:ext cx="6611112" cy="4663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0</m:t>
                      </m:r>
                      <m:r>
                        <a:rPr sz="2000">
                          <a:latin typeface="Cambria Math" panose="02040503050406030204"/>
                        </a:rPr>
                        <m:t>≈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𝑓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′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𝑓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′′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4" name="e030" descr="0\approx f^{\prime}(s_n)+f^{\prime\prime}(s_n)\Delta s_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6574536"/>
                <a:ext cx="6611112" cy="466344"/>
              </a:xfrm>
              <a:prstGeom prst="rect">
                <a:avLst/>
              </a:prstGeom>
              <a:blipFill rotWithShape="1">
                <a:blip r:embed="rId6"/>
                <a:stretch>
                  <a:fillRect t="-82"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031" descr="\Delta s_n=-f^{\prime}(s_n)/f^{\prime\prime}(s_n)"/>
              <p:cNvSpPr txBox="1"/>
              <p:nvPr/>
            </p:nvSpPr>
            <p:spPr>
              <a:xfrm>
                <a:off x="502920" y="7168896"/>
                <a:ext cx="6611112" cy="4572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=−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𝑓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′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𝑓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′′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𝑠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5" name="e031" descr="\Delta s_n=-f^{\prime}(s_n)/f^{\prime\prime}(s_n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7168896"/>
                <a:ext cx="6611112" cy="457200"/>
              </a:xfrm>
              <a:prstGeom prst="rect">
                <a:avLst/>
              </a:prstGeom>
              <a:blipFill rotWithShape="1">
                <a:blip r:embed="rId7"/>
                <a:stretch>
                  <a:fillRect t="-83" r="2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032" descr="s_0=(p_x-x_0)\cos\psi_0+(p_y-y_0)\sin\psi_0"/>
              <p:cNvSpPr txBox="1"/>
              <p:nvPr/>
            </p:nvSpPr>
            <p:spPr>
              <a:xfrm>
                <a:off x="7516368" y="1362456"/>
                <a:ext cx="6611112" cy="51206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𝑠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𝑝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𝑥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𝑥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𝑐𝑜𝑠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𝜓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+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𝑝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𝑦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𝑠𝑖𝑛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𝜓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7" name="e032" descr="s_0=(p_x-x_0)\cos\psi_0+(p_y-y_0)\sin\psi_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1362456"/>
                <a:ext cx="6611112" cy="512064"/>
              </a:xfrm>
              <a:prstGeom prst="rect">
                <a:avLst/>
              </a:prstGeom>
              <a:blipFill rotWithShape="1">
                <a:blip r:embed="rId8"/>
                <a:stretch>
                  <a:fillRect l="-8" t="-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033" descr="c_n=s_n-\frac{f^{\prime}(s_n)}{\operatorname{safe}(f^{\prime\prime}(s_n))}"/>
              <p:cNvSpPr txBox="1"/>
              <p:nvPr/>
            </p:nvSpPr>
            <p:spPr>
              <a:xfrm>
                <a:off x="7516368" y="2048256"/>
                <a:ext cx="6611112" cy="6583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1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50">
                              <a:latin typeface="Cambria Math" panose="02040503050406030204"/>
                            </a:rPr>
                            <m:t>𝑐</m:t>
                          </m:r>
                        </m:e>
                        <m:sub>
                          <m:r>
                            <a:rPr sz="2050"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sz="205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50">
                              <a:latin typeface="Cambria Math" panose="02040503050406030204"/>
                            </a:rPr>
                            <m:t>𝑠</m:t>
                          </m:r>
                        </m:e>
                        <m:sub>
                          <m:r>
                            <a:rPr sz="2050"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sz="2050">
                          <a:latin typeface="Cambria Math" panose="02040503050406030204"/>
                        </a:rPr>
                        <m:t>−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050">
                                  <a:latin typeface="Cambria Math" panose="02040503050406030204"/>
                                </a:rPr>
                                <m:t>𝑓</m:t>
                              </m:r>
                            </m:e>
                            <m:sup>
                              <m:r>
                                <a:rPr sz="2050">
                                  <a:latin typeface="Cambria Math" panose="02040503050406030204"/>
                                </a:rPr>
                                <m:t>′</m:t>
                              </m:r>
                            </m:sup>
                          </m:sSup>
                          <m:r>
                            <a:rPr sz="2050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5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2050">
                                  <a:latin typeface="Cambria Math" panose="02040503050406030204"/>
                                </a:rPr>
                                <m:t>𝑛</m:t>
                              </m:r>
                            </m:sub>
                          </m:sSub>
                          <m:r>
                            <a:rPr sz="2050">
                              <a:latin typeface="Cambria Math" panose="02040503050406030204"/>
                            </a:rPr>
                            <m:t>)</m:t>
                          </m:r>
                        </m:num>
                        <m:den>
                          <m:r>
                            <a:rPr sz="2050">
                              <a:latin typeface="Cambria Math" panose="02040503050406030204"/>
                            </a:rPr>
                            <m:t>𝑠𝑎𝑓𝑒</m:t>
                          </m:r>
                          <m:r>
                            <a:rPr sz="205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2050">
                              <a:latin typeface="Cambria Math" panose="02040503050406030204"/>
                            </a:rPr>
                            <m:t>(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050">
                                  <a:latin typeface="Cambria Math" panose="02040503050406030204"/>
                                </a:rPr>
                                <m:t>𝑓</m:t>
                              </m:r>
                            </m:e>
                            <m:sup>
                              <m:r>
                                <a:rPr sz="2050">
                                  <a:latin typeface="Cambria Math" panose="02040503050406030204"/>
                                </a:rPr>
                                <m:t>′′</m:t>
                              </m:r>
                            </m:sup>
                          </m:sSup>
                          <m:r>
                            <a:rPr sz="2050">
                              <a:latin typeface="Cambria Math" panose="02040503050406030204"/>
                            </a:rPr>
                            <m:t>(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5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2050">
                                  <a:latin typeface="Cambria Math" panose="02040503050406030204"/>
                                </a:rPr>
                                <m:t>𝑛</m:t>
                              </m:r>
                            </m:sub>
                          </m:sSub>
                          <m:r>
                            <a:rPr sz="2050">
                              <a:latin typeface="Cambria Math" panose="02040503050406030204"/>
                            </a:rPr>
                            <m:t>)</m:t>
                          </m:r>
                          <m:r>
                            <a:rPr sz="2050">
                              <a:latin typeface="Cambria Math" panose="02040503050406030204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8" name="e033" descr="c_n=s_n-\frac{f^{\prime}(s_n)}{\operatorname{safe}(f^{\prime\prime}(s_n))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048256"/>
                <a:ext cx="6611112" cy="658368"/>
              </a:xfrm>
              <a:prstGeom prst="rect">
                <a:avLst/>
              </a:prstGeom>
              <a:blipFill rotWithShape="1">
                <a:blip r:embed="rId9"/>
                <a:stretch>
                  <a:fillRect l="-8" t="-6520" b="-6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034" descr="\operatorname{safe}(v)=\begin{cases}v,&amp;|v|&gt;\varepsilon_c\\+\varepsilon_c,&amp;0\le v\le\varepsilon_c\\-\varepsilon_c,&amp;-\varepsilon_c\le v&lt;0\end{cases}"/>
              <p:cNvSpPr txBox="1"/>
              <p:nvPr/>
            </p:nvSpPr>
            <p:spPr>
              <a:xfrm>
                <a:off x="7516368" y="2880360"/>
                <a:ext cx="6611112" cy="102412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00">
                          <a:latin typeface="Cambria Math" panose="02040503050406030204"/>
                        </a:rPr>
                        <m:t>𝑠𝑎𝑓𝑒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r>
                        <a:rPr sz="1900">
                          <a:latin typeface="Cambria Math" panose="02040503050406030204"/>
                        </a:rPr>
                        <m:t>𝑣</m:t>
                      </m:r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{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/>
                          </m:ctrlPr>
                        </m:mPr>
                        <m:mr>
                          <m:e>
                            <m:r>
                              <a:rPr sz="1900">
                                <a:latin typeface="Cambria Math" panose="02040503050406030204"/>
                              </a:rPr>
                              <m:t>𝑣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,</m:t>
                            </m:r>
                          </m:e>
                          <m:e>
                            <m:r>
                              <a:rPr sz="1900">
                                <a:latin typeface="Cambria Math" panose="02040503050406030204"/>
                              </a:rPr>
                              <m:t>|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𝑣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|&gt;</m:t>
                            </m:r>
                            <m:sSub>
                              <m:sSubPr>
                                <m:ctrlPr>
                                  <a:rPr/>
                                </m:ctrlPr>
                              </m:sSubPr>
                              <m:e>
                                <m:r>
                                  <a:rPr sz="1900">
                                    <a:latin typeface="Cambria Math" panose="02040503050406030204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sz="1900">
                                    <a:latin typeface="Cambria Math" panose="02040503050406030204"/>
                                  </a:rPr>
                                  <m:t>𝑐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sz="1900">
                                <a:latin typeface="Cambria Math" panose="02040503050406030204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/>
                                </m:ctrlPr>
                              </m:sSubPr>
                              <m:e>
                                <m:r>
                                  <a:rPr sz="1900">
                                    <a:latin typeface="Cambria Math" panose="02040503050406030204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sz="1900">
                                    <a:latin typeface="Cambria Math" panose="02040503050406030204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sz="1900">
                                <a:latin typeface="Cambria Math" panose="02040503050406030204"/>
                              </a:rPr>
                              <m:t>,</m:t>
                            </m:r>
                          </m:e>
                          <m:e>
                            <m:r>
                              <a:rPr sz="1900">
                                <a:latin typeface="Cambria Math" panose="02040503050406030204"/>
                              </a:rPr>
                              <m:t>0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≤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𝑣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≤</m:t>
                            </m:r>
                            <m:sSub>
                              <m:sSubPr>
                                <m:ctrlPr>
                                  <a:rPr/>
                                </m:ctrlPr>
                              </m:sSubPr>
                              <m:e>
                                <m:r>
                                  <a:rPr sz="1900">
                                    <a:latin typeface="Cambria Math" panose="02040503050406030204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sz="1900">
                                    <a:latin typeface="Cambria Math" panose="02040503050406030204"/>
                                  </a:rPr>
                                  <m:t>𝑐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a:rPr sz="1900">
                                <a:latin typeface="Cambria Math" panose="02040503050406030204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/>
                                </m:ctrlPr>
                              </m:sSubPr>
                              <m:e>
                                <m:r>
                                  <a:rPr sz="1900">
                                    <a:latin typeface="Cambria Math" panose="02040503050406030204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sz="1900">
                                    <a:latin typeface="Cambria Math" panose="02040503050406030204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sz="1900">
                                <a:latin typeface="Cambria Math" panose="02040503050406030204"/>
                              </a:rPr>
                              <m:t>,</m:t>
                            </m:r>
                          </m:e>
                          <m:e>
                            <m:r>
                              <a:rPr sz="1900">
                                <a:latin typeface="Cambria Math" panose="02040503050406030204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/>
                                </m:ctrlPr>
                              </m:sSubPr>
                              <m:e>
                                <m:r>
                                  <a:rPr sz="1900">
                                    <a:latin typeface="Cambria Math" panose="02040503050406030204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sz="1900">
                                    <a:latin typeface="Cambria Math" panose="02040503050406030204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sz="1900">
                                <a:latin typeface="Cambria Math" panose="02040503050406030204"/>
                              </a:rPr>
                              <m:t>≤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𝑣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&lt;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  <mc:Fallback>
          <p:sp>
            <p:nvSpPr>
              <p:cNvPr id="19" name="e034" descr="\operatorname{safe}(v)=\begin{cases}v,&amp;|v|&gt;\varepsilon_c\\+\varepsilon_c,&amp;0\le v\le\varepsilon_c\\-\varepsilon_c,&amp;-\varepsilon_c\le v&lt;0\end{cases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880360"/>
                <a:ext cx="6611112" cy="1024128"/>
              </a:xfrm>
              <a:prstGeom prst="rect">
                <a:avLst/>
              </a:prstGeom>
              <a:blipFill rotWithShape="1">
                <a:blip r:embed="rId10"/>
                <a:stretch>
                  <a:fillRect l="-8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7516368" y="4663440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5  数值有效性与返回值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5084064"/>
            <a:ext cx="6611112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候选须有限且 |cₙ| ≤ 1200 mm。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若当前仍有效且候选有效，令 sₙ₊₁ = cₙ；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否则保留 sₙ，并将该路径永久标为无效。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6281928"/>
            <a:ext cx="6611112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返回前再检查 h 有限；无效预测用 r₀ 填充，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须结合有效 mask 使用。初值非有限亦标无效。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7132320"/>
            <a:ext cx="661111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无终态 f′ / f″ 检查，不保证全局最近点。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58140" y="413893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 理想内部最近点的局部条件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73685" y="5211445"/>
            <a:ext cx="6196965" cy="368300"/>
            <a:chOff x="792" y="8119"/>
            <a:chExt cx="9759" cy="5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792" y="8119"/>
                  <a:ext cx="2286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′ = 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" y="8119"/>
                  <a:ext cx="2286" cy="580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本框 19"/>
            <p:cNvSpPr txBox="1"/>
            <p:nvPr/>
          </p:nvSpPr>
          <p:spPr>
            <a:xfrm>
              <a:off x="2551" y="8207"/>
              <a:ext cx="8000" cy="471"/>
            </a:xfrm>
            <a:prstGeom prst="rect">
              <a:avLst/>
            </a:prstGeom>
          </p:spPr>
          <p:txBody>
            <a:bodyPr>
              <a:spAutoFit/>
            </a:bodyPr>
            <a:p>
              <a:pPr>
                <a:lnSpc>
                  <a:spcPts val="1620"/>
                </a:lnSpc>
              </a:pPr>
              <a:r>
                <a:rPr lang="zh-CN" altLang="en-US" sz="1600" b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/>
                  <a:ea typeface="Consolas" panose="020B0609020204030204"/>
                </a:rPr>
                <a:t>是必要条件；再有</a:t>
              </a:r>
              <a:r>
                <a:rPr lang="en-US" altLang="zh-CN" sz="1600" b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/>
                  <a:ea typeface="Consolas" panose="020B0609020204030204"/>
                </a:rPr>
                <a:t>𝑓</a:t>
              </a:r>
              <a:r>
                <a:rPr lang="en-US" altLang="zh-CN" sz="1600" b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/>
                  <a:ea typeface="Consolas" panose="020B0609020204030204"/>
                </a:rPr>
                <a:t>″ &gt; </a:t>
              </a:r>
              <a:r>
                <a:rPr lang="en-US" altLang="zh-CN" sz="1600" b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/>
                  <a:ea typeface="Consolas" panose="020B0609020204030204"/>
                </a:rPr>
                <a:t>0</a:t>
              </a:r>
              <a:r>
                <a:rPr lang="zh-CN" altLang="en-US" sz="1600" b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/>
                  <a:ea typeface="Consolas" panose="020B0609020204030204"/>
                </a:rPr>
                <a:t>则足以判定严格局部极小。</a:t>
              </a:r>
              <a:endParaRPr lang="zh-CN" altLang="en-US" sz="1600" b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/>
                <a:ea typeface="Consolas" panose="020B0609020204030204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7382510" y="86296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初值与实际更新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残差与 Jacobian → Gauss–Newton → 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实现：helix_model.py · _single_point_fit_residual / _BATCHED_POINT_FIT_JACOBIAN / damped_gauss_newton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有效残差与整轨目标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035" descr="w_i=b_i\land\operatorname{valid}(\hat s_i),\quad\mathcal E=\{i:w_i=1\}"/>
              <p:cNvSpPr txBox="1"/>
              <p:nvPr/>
            </p:nvSpPr>
            <p:spPr>
              <a:xfrm>
                <a:off x="502920" y="1344168"/>
                <a:ext cx="6611112" cy="51206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𝑏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∧</m:t>
                      </m:r>
                      <m:r>
                        <a:rPr sz="1900">
                          <a:latin typeface="Cambria Math" panose="02040503050406030204"/>
                        </a:rPr>
                        <m:t>𝑣𝑎𝑙𝑖𝑑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limUpp>
                            <m:limUppPr>
                              <m:ctrlPr>
                                <a:rPr/>
                              </m:ctrlPr>
                            </m:limUpp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lim>
                              <m:r>
                                <a:rPr sz="1900">
                                  <a:latin typeface="Cambria Math" panose="02040503050406030204"/>
                                </a:rPr>
                                <m:t>ˆ</m:t>
                              </m:r>
                            </m:lim>
                          </m:limUpp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r>
                        <a:rPr sz="1900">
                          <a:latin typeface="Cambria Math" panose="02040503050406030204"/>
                        </a:rPr>
                        <m:t>ℰ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{</m:t>
                      </m:r>
                      <m:r>
                        <a:rPr sz="1900">
                          <a:latin typeface="Cambria Math" panose="02040503050406030204"/>
                        </a:rPr>
                        <m:t>𝑖</m:t>
                      </m:r>
                      <m:r>
                        <a:rPr sz="1900">
                          <a:latin typeface="Cambria Math" panose="02040503050406030204"/>
                        </a:rPr>
                        <m:t>: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1</m:t>
                      </m:r>
                      <m:r>
                        <a:rPr sz="1900">
                          <a:latin typeface="Cambria Math" panose="02040503050406030204"/>
                        </a:rPr>
                        <m:t>}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e035" descr="w_i=b_i\land\operatorname{valid}(\hat s_i),\quad\mathcal E=\{i:w_i=1\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344168"/>
                <a:ext cx="6611112" cy="512064"/>
              </a:xfrm>
              <a:prstGeom prst="rect">
                <a:avLst/>
              </a:prstGeom>
              <a:blipFill rotWithShape="1">
                <a:blip r:embed="rId1"/>
                <a:stretch>
                  <a:fillRect t="-99" r="2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036" descr="\mathbf r_i=w_i[\mathbf h(\boldsymbol\eta(\boldsymbol\theta),\hat s_i)-\mathbf p_i]"/>
              <p:cNvSpPr txBox="1"/>
              <p:nvPr/>
            </p:nvSpPr>
            <p:spPr>
              <a:xfrm>
                <a:off x="502920" y="2002536"/>
                <a:ext cx="6611112" cy="48463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[</m:t>
                      </m:r>
                      <m:r>
                        <a:rPr sz="2000">
                          <a:latin typeface="Cambria Math" panose="02040503050406030204"/>
                        </a:rPr>
                        <m:t>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𝜼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𝜽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limUpp>
                            <m:limUppPr>
                              <m:ctrlPr>
                                <a:rPr/>
                              </m:ctrlPr>
                            </m:limUp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lim>
                              <m:r>
                                <a:rPr sz="2000">
                                  <a:latin typeface="Cambria Math" panose="02040503050406030204"/>
                                </a:rPr>
                                <m:t>ˆ</m:t>
                              </m:r>
                            </m:lim>
                          </m:limUpp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𝐩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e036" descr="\mathbf r_i=w_i[\mathbf h(\boldsymbol\eta(\boldsymbol\theta),\hat s_i)-\mathbf p_i]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002536"/>
                <a:ext cx="6611112" cy="484632"/>
              </a:xfrm>
              <a:prstGeom prst="rect">
                <a:avLst/>
              </a:prstGeom>
              <a:blipFill rotWithShape="1">
                <a:blip r:embed="rId2"/>
                <a:stretch>
                  <a:fillRect t="-79" r="2" b="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037" descr="\mathbf r=\operatorname{col}(\mathbf r_1,\ldots,\mathbf r_{N_h}),\quad F=\tfrac12\mathbf r^{\mathsf T}\mathbf r"/>
              <p:cNvSpPr txBox="1"/>
              <p:nvPr/>
            </p:nvSpPr>
            <p:spPr>
              <a:xfrm>
                <a:off x="502920" y="2633472"/>
                <a:ext cx="6611112" cy="49377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00">
                          <a:latin typeface="Cambria Math" panose="02040503050406030204"/>
                        </a:rPr>
                        <m:t>𝐫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𝑐𝑜𝑙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,…,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𝑁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ℎ</m:t>
                              </m:r>
                            </m:sub>
                          </m:sSub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r>
                        <a:rPr sz="1900">
                          <a:latin typeface="Cambria Math" panose="02040503050406030204"/>
                        </a:rPr>
                        <m:t>𝐹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1900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𝐫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𝐫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" name="e037" descr="\mathbf r=\operatorname{col}(\mathbf r_1,\ldots,\mathbf r_{N_h}),\quad F=\tfrac12\mathbf r^{\mathsf T}\mathbf 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633472"/>
                <a:ext cx="6611112" cy="493776"/>
              </a:xfrm>
              <a:prstGeom prst="rect">
                <a:avLst/>
              </a:prstGeom>
              <a:blipFill rotWithShape="1">
                <a:blip r:embed="rId3"/>
                <a:stretch>
                  <a:fillRect t="-10828" r="2" b="-10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02920" y="3822191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2  路径停止梯度：当前实现的 Jacobian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038" descr="J_i=w_i\left.\frac{\partial\mathbf h(\boldsymbol\eta(\boldsymbol\theta),s)}{\partial\boldsymbol\theta}\right|_{s=\hat s_i},\quad J\in\mathbb R^{3N_h\times5}"/>
              <p:cNvSpPr txBox="1"/>
              <p:nvPr/>
            </p:nvSpPr>
            <p:spPr>
              <a:xfrm>
                <a:off x="502920" y="4233672"/>
                <a:ext cx="6611112" cy="7315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𝐽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f>
                            <m:fPr>
                              <m:ctrlPr>
                                <a:rPr/>
                              </m:ctrlPr>
                            </m:fPr>
                            <m:num>
                              <m:r>
                                <a:rPr sz="1900">
                                  <a:latin typeface="Cambria Math" panose="02040503050406030204"/>
                                </a:rPr>
                                <m:t>𝜕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𝐡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(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𝜼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(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𝜽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)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,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𝑠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)</m:t>
                              </m:r>
                            </m:num>
                            <m:den>
                              <m:r>
                                <a:rPr sz="1900">
                                  <a:latin typeface="Cambria Math" panose="02040503050406030204"/>
                                </a:rPr>
                                <m:t>𝜕</m:t>
                              </m:r>
                              <m:r>
                                <a:rPr sz="1900">
                                  <a:latin typeface="Cambria Math" panose="02040503050406030204"/>
                                </a:rPr>
                                <m:t>𝜽</m:t>
                              </m:r>
                            </m:den>
                          </m:f>
                          <m:r>
                            <a:rPr sz="1900">
                              <a:latin typeface="Cambria Math" panose="02040503050406030204"/>
                            </a:rPr>
                            <m:t>|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𝑠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=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/>
                                  </m:ctrlPr>
                                </m:limUppPr>
                                <m:e>
                                  <m:r>
                                    <a:rPr sz="1900">
                                      <a:latin typeface="Cambria Math" panose="02040503050406030204"/>
                                    </a:rPr>
                                    <m:t>𝑠</m:t>
                                  </m:r>
                                </m:e>
                                <m:lim>
                                  <m:r>
                                    <a:rPr sz="1900">
                                      <a:latin typeface="Cambria Math" panose="02040503050406030204"/>
                                    </a:rPr>
                                    <m:t>ˆ</m:t>
                                  </m:r>
                                </m:lim>
                              </m:limUpp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r>
                        <a:rPr sz="1900">
                          <a:latin typeface="Cambria Math" panose="02040503050406030204"/>
                        </a:rPr>
                        <m:t>𝐽</m:t>
                      </m:r>
                      <m:r>
                        <a:rPr sz="1900">
                          <a:latin typeface="Cambria Math" panose="02040503050406030204"/>
                        </a:rPr>
                        <m:t>∈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ℝ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3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𝑁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ℎ</m:t>
                              </m:r>
                            </m:sub>
                          </m:sSub>
                          <m:r>
                            <a:rPr sz="1900">
                              <a:latin typeface="Cambria Math" panose="02040503050406030204"/>
                            </a:rPr>
                            <m:t>×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1" name="e038" descr="J_i=w_i\left.\frac{\partial\mathbf h(\boldsymbol\eta(\boldsymbol\theta),s)}{\partial\boldsymbol\theta}\right|_{s=\hat s_i},\quad J\in\mathbb R^{3N_h\times5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233672"/>
                <a:ext cx="6611112" cy="731520"/>
              </a:xfrm>
              <a:prstGeom prst="rect">
                <a:avLst/>
              </a:prstGeom>
              <a:blipFill rotWithShape="1">
                <a:blip r:embed="rId4"/>
                <a:stretch>
                  <a:fillRect t="-17" r="2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039" descr="\frac{d\mathbf r_i}{d\boldsymbol\theta}=w_i\left(\mathbf h_{\boldsymbol\theta}+\mathbf t\frac{ds_i^*}{d\boldsymbol\theta}\right)"/>
              <p:cNvSpPr txBox="1"/>
              <p:nvPr/>
            </p:nvSpPr>
            <p:spPr>
              <a:xfrm>
                <a:off x="502920" y="5138928"/>
                <a:ext cx="6611112" cy="6949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𝐫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𝜽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𝑖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𝐡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𝜽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a:rPr sz="2000">
                          <a:latin typeface="Cambria Math" panose="02040503050406030204"/>
                        </a:rPr>
                        <m:t>𝐭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20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2000">
                                  <a:latin typeface="Cambria Math" panose="02040503050406030204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𝑑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𝜽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e039" descr="\frac{d\mathbf r_i}{d\boldsymbol\theta}=w_i\left(\mathbf h_{\boldsymbol\theta}+\mathbf t\frac{ds_i^*}{d\boldsymbol\theta}\right)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138928"/>
                <a:ext cx="6611112" cy="694944"/>
              </a:xfrm>
              <a:prstGeom prst="rect">
                <a:avLst/>
              </a:prstGeom>
              <a:blipFill rotWithShape="1">
                <a:blip r:embed="rId5"/>
                <a:stretch>
                  <a:fillRect t="-73" r="2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040" descr="\mathbf r_i^{\mathsf T}\mathbf t=0\ \Rightarrow\ \mathbf r_i^{\mathsf T}\mathbf t\frac{ds_i^*}{d\boldsymbol\theta}=0"/>
              <p:cNvSpPr txBox="1"/>
              <p:nvPr/>
            </p:nvSpPr>
            <p:spPr>
              <a:xfrm>
                <a:off x="502920" y="6867144"/>
                <a:ext cx="6611112" cy="6400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𝐭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0</m:t>
                      </m:r>
                      <m:r>
                        <a:rPr sz="1900">
                          <a:latin typeface="Cambria Math" panose="02040503050406030204"/>
                        </a:rPr>
                        <m:t>⇒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𝐫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𝑖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𝐭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1900">
                              <a:latin typeface="Cambria Math" panose="02040503050406030204"/>
                            </a:rPr>
                            <m:t>𝑑</m:t>
                          </m:r>
                          <m:sSubSup>
                            <m:sSubSupPr>
                              <m:ctrlPr>
                                <a:rPr/>
                              </m:ctrlPr>
                            </m:sSubSup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𝑠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1900">
                                  <a:latin typeface="Cambria Math" panose="02040503050406030204"/>
                                </a:rPr>
                                <m:t>∗</m:t>
                              </m:r>
                            </m:sup>
                          </m:sSubSup>
                        </m:num>
                        <m:den>
                          <m:r>
                            <a:rPr sz="1900">
                              <a:latin typeface="Cambria Math" panose="02040503050406030204"/>
                            </a:rPr>
                            <m:t>𝑑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𝜽</m:t>
                          </m:r>
                        </m:den>
                      </m:f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e040" descr="\mathbf r_i^{\mathsf T}\mathbf t=0\ \Rightarrow\ \mathbf r_i^{\mathsf T}\mathbf t\frac{ds_i^*}{d\boldsymbol\theta}=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6867144"/>
                <a:ext cx="6611112" cy="640080"/>
              </a:xfrm>
              <a:prstGeom prst="rect">
                <a:avLst/>
              </a:prstGeom>
              <a:blipFill rotWithShape="1">
                <a:blip r:embed="rId6"/>
                <a:stretch>
                  <a:fillRect t="-40" r="2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041" descr="\mathbf r(\boldsymbol\theta+\Delta)\approx\mathbf r+J\Delta"/>
              <p:cNvSpPr txBox="1"/>
              <p:nvPr/>
            </p:nvSpPr>
            <p:spPr>
              <a:xfrm>
                <a:off x="7516368" y="1353312"/>
                <a:ext cx="6611112" cy="4572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𝐫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𝜽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≈</m:t>
                      </m:r>
                      <m:r>
                        <a:rPr sz="2000">
                          <a:latin typeface="Cambria Math" panose="02040503050406030204"/>
                        </a:rPr>
                        <m:t>𝐫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a:rPr sz="2000">
                          <a:latin typeface="Cambria Math" panose="02040503050406030204"/>
                        </a:rPr>
                        <m:t>𝐽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6" name="e041" descr="\mathbf r(\boldsymbol\theta+\Delta)\approx\mathbf r+J\Delt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1353312"/>
                <a:ext cx="6611112" cy="457200"/>
              </a:xfrm>
              <a:prstGeom prst="rect">
                <a:avLst/>
              </a:prstGeom>
              <a:blipFill rotWithShape="1">
                <a:blip r:embed="rId7"/>
                <a:stretch>
                  <a:fillRect l="-8" t="-28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042" descr="m(\Delta)=\tfrac12\|\mathbf r+J\Delta\|^2"/>
              <p:cNvSpPr txBox="1"/>
              <p:nvPr/>
            </p:nvSpPr>
            <p:spPr>
              <a:xfrm>
                <a:off x="7516368" y="1947672"/>
                <a:ext cx="6611112" cy="4572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𝑚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‖</m:t>
                      </m:r>
                      <m:r>
                        <a:rPr sz="2000">
                          <a:latin typeface="Cambria Math" panose="02040503050406030204"/>
                        </a:rPr>
                        <m:t>𝐫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a:rPr sz="2000">
                          <a:latin typeface="Cambria Math" panose="02040503050406030204"/>
                        </a:rPr>
                        <m:t>𝐽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‖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7" name="e042" descr="m(\Delta)=\tfrac12\|\mathbf r+J\Delta\|^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1947672"/>
                <a:ext cx="6611112" cy="457200"/>
              </a:xfrm>
              <a:prstGeom prst="rect">
                <a:avLst/>
              </a:prstGeom>
              <a:blipFill rotWithShape="1">
                <a:blip r:embed="rId8"/>
                <a:stretch>
                  <a:fillRect l="-8" t="-19194" b="-19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043" descr="m(\Delta)=F+\mathbf g^{\mathsf T}\Delta+\tfrac12\Delta^{\mathsf T}H\Delta"/>
              <p:cNvSpPr txBox="1"/>
              <p:nvPr/>
            </p:nvSpPr>
            <p:spPr>
              <a:xfrm>
                <a:off x="7516368" y="2505456"/>
                <a:ext cx="6611112" cy="4572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𝑚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𝐹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𝐠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sz="2000">
                              <a:latin typeface="Cambria Math" panose="02040503050406030204"/>
                            </a:rPr>
                            <m:t>Δ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𝐻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8" name="e043" descr="m(\Delta)=F+\mathbf g^{\mathsf T}\Delta+\tfrac12\Delta^{\mathsf T}H\Delt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505456"/>
                <a:ext cx="6611112" cy="457200"/>
              </a:xfrm>
              <a:prstGeom prst="rect">
                <a:avLst/>
              </a:prstGeom>
              <a:blipFill rotWithShape="1">
                <a:blip r:embed="rId9"/>
                <a:stretch>
                  <a:fillRect l="-8" t="-19250" b="-19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fallback_e044" descr="\mathbf g=J^{\mathsf T}\mathbf r,\quad H=J^{\mathsf T}J,\quad H\Delta=-\mathbf 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6368" y="3191068"/>
            <a:ext cx="3628403" cy="265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16368" y="4261104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4  二次模型加阻尼 → LM 方程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045" descr="\alpha=\max\left(\frac{\operatorname{tr}H}{5},10^{-30}\right),\quad M=\alpha I_5"/>
              <p:cNvSpPr txBox="1"/>
              <p:nvPr/>
            </p:nvSpPr>
            <p:spPr>
              <a:xfrm>
                <a:off x="7516368" y="4663440"/>
                <a:ext cx="6611112" cy="6400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𝛼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𝑚𝑎𝑥</m:t>
                      </m:r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𝑡𝑟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𝐻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5</m:t>
                          </m:r>
                        </m:den>
                      </m:f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30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𝑀</m:t>
                      </m:r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𝛼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𝐼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2" name="e045" descr="\alpha=\max\left(\frac{\operatorname{tr}H}{5},10^{-30}\right),\quad M=\alpha I_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4663440"/>
                <a:ext cx="6611112" cy="640080"/>
              </a:xfrm>
              <a:prstGeom prst="rect">
                <a:avLst/>
              </a:prstGeom>
              <a:blipFill rotWithShape="1">
                <a:blip r:embed="rId11"/>
                <a:stretch>
                  <a:fillRect l="-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e046" descr="\min_{\Delta}\ m(\Delta)+\tfrac\mu2\Delta^{\mathsf T}M\Delta"/>
              <p:cNvSpPr txBox="1"/>
              <p:nvPr/>
            </p:nvSpPr>
            <p:spPr>
              <a:xfrm>
                <a:off x="7516368" y="5477256"/>
                <a:ext cx="6611112" cy="5943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𝑚𝑖𝑛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sz="2000">
                              <a:latin typeface="Cambria Math" panose="02040503050406030204"/>
                            </a:rPr>
                            <m:t>Δ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⁡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𝑚</m:t>
                      </m:r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𝜇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sz="2000">
                              <a:latin typeface="Cambria Math" panose="02040503050406030204"/>
                            </a:rPr>
                            <m:t>Δ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 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𝑀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3" name="e046" descr="\min_{\Delta}\ m(\Delta)+\tfrac\mu2\Delta^{\mathsf T}M\Delt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5477256"/>
                <a:ext cx="6611112" cy="594360"/>
              </a:xfrm>
              <a:prstGeom prst="rect">
                <a:avLst/>
              </a:prstGeom>
              <a:blipFill rotWithShape="1">
                <a:blip r:embed="rId12"/>
                <a:stretch>
                  <a:fillRect l="-8" t="-64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e047" descr="(H+\mu M)\Delta=-\mathbf g,\quad\boldsymbol\theta^c=\boldsymbol\theta+\Delta"/>
              <p:cNvSpPr txBox="1"/>
              <p:nvPr/>
            </p:nvSpPr>
            <p:spPr>
              <a:xfrm>
                <a:off x="7516368" y="6254496"/>
                <a:ext cx="6611112" cy="51206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 panose="02040503050406030204"/>
                        </a:rPr>
                        <m:t>(</m:t>
                      </m:r>
                      <m:r>
                        <a:rPr sz="2000">
                          <a:latin typeface="Cambria Math" panose="02040503050406030204"/>
                        </a:rPr>
                        <m:t>𝐻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a:rPr sz="2000">
                          <a:latin typeface="Cambria Math" panose="02040503050406030204"/>
                        </a:rPr>
                        <m:t>𝜇</m:t>
                      </m:r>
                      <m:r>
                        <a:rPr sz="2000">
                          <a:latin typeface="Cambria Math" panose="02040503050406030204"/>
                        </a:rPr>
                        <m:t>𝑀</m:t>
                      </m:r>
                      <m:r>
                        <a:rPr sz="2000">
                          <a:latin typeface="Cambria Math" panose="02040503050406030204"/>
                        </a:rPr>
                        <m:t>)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r>
                        <a:rPr sz="2000">
                          <a:latin typeface="Cambria Math" panose="02040503050406030204"/>
                        </a:rPr>
                        <m:t>=−</m:t>
                      </m:r>
                      <m:r>
                        <a:rPr sz="2000">
                          <a:latin typeface="Cambria Math" panose="02040503050406030204"/>
                        </a:rPr>
                        <m:t>𝐠</m:t>
                      </m:r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𝜽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𝑐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r>
                        <a:rPr sz="2000">
                          <a:latin typeface="Cambria Math" panose="02040503050406030204"/>
                        </a:rPr>
                        <m:t>𝜽</m:t>
                      </m:r>
                      <m:r>
                        <a:rPr sz="2000">
                          <a:latin typeface="Cambria Math" panose="02040503050406030204"/>
                        </a:rPr>
                        <m:t>+</m:t>
                      </m:r>
                      <m:r>
                        <m:rPr>
                          <m:nor/>
                        </m:rPr>
                        <a:rPr sz="2000">
                          <a:latin typeface="Cambria Math" panose="02040503050406030204"/>
                        </a:rPr>
                        <m:t>Δ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4" name="e047" descr="(H+\mu M)\Delta=-\mathbf g,\quad\boldsymbol\theta^c=\boldsymbol\theta+\Delt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6254496"/>
                <a:ext cx="6611112" cy="512064"/>
              </a:xfrm>
              <a:prstGeom prst="rect">
                <a:avLst/>
              </a:prstGeom>
              <a:blipFill rotWithShape="1">
                <a:blip r:embed="rId13"/>
                <a:stretch>
                  <a:fillRect l="-8" t="-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502920" y="6101080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全导数式仅针对有效集固定、精确且可微的最近点分支；当前实现使用上式冻结路径偏导。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476490" y="106045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线性化残差 → 二次模型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16800" y="372110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 </a:t>
            </a:r>
            <a:r>
              <a:rPr lang="zh-CN" altLang="en-US"/>
              <a:t>是 </a:t>
            </a:r>
            <a:r>
              <a:rPr lang="en-US" altLang="zh-CN"/>
              <a:t>GN </a:t>
            </a:r>
            <a:r>
              <a:rPr lang="zh-CN" altLang="en-US"/>
              <a:t>近似，省略残差加权的二阶导数项。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578725" y="7004050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 </a:t>
            </a:r>
            <a:r>
              <a:rPr lang="zh-CN" altLang="en-US"/>
              <a:t>为平均对角元乘单位阵。精确最近点处路径项不贡献目标一阶导，但一般会改变 </a:t>
            </a:r>
            <a:r>
              <a:rPr lang="en-US" altLang="zh-CN"/>
              <a:t>J</a:t>
            </a:r>
            <a:r>
              <a:rPr lang="" altLang="en-US"/>
              <a:t>ᵀ</a:t>
            </a:r>
            <a:r>
              <a:rPr lang="en-US" altLang="zh-CN"/>
              <a:t>J。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307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候选接受、驻点判据与完整迭代流程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0" y="3566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82127"/>
            <a:ext cx="13533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实现：helix_model.py · damped_gauss_newton / require_stationary_helix_point_fit；ml_alignment_autograd.py · 主线调用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1  重算候选路径与目标，再决定是否接受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6611112" cy="589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对每条非驻点径迹，重新评估 </a:t>
            </a:r>
            <a:r>
              <a:rPr lang="en-US" altLang="zh-CN"/>
              <a:t>𝜃</a:t>
            </a:r>
            <a:r>
              <a:rPr lang="" altLang="en-US"/>
              <a:t>ᶜ</a:t>
            </a:r>
            <a:r>
              <a:t> 的路径、有效集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与 </a:t>
            </a:r>
            <a:r>
              <a:rPr lang="en-US" altLang="zh-CN"/>
              <a:t>𝐹</a:t>
            </a:r>
            <a:r>
              <a:rPr lang="" altLang="en-US"/>
              <a:t>ᶜ</a:t>
            </a:r>
            <a:r>
              <a:t>。以下条件同时满足才接受：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048" descr="\operatorname{finite}(F^c),\qquad F^c&lt;F,\qquad\mathcal E^c\supseteq\mathcal E^{(0)}"/>
              <p:cNvSpPr txBox="1"/>
              <p:nvPr/>
            </p:nvSpPr>
            <p:spPr>
              <a:xfrm>
                <a:off x="502920" y="2176272"/>
                <a:ext cx="6611112" cy="5486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00">
                          <a:latin typeface="Cambria Math" panose="02040503050406030204"/>
                        </a:rPr>
                        <m:t>𝑓𝑖𝑛𝑖𝑡𝑒</m:t>
                      </m:r>
                      <m:r>
                        <a:rPr sz="1900">
                          <a:latin typeface="Cambria Math" panose="02040503050406030204"/>
                        </a:rPr>
                        <m:t>⁡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𝐹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𝑐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𝐹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𝑐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&lt;</m:t>
                      </m:r>
                      <m:r>
                        <a:rPr sz="1900">
                          <a:latin typeface="Cambria Math" panose="02040503050406030204"/>
                        </a:rPr>
                        <m:t>𝐹</m:t>
                      </m:r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ℰ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𝑐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⊇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ℰ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7" name="e048" descr="\operatorname{finite}(F^c),\qquad F^c&lt;F,\qquad\mathcal E^c\supseteq\mathcal E^{(0)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2176272"/>
                <a:ext cx="6611112" cy="548640"/>
              </a:xfrm>
              <a:prstGeom prst="rect">
                <a:avLst/>
              </a:prstGeom>
              <a:blipFill rotWithShape="1">
                <a:blip r:embed="rId1"/>
                <a:stretch>
                  <a:fillRect t="-23" r="2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049" descr="\mu^{(0)}=10^{-8},\quad\mu^+=\begin{cases}\max(0.1\mu,10^{-12}),&amp;\mathrm{accept}\\10\mu,&amp;\mathrm{reject}\end{cases}"/>
              <p:cNvSpPr txBox="1"/>
              <p:nvPr/>
            </p:nvSpPr>
            <p:spPr>
              <a:xfrm>
                <a:off x="502920" y="3721608"/>
                <a:ext cx="6611112" cy="82296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𝜇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0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)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8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𝜇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+</m:t>
                          </m:r>
                        </m:sup>
                      </m:sSup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{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/>
                          </m:ctrlPr>
                        </m:mPr>
                        <m:mr>
                          <m:e>
                            <m:r>
                              <a:rPr sz="1900">
                                <a:latin typeface="Cambria Math" panose="02040503050406030204"/>
                              </a:rPr>
                              <m:t>𝑚𝑎𝑥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⁡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(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0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.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1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𝜇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/>
                                </m:ctrlPr>
                              </m:sSupPr>
                              <m:e>
                                <m:r>
                                  <a:rPr sz="1900">
                                    <a:latin typeface="Cambria Math" panose="02040503050406030204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sz="1900">
                                    <a:latin typeface="Cambria Math" panose="02040503050406030204"/>
                                  </a:rPr>
                                  <m:t>−</m:t>
                                </m:r>
                                <m:r>
                                  <a:rPr sz="1900">
                                    <a:latin typeface="Cambria Math" panose="02040503050406030204"/>
                                  </a:rPr>
                                  <m:t>12</m:t>
                                </m:r>
                              </m:sup>
                            </m:sSup>
                            <m:r>
                              <a:rPr sz="1900">
                                <a:latin typeface="Cambria Math" panose="02040503050406030204"/>
                              </a:rPr>
                              <m:t>)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,</m:t>
                            </m:r>
                          </m:e>
                          <m:e>
                            <m:r>
                              <a:rPr sz="1900">
                                <a:latin typeface="Cambria Math" panose="02040503050406030204"/>
                              </a:rPr>
                              <m:t>𝑎𝑐𝑐𝑒𝑝𝑡</m:t>
                            </m:r>
                          </m:e>
                        </m:mr>
                        <m:mr>
                          <m:e>
                            <m:r>
                              <a:rPr sz="1900">
                                <a:latin typeface="Cambria Math" panose="02040503050406030204"/>
                              </a:rPr>
                              <m:t>10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𝜇</m:t>
                            </m:r>
                            <m:r>
                              <a:rPr sz="1900">
                                <a:latin typeface="Cambria Math" panose="02040503050406030204"/>
                              </a:rPr>
                              <m:t>,</m:t>
                            </m:r>
                          </m:e>
                          <m:e>
                            <m:r>
                              <a:rPr sz="1900">
                                <a:latin typeface="Cambria Math" panose="02040503050406030204"/>
                              </a:rPr>
                              <m:t>𝑟𝑒𝑗𝑒𝑐𝑡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  <mc:Fallback>
          <p:sp>
            <p:nvSpPr>
              <p:cNvPr id="9" name="e049" descr="\mu^{(0)}=10^{-8},\quad\mu^+=\begin{cases}\max(0.1\mu,10^{-12}),&amp;\mathrm{accept}\\10\mu,&amp;\mathrm{reject}\end{cases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3721608"/>
                <a:ext cx="6611112" cy="822960"/>
              </a:xfrm>
              <a:prstGeom prst="rect">
                <a:avLst/>
              </a:prstGeom>
              <a:blipFill rotWithShape="1">
                <a:blip r:embed="rId2"/>
                <a:stretch>
                  <a:fillRect t="-62" r="2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502920" y="5330952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2  ν 与“剩余下降空间”的准确关系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050" descr="A=H+\epsilon_\mu M,\quad\Delta_A=-A^{-1}\mathbf g,\quad\nu=\mathbf g^{\mathsf T}A^{-1}\mathbf g"/>
              <p:cNvSpPr txBox="1"/>
              <p:nvPr/>
            </p:nvSpPr>
            <p:spPr>
              <a:xfrm>
                <a:off x="502920" y="5742432"/>
                <a:ext cx="6611112" cy="55778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8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 panose="02040503050406030204"/>
                        </a:rPr>
                        <m:t>𝐴</m:t>
                      </m:r>
                      <m:r>
                        <a:rPr sz="1800">
                          <a:latin typeface="Cambria Math" panose="02040503050406030204"/>
                        </a:rPr>
                        <m:t>=</m:t>
                      </m:r>
                      <m:r>
                        <a:rPr sz="1800">
                          <a:latin typeface="Cambria Math" panose="02040503050406030204"/>
                        </a:rPr>
                        <m:t>𝐻</m:t>
                      </m:r>
                      <m:r>
                        <a:rPr sz="1800">
                          <a:latin typeface="Cambria Math" panose="02040503050406030204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800">
                              <a:latin typeface="Cambria Math" panose="02040503050406030204"/>
                            </a:rPr>
                            <m:t>𝜖</m:t>
                          </m:r>
                        </m:e>
                        <m:sub>
                          <m:r>
                            <a:rPr sz="1800">
                              <a:latin typeface="Cambria Math" panose="02040503050406030204"/>
                            </a:rPr>
                            <m:t>𝜇</m:t>
                          </m:r>
                        </m:sub>
                      </m:sSub>
                      <m:r>
                        <a:rPr sz="1800">
                          <a:latin typeface="Cambria Math" panose="02040503050406030204"/>
                        </a:rPr>
                        <m:t>𝑀</m:t>
                      </m:r>
                      <m:r>
                        <a:rPr sz="1800">
                          <a:latin typeface="Cambria Math" panose="02040503050406030204"/>
                        </a:rPr>
                        <m:t>,</m:t>
                      </m:r>
                      <m:r>
                        <a:rPr sz="1800">
                          <a:latin typeface="Cambria Math" panose="02040503050406030204"/>
                        </a:rPr>
                        <m:t> 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sz="1800">
                              <a:latin typeface="Cambria Math" panose="02040503050406030204"/>
                            </a:rPr>
                            <m:t>Δ</m:t>
                          </m:r>
                          <m:r>
                            <a:rPr sz="1800">
                              <a:latin typeface="Cambria Math" panose="02040503050406030204"/>
                            </a:rPr>
                            <m:t> </m:t>
                          </m:r>
                        </m:e>
                        <m:sub>
                          <m:r>
                            <a:rPr sz="1800">
                              <a:latin typeface="Cambria Math" panose="02040503050406030204"/>
                            </a:rPr>
                            <m:t>𝐴</m:t>
                          </m:r>
                        </m:sub>
                      </m:sSub>
                      <m:r>
                        <a:rPr sz="1800">
                          <a:latin typeface="Cambria Math" panose="02040503050406030204"/>
                        </a:rPr>
                        <m:t>=−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800">
                              <a:latin typeface="Cambria Math" panose="02040503050406030204"/>
                            </a:rPr>
                            <m:t>𝐴</m:t>
                          </m:r>
                        </m:e>
                        <m:sup>
                          <m:r>
                            <a:rPr sz="18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1800">
                              <a:latin typeface="Cambria Math" panose="02040503050406030204"/>
                            </a:rPr>
                            <m:t>1</m:t>
                          </m:r>
                        </m:sup>
                      </m:sSup>
                      <m:r>
                        <a:rPr sz="1800">
                          <a:latin typeface="Cambria Math" panose="02040503050406030204"/>
                        </a:rPr>
                        <m:t>𝐠</m:t>
                      </m:r>
                      <m:r>
                        <a:rPr sz="1800">
                          <a:latin typeface="Cambria Math" panose="02040503050406030204"/>
                        </a:rPr>
                        <m:t>,</m:t>
                      </m:r>
                      <m:r>
                        <a:rPr sz="1800">
                          <a:latin typeface="Cambria Math" panose="02040503050406030204"/>
                        </a:rPr>
                        <m:t> </m:t>
                      </m:r>
                      <m:r>
                        <a:rPr sz="1800">
                          <a:latin typeface="Cambria Math" panose="02040503050406030204"/>
                        </a:rPr>
                        <m:t>𝜈</m:t>
                      </m:r>
                      <m:r>
                        <a:rPr sz="18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800">
                              <a:latin typeface="Cambria Math" panose="02040503050406030204"/>
                            </a:rPr>
                            <m:t>𝐠</m:t>
                          </m:r>
                        </m:e>
                        <m:sup>
                          <m:r>
                            <a:rPr sz="1800">
                              <a:latin typeface="Cambria Math" panose="02040503050406030204"/>
                            </a:rPr>
                            <m:t>𝖳</m:t>
                          </m:r>
                        </m:sup>
                      </m:sSup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800">
                              <a:latin typeface="Cambria Math" panose="02040503050406030204"/>
                            </a:rPr>
                            <m:t>𝐴</m:t>
                          </m:r>
                        </m:e>
                        <m:sup>
                          <m:r>
                            <a:rPr sz="18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1800">
                              <a:latin typeface="Cambria Math" panose="02040503050406030204"/>
                            </a:rPr>
                            <m:t>1</m:t>
                          </m:r>
                        </m:sup>
                      </m:sSup>
                      <m:r>
                        <a:rPr sz="1800">
                          <a:latin typeface="Cambria Math" panose="02040503050406030204"/>
                        </a:rPr>
                        <m:t>𝐠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e050" descr="A=H+\epsilon_\mu M,\quad\Delta_A=-A^{-1}\mathbf g,\quad\nu=\mathbf g^{\mathsf T}A^{-1}\mathbf g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742432"/>
                <a:ext cx="6611112" cy="557784"/>
              </a:xfrm>
              <a:prstGeom prst="rect">
                <a:avLst/>
              </a:prstGeom>
              <a:blipFill rotWithShape="1">
                <a:blip r:embed="rId3"/>
                <a:stretch>
                  <a:fillRect t="-23" r="2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051" descr="m(0)-m(\Delta_A)=\tfrac12\nu+\tfrac{\epsilon_\mu}{2}\Delta_A^{\mathsf T}M\Delta_A"/>
              <p:cNvSpPr txBox="1"/>
              <p:nvPr/>
            </p:nvSpPr>
            <p:spPr>
              <a:xfrm>
                <a:off x="502920" y="6446520"/>
                <a:ext cx="6611112" cy="5303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00">
                          <a:latin typeface="Cambria Math" panose="02040503050406030204"/>
                        </a:rPr>
                        <m:t>𝑚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r>
                        <a:rPr sz="1900">
                          <a:latin typeface="Cambria Math" panose="02040503050406030204"/>
                        </a:rPr>
                        <m:t>0</m:t>
                      </m:r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−</m:t>
                      </m:r>
                      <m:r>
                        <a:rPr sz="1900">
                          <a:latin typeface="Cambria Math" panose="02040503050406030204"/>
                        </a:rPr>
                        <m:t>𝑚</m:t>
                      </m:r>
                      <m:r>
                        <a:rPr sz="1900"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sz="1900">
                              <a:latin typeface="Cambria Math" panose="02040503050406030204"/>
                            </a:rPr>
                            <m:t>Δ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 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𝐴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)</m:t>
                      </m:r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1900"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sz="1900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r>
                        <a:rPr sz="1900">
                          <a:latin typeface="Cambria Math" panose="02040503050406030204"/>
                        </a:rPr>
                        <m:t>𝜈</m:t>
                      </m:r>
                      <m:r>
                        <a:rPr sz="1900">
                          <a:latin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900">
                                  <a:latin typeface="Cambria Math" panose="02040503050406030204"/>
                                </a:rPr>
                                <m:t>𝜖</m:t>
                              </m:r>
                            </m:e>
                            <m:sub>
                              <m:r>
                                <a:rPr sz="1900">
                                  <a:latin typeface="Cambria Math" panose="02040503050406030204"/>
                                </a:rPr>
                                <m:t>𝜇</m:t>
                              </m:r>
                            </m:sub>
                          </m:sSub>
                        </m:num>
                        <m:den>
                          <m:r>
                            <a:rPr sz="1900"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sz="1900">
                              <a:latin typeface="Cambria Math" panose="02040503050406030204"/>
                            </a:rPr>
                            <m:t>Δ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 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𝐴</m:t>
                          </m:r>
                        </m:sub>
                        <m:sup>
                          <m:r>
                            <a:rPr sz="1900">
                              <a:latin typeface="Cambria Math" panose="02040503050406030204"/>
                            </a:rPr>
                            <m:t>𝖳</m:t>
                          </m:r>
                        </m:sup>
                      </m:sSubSup>
                      <m:r>
                        <a:rPr sz="1900">
                          <a:latin typeface="Cambria Math" panose="02040503050406030204"/>
                        </a:rPr>
                        <m:t>𝑀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sz="1900">
                              <a:latin typeface="Cambria Math" panose="02040503050406030204"/>
                            </a:rPr>
                            <m:t>Δ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 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3" name="e051" descr="m(0)-m(\Delta_A)=\tfrac12\nu+\tfrac{\epsilon_\mu}{2}\Delta_A^{\mathsf T}M\Delta_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6446520"/>
                <a:ext cx="6611112" cy="530352"/>
              </a:xfrm>
              <a:prstGeom prst="rect">
                <a:avLst/>
              </a:prstGeom>
              <a:blipFill rotWithShape="1">
                <a:blip r:embed="rId4"/>
                <a:stretch>
                  <a:fillRect t="-6705" r="2" b="-69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7516368" y="932688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3  在求步前判断驻点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052" descr="\epsilon_\mu=10^{-12},\quad\nu^{\rm rel}=\frac{\nu}{\max(F,10^{-12})}"/>
              <p:cNvSpPr txBox="1"/>
              <p:nvPr/>
            </p:nvSpPr>
            <p:spPr>
              <a:xfrm>
                <a:off x="7516368" y="1362456"/>
                <a:ext cx="6611112" cy="6583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20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𝜖</m:t>
                          </m:r>
                        </m:e>
                        <m:sub>
                          <m:r>
                            <a:rPr sz="2000">
                              <a:latin typeface="Cambria Math" panose="02040503050406030204"/>
                            </a:rPr>
                            <m:t>𝜇</m:t>
                          </m:r>
                        </m:sub>
                      </m:sSub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12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,</m:t>
                      </m:r>
                      <m:r>
                        <a:rPr sz="2000">
                          <a:latin typeface="Cambria Math" panose="02040503050406030204"/>
                        </a:rPr>
                        <m:t> 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2000">
                              <a:latin typeface="Cambria Math" panose="02040503050406030204"/>
                            </a:rPr>
                            <m:t>𝜈</m:t>
                          </m:r>
                        </m:e>
                        <m:sup>
                          <m:r>
                            <a:rPr sz="2000">
                              <a:latin typeface="Cambria Math" panose="02040503050406030204"/>
                            </a:rPr>
                            <m:t>𝑟𝑒𝑙</m:t>
                          </m:r>
                        </m:sup>
                      </m:sSup>
                      <m:r>
                        <a:rPr sz="2000">
                          <a:latin typeface="Cambria Math" panose="02040503050406030204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2000">
                              <a:latin typeface="Cambria Math" panose="02040503050406030204"/>
                            </a:rPr>
                            <m:t>𝜈</m:t>
                          </m:r>
                        </m:num>
                        <m:den>
                          <m:r>
                            <a:rPr sz="2000">
                              <a:latin typeface="Cambria Math" panose="02040503050406030204"/>
                            </a:rPr>
                            <m:t>𝑚𝑎𝑥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⁡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(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𝐹</m:t>
                          </m:r>
                          <m:r>
                            <a:rPr sz="2000">
                              <a:latin typeface="Cambria Math" panose="02040503050406030204"/>
                            </a:rPr>
                            <m:t>,</m:t>
                          </m:r>
                          <m:sSup>
                            <m:sSupPr>
                              <m:ctrlPr>
                                <a:rPr/>
                              </m:ctrlPr>
                            </m:sSupPr>
                            <m:e>
                              <m:r>
                                <a:rPr sz="2000">
                                  <a:latin typeface="Cambria Math" panose="02040503050406030204"/>
                                </a:rPr>
                                <m:t>10</m:t>
                              </m:r>
                            </m:e>
                            <m:sup>
                              <m:r>
                                <a:rPr sz="2000">
                                  <a:latin typeface="Cambria Math" panose="02040503050406030204"/>
                                </a:rPr>
                                <m:t>−</m:t>
                              </m:r>
                              <m:r>
                                <a:rPr sz="2000">
                                  <a:latin typeface="Cambria Math" panose="02040503050406030204"/>
                                </a:rPr>
                                <m:t>12</m:t>
                              </m:r>
                            </m:sup>
                          </m:sSup>
                          <m:r>
                            <a:rPr sz="2000">
                              <a:latin typeface="Cambria Math" panose="02040503050406030204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6" name="e052" descr="\epsilon_\mu=10^{-12},\quad\nu^{\rm rel}=\frac{\nu}{\max(F,10^{-12})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1362456"/>
                <a:ext cx="6611112" cy="658368"/>
              </a:xfrm>
              <a:prstGeom prst="rect">
                <a:avLst/>
              </a:prstGeom>
              <a:blipFill rotWithShape="1">
                <a:blip r:embed="rId5"/>
                <a:stretch>
                  <a:fillRect l="-8" t="-58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053" descr="\mathrm{stat}=\operatorname{finite}(\nu)\land\left[\nu\le10^{-12}\ \lor\ \nu^{\rm rel}\le10^{-6}\right]"/>
              <p:cNvSpPr txBox="1"/>
              <p:nvPr/>
            </p:nvSpPr>
            <p:spPr>
              <a:xfrm>
                <a:off x="7516368" y="2185416"/>
                <a:ext cx="6611112" cy="5394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8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 panose="02040503050406030204"/>
                        </a:rPr>
                        <m:t>𝑠𝑡𝑎𝑡</m:t>
                      </m:r>
                      <m:r>
                        <a:rPr sz="1800">
                          <a:latin typeface="Cambria Math" panose="02040503050406030204"/>
                        </a:rPr>
                        <m:t>=</m:t>
                      </m:r>
                      <m:r>
                        <a:rPr sz="1800">
                          <a:latin typeface="Cambria Math" panose="02040503050406030204"/>
                        </a:rPr>
                        <m:t>𝑓𝑖𝑛𝑖𝑡𝑒</m:t>
                      </m:r>
                      <m:r>
                        <a:rPr sz="1800">
                          <a:latin typeface="Cambria Math" panose="02040503050406030204"/>
                        </a:rPr>
                        <m:t>⁡</m:t>
                      </m:r>
                      <m:r>
                        <a:rPr sz="1800">
                          <a:latin typeface="Cambria Math" panose="02040503050406030204"/>
                        </a:rPr>
                        <m:t>(</m:t>
                      </m:r>
                      <m:r>
                        <a:rPr sz="1800">
                          <a:latin typeface="Cambria Math" panose="02040503050406030204"/>
                        </a:rPr>
                        <m:t>𝜈</m:t>
                      </m:r>
                      <m:r>
                        <a:rPr sz="1800">
                          <a:latin typeface="Cambria Math" panose="02040503050406030204"/>
                        </a:rPr>
                        <m:t>)</m:t>
                      </m:r>
                      <m:r>
                        <a:rPr sz="1800">
                          <a:latin typeface="Cambria Math" panose="02040503050406030204"/>
                        </a:rPr>
                        <m:t>∧</m:t>
                      </m:r>
                      <m:r>
                        <a:rPr sz="1800">
                          <a:latin typeface="Cambria Math" panose="02040503050406030204"/>
                        </a:rPr>
                        <m:t>[</m:t>
                      </m:r>
                      <m:r>
                        <a:rPr sz="1800">
                          <a:latin typeface="Cambria Math" panose="02040503050406030204"/>
                        </a:rPr>
                        <m:t>𝜈</m:t>
                      </m:r>
                      <m:r>
                        <a:rPr sz="1800">
                          <a:latin typeface="Cambria Math" panose="02040503050406030204"/>
                        </a:rPr>
                        <m:t>≤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8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18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1800">
                              <a:latin typeface="Cambria Math" panose="02040503050406030204"/>
                            </a:rPr>
                            <m:t>12</m:t>
                          </m:r>
                        </m:sup>
                      </m:sSup>
                      <m:r>
                        <a:rPr sz="1800">
                          <a:latin typeface="Cambria Math" panose="02040503050406030204"/>
                        </a:rPr>
                        <m:t>∨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800">
                              <a:latin typeface="Cambria Math" panose="02040503050406030204"/>
                            </a:rPr>
                            <m:t>𝜈</m:t>
                          </m:r>
                        </m:e>
                        <m:sup>
                          <m:r>
                            <a:rPr sz="1800">
                              <a:latin typeface="Cambria Math" panose="02040503050406030204"/>
                            </a:rPr>
                            <m:t>𝑟𝑒𝑙</m:t>
                          </m:r>
                        </m:sup>
                      </m:sSup>
                      <m:r>
                        <a:rPr sz="1800">
                          <a:latin typeface="Cambria Math" panose="02040503050406030204"/>
                        </a:rPr>
                        <m:t>≤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8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18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1800">
                              <a:latin typeface="Cambria Math" panose="02040503050406030204"/>
                            </a:rPr>
                            <m:t>6</m:t>
                          </m:r>
                        </m:sup>
                      </m:sSup>
                      <m:r>
                        <a:rPr sz="1800">
                          <a:latin typeface="Cambria Math" panose="02040503050406030204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7" name="e053" descr="\mathrm{stat}=\operatorname{finite}(\nu)\land\left[\nu\le10^{-12}\ \lor\ \nu^{\rm rel}\le10^{-6}\right]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2185416"/>
                <a:ext cx="6611112" cy="539496"/>
              </a:xfrm>
              <a:prstGeom prst="rect">
                <a:avLst/>
              </a:prstGeom>
              <a:blipFill rotWithShape="1">
                <a:blip r:embed="rId6"/>
                <a:stretch>
                  <a:fillRect l="-8" t="-71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7516368" y="3749039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4  终态重新评估与验收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054" descr="n_{\rm nonfinite}=0,\qquad\frac{\#\{\text{nonstationary tracks}\}}{T}\le10^{-3}"/>
              <p:cNvSpPr txBox="1"/>
              <p:nvPr/>
            </p:nvSpPr>
            <p:spPr>
              <a:xfrm>
                <a:off x="7516368" y="4151376"/>
                <a:ext cx="6611112" cy="65836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>
                  <a:lnSpc>
                    <a:spcPct val="112000"/>
                  </a:lnSpc>
                  <a:spcBef>
                    <a:spcPts val="0"/>
                  </a:spcBef>
                  <a:spcAft>
                    <a:spcPts val="300"/>
                  </a:spcAft>
                  <a:defRPr sz="1900" b="0">
                    <a:solidFill>
                      <a:srgbClr val="111111"/>
                    </a:solidFill>
                    <a:latin typeface="Cambria Math" panose="02040503050406030204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sz="1900">
                              <a:latin typeface="Cambria Math" panose="02040503050406030204"/>
                            </a:rPr>
                            <m:t>𝑛</m:t>
                          </m:r>
                        </m:e>
                        <m:sub>
                          <m:r>
                            <a:rPr sz="1900">
                              <a:latin typeface="Cambria Math" panose="02040503050406030204"/>
                            </a:rPr>
                            <m:t>𝑛𝑜𝑛𝑓𝑖𝑛𝑖𝑡𝑒</m:t>
                          </m:r>
                        </m:sub>
                      </m:sSub>
                      <m:r>
                        <a:rPr sz="1900">
                          <a:latin typeface="Cambria Math" panose="02040503050406030204"/>
                        </a:rPr>
                        <m:t>=</m:t>
                      </m:r>
                      <m:r>
                        <a:rPr sz="1900">
                          <a:latin typeface="Cambria Math" panose="02040503050406030204"/>
                        </a:rPr>
                        <m:t>0</m:t>
                      </m:r>
                      <m:r>
                        <a:rPr sz="1900">
                          <a:latin typeface="Cambria Math" panose="02040503050406030204"/>
                        </a:rPr>
                        <m:t>,</m:t>
                      </m:r>
                      <m:r>
                        <a:rPr sz="1900">
                          <a:latin typeface="Cambria Math" panose="02040503050406030204"/>
                        </a:rPr>
                        <m:t> 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a:rPr sz="1900">
                              <a:latin typeface="Cambria Math" panose="02040503050406030204"/>
                            </a:rPr>
                            <m:t>#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{</m:t>
                          </m:r>
                          <m:r>
                            <m:rPr>
                              <m:nor/>
                            </m:rPr>
                            <a:rPr sz="1900">
                              <a:latin typeface="Cambria Math" panose="02040503050406030204"/>
                            </a:rPr>
                            <m:t>nonstationary</m:t>
                          </m:r>
                          <m:r>
                            <m:rPr>
                              <m:nor/>
                            </m:rPr>
                            <a:rPr sz="1900">
                              <a:latin typeface="Cambria Math" panose="02040503050406030204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sz="1900">
                              <a:latin typeface="Cambria Math" panose="02040503050406030204"/>
                            </a:rPr>
                            <m:t>tracks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}</m:t>
                          </m:r>
                        </m:num>
                        <m:den>
                          <m:r>
                            <a:rPr sz="1900">
                              <a:latin typeface="Cambria Math" panose="02040503050406030204"/>
                            </a:rPr>
                            <m:t>𝑇</m:t>
                          </m:r>
                        </m:den>
                      </m:f>
                      <m:r>
                        <a:rPr sz="1900">
                          <a:latin typeface="Cambria Math" panose="02040503050406030204"/>
                        </a:rPr>
                        <m:t>≤</m:t>
                      </m:r>
                      <m:sSup>
                        <m:sSupPr>
                          <m:ctrlPr>
                            <a:rPr/>
                          </m:ctrlPr>
                        </m:sSupPr>
                        <m:e>
                          <m:r>
                            <a:rPr sz="1900">
                              <a:latin typeface="Cambria Math" panose="02040503050406030204"/>
                            </a:rPr>
                            <m:t>10</m:t>
                          </m:r>
                        </m:e>
                        <m:sup>
                          <m:r>
                            <a:rPr sz="1900">
                              <a:latin typeface="Cambria Math" panose="02040503050406030204"/>
                            </a:rPr>
                            <m:t>−</m:t>
                          </m:r>
                          <m:r>
                            <a:rPr sz="1900">
                              <a:latin typeface="Cambria Math" panose="02040503050406030204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0" name="e054" descr="n_{\rm nonfinite}=0,\qquad\frac{\#\{\text{nonstationary tracks}\}}{T}\le10^{-3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68" y="4151376"/>
                <a:ext cx="6611112" cy="658368"/>
              </a:xfrm>
              <a:prstGeom prst="rect">
                <a:avLst/>
              </a:prstGeom>
              <a:blipFill rotWithShape="1">
                <a:blip r:embed="rId7"/>
                <a:stretch>
                  <a:fillRect l="-8" t="-58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7516368" y="5843016"/>
            <a:ext cx="661111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5  完整顺序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6254496"/>
            <a:ext cx="661111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初始化 η、固定 gauge、打包 θ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→ 最近点 ŝ → r、J → H、g → ν 与驻点判断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→ 未全驻点：LM 求步 → 候选评估 → 接受 / 拒绝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→ 调整 μ 并循环 → 终态验收 → 输出六维 η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02920" y="2955925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有效集锚定求解初始状态，避免通过丢失初始</a:t>
            </a:r>
            <a:endParaRPr lang="en-US" altLang="zh-CN"/>
          </a:p>
          <a:p>
            <a:r>
              <a:rPr lang="zh-CN" altLang="en-US"/>
              <a:t>有效点来降低目标；拒绝时保留当前参数。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68960" y="7040880"/>
            <a:ext cx="53784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加微阻尼的二次模型下降量为 </a:t>
            </a:r>
            <a:r>
              <a:rPr lang="en-US" altLang="zh-CN"/>
              <a:t>ν/2；ν </a:t>
            </a:r>
            <a:r>
              <a:rPr lang="zh-CN" altLang="en-US"/>
              <a:t>是二次型，</a:t>
            </a:r>
            <a:endParaRPr lang="en-US" altLang="zh-CN"/>
          </a:p>
          <a:p>
            <a:r>
              <a:rPr lang="zh-CN" altLang="en-US"/>
              <a:t>不是开方后的 </a:t>
            </a:r>
            <a:r>
              <a:rPr lang="en-US" altLang="zh-CN"/>
              <a:t>decrement，</a:t>
            </a:r>
            <a:r>
              <a:rPr lang="zh-CN" altLang="en-US"/>
              <a:t>也不是实际目标下降。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516495" y="2863215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全块均驻点则退出，否则更新活跃行；达到预算亦停止。预算停止不代表驻点达标。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5087</Words>
  <Application>WPS 演示</Application>
  <PresentationFormat>On-screen Show (4:3)</PresentationFormat>
  <Paragraphs>350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Cambria Math</vt:lpstr>
      <vt:lpstr>Cambria Math</vt:lpstr>
      <vt:lpstr>Calibri</vt:lpstr>
      <vt:lpstr>Arial Unicode MS</vt:lpstr>
      <vt:lpstr>MS Mincho</vt:lpstr>
      <vt:lpstr>MS PGothic</vt:lpstr>
      <vt:lpstr>Liberation Mono</vt:lpstr>
      <vt:lpstr>黑体</vt:lpstr>
      <vt:lpstr>Consolas</vt:lpstr>
      <vt:lpstr>BatangChe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Seed 数学推导：紧凑审阅版</dc:title>
  <dc:creator>ML_Alignment</dc:creator>
  <dc:description>generated using python-pptx</dc:description>
  <dc:subject>SMT seed · 六页推导 · 与当前实现核对</dc:subject>
  <cp:lastModifiedBy>是加号不是减号噢</cp:lastModifiedBy>
  <cp:revision>2</cp:revision>
  <dcterms:created xsi:type="dcterms:W3CDTF">2013-01-27T09:14:00Z</dcterms:created>
  <dcterms:modified xsi:type="dcterms:W3CDTF">2026-09-15T13:09:54Z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66523FC197C94337A9301422FD7B999C_12</vt:lpwstr>
  </property>
</Properties>
</file>