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8872" cy="93268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统一命名规则与符号表（一）：几何与参数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418320" y="4023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符号约定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五条命名规则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1207008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一符一义。原图 D（阻尼矩阵／decrement）、F（单点／整轨目标）、λ（倾角／阻尼）三处冲突据此拆分。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大小写分层。单 hit 的一维量小写 f、d、r；整轨聚合量大写 F、J、H、g。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索引位置固定。径迹 t、hit i 作下标；LM 外层迭代 k 作上标并加括号 (·)⁽ᵏ⁾；Newton 内层用下标 n。单径迹推导省略 t。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参数分层。物理参数 η（6 维）与优化变量 θ（5 维，gauge 固定后）严格区分。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 倾角只以 τ 出现。全文不用裸符号 λ。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4626864"/>
            <a:ext cx="3840480" cy="960120"/>
          </a:xfrm>
          <a:prstGeom prst="rect">
            <a:avLst/>
          </a:prstGeom>
          <a:solidFill>
            <a:srgbClr val="FCF1EC"/>
          </a:solidFill>
          <a:ln w="12700">
            <a:solidFill>
              <a:srgbClr val="FCF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4626864"/>
            <a:ext cx="41148" cy="960120"/>
          </a:xfrm>
          <a:prstGeom prst="rect">
            <a:avLst/>
          </a:prstGeom>
          <a:solidFill>
            <a:srgbClr val="B5411F"/>
          </a:solidFill>
          <a:ln w="12700">
            <a:solidFill>
              <a:srgbClr val="B541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46908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4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原图 H 的二义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3232" y="4928616"/>
            <a:ext cx="3566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原图 J∈ℝ^{3H×5} 中 H 是 hit 数，与同页 Hessian H_t 撞名。本文 hit 数一律改记 N_h。</a:t>
            </a:r>
            <a:endParaRPr lang="en-US" sz="98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896112"/>
          <a:ext cx="32918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691640"/>
                <a:gridCol w="822960"/>
              </a:tblGrid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符号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定义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单位／维度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t, i, n, k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径迹、hit、Newton 内层、LM 外层索引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索引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T, N_h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块内径迹总数、单径迹 hit 数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计数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横向弧长（xy 投影弧长）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ℓ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三维弧长，dℓ/ds = √(1+τ²)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η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物理参数 (x₀,y₀,z₀,ψ₀,τ,ρ)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维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r₀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参考点 (x₀,y₀,z₀)，即 s=0 处位置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mm，三维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ψ₀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s=0 处切线在 xy 内的方位角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rad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ψ(s)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ψ₀ + ρs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rad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τ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tanλ = dz/ds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无量纲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ρ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dψ/ds，带符号横向曲率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mm⁻¹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优化变量 (a₀,a₁,ψ₀,τ,ρ_s)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维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92440" y="896112"/>
          <a:ext cx="3538728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801368"/>
                <a:gridCol w="822960"/>
              </a:tblGrid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符号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定义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单位／维度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a₀, a₁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参考切向法平面内的两个位移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ρ_s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缩放曲率，ρ = κ·ρ_s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mm⁻¹／κ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κ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曲率缩放常数 10⁻⁴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mm⁻¹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构造 gauge 基的辅助向量（ẑ，退化时 x̂）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无量纲，三维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(o, e₀, e₁)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gauge 参考系：原点与法平面两正交轴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mm，无量纲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h(η, s)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helix 全局位置预测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mm，三维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t(s)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∂h/∂s，‖t‖ = √(1+τ²)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无量纲，三维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h''(s)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∂²h/∂s²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mm⁻¹，三维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p_ti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SMT 全局测量点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mm，三维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B_z, q, p_T, R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磁场、电荷、横向动量、回旋半径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仅物理背景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4617720" y="5797296"/>
            <a:ext cx="7013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表中符号为单字形，直接用 Unicode 排版；展示型公式全部以 LaTeX 生成 OMML 原生公式对象。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8872" cy="93268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统一命名规则与符号表（二）：求解与优化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418320" y="4023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符号约定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最近点求解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07008"/>
          <a:ext cx="51206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743200"/>
                <a:gridCol w="1463040"/>
              </a:tblGrid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符号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定义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单位／维度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d(s)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位移 h(η,s) − p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mm，三维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f(s)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单点一维目标 ½‖d(s)‖²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mm²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s*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Newton 迭代返回的最近点路径估计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s₀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xy 投影初值（当前实现）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s₀³ᴰ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三维直线投影初值（对照，未采用）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S_max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路径长度上界 1200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ε_c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f'' 的符号保护下限 10⁻⁹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无量纲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3182112"/>
            <a:ext cx="5120640" cy="868680"/>
          </a:xfrm>
          <a:prstGeom prst="rect">
            <a:avLst/>
          </a:prstGeom>
          <a:solidFill>
            <a:srgbClr val="EFF4F8"/>
          </a:solidFill>
          <a:ln w="12700">
            <a:solidFill>
              <a:srgbClr val="EFF4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3182112"/>
            <a:ext cx="41148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324612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一符一义的落实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13232" y="3483864"/>
            <a:ext cx="4846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原图位移与索引都可能写作 d。本文位移向量一律加粗 d(s)，且不再使用局部测量分量索引 d。</a:t>
            </a:r>
            <a:endParaRPr lang="en-US" sz="980" dirty="0"/>
          </a:p>
        </p:txBody>
      </p:sp>
      <p:sp>
        <p:nvSpPr>
          <p:cNvPr id="12" name="Text 9"/>
          <p:cNvSpPr/>
          <p:nvPr/>
        </p:nvSpPr>
        <p:spPr>
          <a:xfrm>
            <a:off x="5897880" y="896112"/>
            <a:ext cx="5742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残差与优化</a:t>
            </a:r>
            <a:endParaRPr lang="en-US" sz="125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207008"/>
          <a:ext cx="574243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200400"/>
                <a:gridCol w="1536192"/>
              </a:tblGrid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符号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定义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单位／维度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w_ti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有效性权重：拟合 mask ∩ 最近点有效性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{0, 1}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E_t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有效 hit 集合 { i : w_ti = 1 }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集合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r_ti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 hit 残差（三维）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r_t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堆叠残差向量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3N_h 维，mm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F_t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整轨目标 ½ r_tᵀ r_t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mm²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J_t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冻结路径 Jacobian ∂r_t/∂θ_t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3N_h × 5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H_t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GN 近似 Hessian JᵀJ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× 5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g_t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梯度 Jᵀr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维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Δ_t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候选步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维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m(Δ)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二次模型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mm²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α_t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阻尼尺度标量 max(⅕ tr H, 10⁻³⁰)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 H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M_t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阻尼尺度矩阵 α_t I₅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× 5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μ_t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阻尼水平（自适应）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无量纲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ν_t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decrement 二次型 gᵀ(H+ε_μM)⁻¹g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mm²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ν_t^rel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ν_t / max(F_t, 10⁻¹²)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无量纲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ε_μ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驻点评估的固定微阻尼 10⁻¹²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无量纲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66928" y="4279392"/>
            <a:ext cx="5120640" cy="1371600"/>
          </a:xfrm>
          <a:prstGeom prst="rect">
            <a:avLst/>
          </a:prstGeom>
          <a:solidFill>
            <a:srgbClr val="FCF1EC"/>
          </a:solidFill>
          <a:ln w="12700">
            <a:solidFill>
              <a:srgbClr val="FCF1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6928" y="4279392"/>
            <a:ext cx="41148" cy="1371600"/>
          </a:xfrm>
          <a:prstGeom prst="rect">
            <a:avLst/>
          </a:prstGeom>
          <a:solidFill>
            <a:srgbClr val="B5411F"/>
          </a:solidFill>
          <a:ln w="12700">
            <a:solidFill>
              <a:srgbClr val="B5411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13232" y="434340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4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原图三处符号冲突 → 本表的拆分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713232" y="4581144"/>
            <a:ext cx="4846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同时表示 LM 阻尼矩阵与 Newton decrement → 拆为阻尼水平 μ、阻尼尺度矩阵 M、decrement 二次型 ν。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阻尼水平原记 λ_t，与倾角 λ 撞名 → 倾角只以 τ = tanλ 出现。</a:t>
            </a:r>
            <a:endParaRPr lang="en-US" sz="9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8872" cy="93268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Helix 位置参数方程：从方向余弦到闭式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418320" y="4023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推导 3.1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以横向弧长 s 为参数，方位角线性变化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1170432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ψ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(s)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ψ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0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+ρs,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ρ=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dψ</m:t>
                          </m:r>
                        </m:num>
                        <m:den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ds</m:t>
                          </m:r>
                        </m:den>
                      </m:f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\psi(s)=\psi_0+\rho s,\qquad \rho=\frac{d\psi}{ds}</a:t>
                </a:r>
              </mc:Fallback>
            </mc:AlternateContent>
          </a:p>
        </p:txBody>
      </p:sp>
      <p:sp>
        <p:nvSpPr>
          <p:cNvPr id="8" name="Text 6"/>
          <p:cNvSpPr/>
          <p:nvPr/>
        </p:nvSpPr>
        <p:spPr>
          <a:xfrm>
            <a:off x="566928" y="168249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三个方向余弦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1956816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f>
                        <m:fPr>
                          <m:type m:val="bar"/>
                        </m:fPr>
                        <m:num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dx</m:t>
                          </m:r>
                        </m:num>
                        <m:den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ds</m:t>
                          </m:r>
                        </m:den>
                      </m:f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cos⁡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ψ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(s)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,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dy</m:t>
                          </m:r>
                        </m:num>
                        <m:den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ds</m:t>
                          </m:r>
                        </m:den>
                      </m:f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sin⁡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ψ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(s)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,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dz</m:t>
                          </m:r>
                        </m:num>
                        <m:den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ds</m:t>
                          </m:r>
                        </m:den>
                      </m:f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=τ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\frac{dx}{ds}=\cos\psi(s),\qquad \frac{dy}{ds}=\sin\psi(s),\qquad \frac{dz}{ds}=\tau</a:t>
                </a:r>
              </mc:Fallback>
            </mc:AlternateContent>
          </a:p>
        </p:txBody>
      </p:sp>
      <p:sp>
        <p:nvSpPr>
          <p:cNvPr id="10" name="Text 8"/>
          <p:cNvSpPr/>
          <p:nvPr/>
        </p:nvSpPr>
        <p:spPr>
          <a:xfrm>
            <a:off x="566928" y="245059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dz/ds = τ（而非 sinλ）正是「s 为横向弧长」这一约定的直接后果。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81635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对 ρ ≠ 0，从 0 积到 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x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(s)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0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+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sin⁡</m:t>
                          </m:r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 </m:t>
                          </m:r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ψ</m:t>
                          </m:r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(s)</m:t>
                          </m:r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−</m:t>
                          </m:r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sin⁡</m:t>
                          </m:r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 </m:t>
                          </m:r>
                          <m:sSub>
                            <m:sSubPr>
                              <m:ctrlPr/>
                            </m:sSubPr>
                            <m:e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ψ</m:t>
                              </m:r>
                            </m:e>
                            <m:sub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0</m:t>
                              </m:r>
                            </m:sub>
                          </m:sSub>
                        </m:num>
                        <m:den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ρ</m:t>
                          </m:r>
                        </m:den>
                      </m:f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x(s)=x_0+\frac{\sin\psi(s)-\sin\psi_0}{\rho}</a:t>
                </a:r>
              </mc:Fallback>
            </mc:AlternateContent>
          </a:p>
        </p:txBody>
      </p:sp>
      <p:sp>
        <p:nvSpPr>
          <p:cNvPr id="13" name="Text 11"/>
          <p:cNvSpPr/>
          <p:nvPr/>
        </p:nvSpPr>
        <p:spPr>
          <a:xfrm>
            <a:off x="566928" y="358444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y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(s)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0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+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cos⁡</m:t>
                          </m:r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 </m:t>
                          </m:r>
                          <m:sSub>
                            <m:sSubPr>
                              <m:ctrlPr/>
                            </m:sSubPr>
                            <m:e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ψ</m:t>
                              </m:r>
                            </m:e>
                            <m:sub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0</m:t>
                              </m:r>
                            </m:sub>
                          </m:s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−</m:t>
                          </m:r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cos⁡</m:t>
                          </m:r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 </m:t>
                          </m:r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ψ</m:t>
                          </m:r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(s)</m:t>
                          </m:r>
                        </m:num>
                        <m:den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ρ</m:t>
                          </m:r>
                        </m:den>
                      </m:f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,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z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(s)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z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0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+τs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y(s)=y_0+\frac{\cos\psi_0-\cos\psi(s)}{\rho},\qquad z(s)=z_0+\tau s</a:t>
                </a:r>
              </mc:Fallback>
            </mc:AlternateContent>
          </a:p>
        </p:txBody>
      </p:sp>
      <p:sp>
        <p:nvSpPr>
          <p:cNvPr id="14" name="Text 12"/>
          <p:cNvSpPr/>
          <p:nvPr/>
        </p:nvSpPr>
        <p:spPr>
          <a:xfrm>
            <a:off x="566928" y="407822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 的分子是 cosψ₀ − cosψ(s)，因为 ∫sinψ ds = −cosψ/ρ。与原图闭式 y₀ − (cosψ(s)−cosψ₀)/ρ 恒等。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444398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和差化积（令 a = ρs/2）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66928" y="471830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sin⁡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ψ</m:t>
                          </m:r>
                        </m:e>
                        <m:sub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0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+2a)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−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sin⁡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ψ</m:t>
                          </m:r>
                        </m:e>
                        <m:sub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0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=2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cos⁡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ψ</m:t>
                          </m:r>
                        </m:e>
                        <m:sub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0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+a)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sin⁡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a</m:t>
                      </m:r>
                    </m:oMath>
                  </m:oMathPara>
                </a14:m>
              </mc:Choice>
              <mc:Fallback>
                <a:r>
                  <a:rPr lang="en-US" sz="14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\sin(\psi_0+2a)-\sin\psi_0=2\cos(\psi_0+a)\sin a</a:t>
                </a:r>
              </mc:Fallback>
            </mc:AlternateContent>
          </a:p>
        </p:txBody>
      </p:sp>
      <p:sp>
        <p:nvSpPr>
          <p:cNvPr id="17" name="Text 15"/>
          <p:cNvSpPr/>
          <p:nvPr/>
        </p:nvSpPr>
        <p:spPr>
          <a:xfrm>
            <a:off x="566928" y="5157216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cos⁡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ψ</m:t>
                          </m:r>
                        </m:e>
                        <m:sub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0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−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cos⁡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ψ</m:t>
                          </m:r>
                        </m:e>
                        <m:sub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0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+2a)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=2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sin⁡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ψ</m:t>
                          </m:r>
                        </m:e>
                        <m:sub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0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+a)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sin⁡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a</m:t>
                      </m:r>
                    </m:oMath>
                  </m:oMathPara>
                </a14:m>
              </mc:Choice>
              <mc:Fallback>
                <a:r>
                  <a:rPr lang="en-US" sz="14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\cos\psi_0-\cos(\psi_0+2a)=2\sin(\psi_0+a)\sin a</a:t>
                </a:r>
              </mc:Fallback>
            </mc:AlternateContent>
          </a:p>
        </p:txBody>
      </p:sp>
      <p:sp>
        <p:nvSpPr>
          <p:cNvPr id="18" name="Text 16"/>
          <p:cNvSpPr/>
          <p:nvPr/>
        </p:nvSpPr>
        <p:spPr>
          <a:xfrm>
            <a:off x="566928" y="563270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两个增量同号为正。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543800" y="896112"/>
            <a:ext cx="4087368" cy="2103120"/>
          </a:xfrm>
          <a:prstGeom prst="rect">
            <a:avLst/>
          </a:prstGeom>
          <a:solidFill>
            <a:srgbClr val="FCF1EC"/>
          </a:solidFill>
          <a:ln w="12700">
            <a:solidFill>
              <a:srgbClr val="FCF1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3800" y="896112"/>
            <a:ext cx="41148" cy="2103120"/>
          </a:xfrm>
          <a:prstGeom prst="rect">
            <a:avLst/>
          </a:prstGeom>
          <a:solidFill>
            <a:srgbClr val="B5411F"/>
          </a:solidFill>
          <a:ln w="12700">
            <a:solidFill>
              <a:srgbClr val="B541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90104" y="960120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4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实质错误 ①：原图 y(s) 和差化积后符号为负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690104" y="1197864"/>
            <a:ext cx="381304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原图套用 cosB − cosA = 2 sin((A+B)/2) sin((A−B)/2) 时，把 cosψ(s) − cosψ₀（即 cosA − cosB）当成了 cosB − cosA，漏掉一个负号。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注意：原图同一行左侧的闭式是对的，错的只是展开这一步。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7543800" y="3118104"/>
            <a:ext cx="4087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4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 s 展开即可证伪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543800" y="3419856"/>
            <a:ext cx="4087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原图式给出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43800" y="3639312"/>
            <a:ext cx="4087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>
                      <m:r>
                        <a:rPr lang="en-US" sz="1400" dirty="0">
                          <a:solidFill>
                            <a:srgbClr val="B5411F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y≈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400" dirty="0">
                              <a:solidFill>
                                <a:srgbClr val="B5411F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sz="1400" dirty="0">
                              <a:solidFill>
                                <a:srgbClr val="B5411F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0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B5411F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−s</m:t>
                      </m:r>
                      <m:r>
                        <a:rPr lang="en-US" sz="1400" dirty="0">
                          <a:solidFill>
                            <a:srgbClr val="B5411F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400" dirty="0">
                          <a:solidFill>
                            <a:srgbClr val="B5411F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sin⁡</m:t>
                      </m:r>
                      <m:r>
                        <a:rPr lang="en-US" sz="1400" dirty="0">
                          <a:solidFill>
                            <a:srgbClr val="B5411F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400" dirty="0">
                              <a:solidFill>
                                <a:srgbClr val="B5411F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ψ</m:t>
                          </m:r>
                        </m:e>
                        <m:sub>
                          <m:r>
                            <a:rPr lang="en-US" sz="1400" dirty="0">
                              <a:solidFill>
                                <a:srgbClr val="B5411F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0</m:t>
                          </m:r>
                        </m:sub>
                      </m:sSub>
                    </m:oMath>
                  </m:oMathPara>
                </a14:m>
              </mc:Choice>
              <mc:Fallback>
                <a:r>
                  <a:rPr lang="en-US" sz="1400" dirty="0">
                    <a:solidFill>
                      <a:srgbClr val="B5411F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y\approx y_0-s\sin\psi_0</a:t>
                </a:r>
              </mc:Fallback>
            </mc:AlternateContent>
          </a:p>
        </p:txBody>
      </p:sp>
      <p:sp>
        <p:nvSpPr>
          <p:cNvPr id="26" name="Text 24"/>
          <p:cNvSpPr/>
          <p:nvPr/>
        </p:nvSpPr>
        <p:spPr>
          <a:xfrm>
            <a:off x="7543800" y="4078224"/>
            <a:ext cx="4087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dy/ds = sinψ₀ 矛盾。正确式给出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43800" y="4297680"/>
            <a:ext cx="4087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>
                      <m:r>
                        <a:rPr lang="en-US" sz="1400" dirty="0">
                          <a:solidFill>
                            <a:srgbClr val="1E7A5E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y≈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400" dirty="0">
                              <a:solidFill>
                                <a:srgbClr val="1E7A5E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sz="1400" dirty="0">
                              <a:solidFill>
                                <a:srgbClr val="1E7A5E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0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E7A5E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+s</m:t>
                      </m:r>
                      <m:r>
                        <a:rPr lang="en-US" sz="1400" dirty="0">
                          <a:solidFill>
                            <a:srgbClr val="1E7A5E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400" dirty="0">
                          <a:solidFill>
                            <a:srgbClr val="1E7A5E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sin⁡</m:t>
                      </m:r>
                      <m:r>
                        <a:rPr lang="en-US" sz="1400" dirty="0">
                          <a:solidFill>
                            <a:srgbClr val="1E7A5E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400" dirty="0">
                              <a:solidFill>
                                <a:srgbClr val="1E7A5E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ψ</m:t>
                          </m:r>
                        </m:e>
                        <m:sub>
                          <m:r>
                            <a:rPr lang="en-US" sz="1400" dirty="0">
                              <a:solidFill>
                                <a:srgbClr val="1E7A5E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0</m:t>
                          </m:r>
                        </m:sub>
                      </m:sSub>
                    </m:oMath>
                  </m:oMathPara>
                </a14:m>
              </mc:Choice>
              <mc:Fallback>
                <a:r>
                  <a:rPr lang="en-US" sz="1400" dirty="0">
                    <a:solidFill>
                      <a:srgbClr val="1E7A5E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y\approx y_0+s\sin\psi_0</a:t>
                </a:r>
              </mc:Fallback>
            </mc:AlternateContent>
          </a:p>
        </p:txBody>
      </p:sp>
      <p:sp>
        <p:nvSpPr>
          <p:cNvPr id="28" name="Shape 26"/>
          <p:cNvSpPr/>
          <p:nvPr/>
        </p:nvSpPr>
        <p:spPr>
          <a:xfrm>
            <a:off x="7543800" y="4809744"/>
            <a:ext cx="4087368" cy="960120"/>
          </a:xfrm>
          <a:prstGeom prst="rect">
            <a:avLst/>
          </a:prstGeom>
          <a:solidFill>
            <a:srgbClr val="EFF4F8"/>
          </a:solidFill>
          <a:ln w="12700">
            <a:solidFill>
              <a:srgbClr val="EFF4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43800" y="4809744"/>
            <a:ext cx="41148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90104" y="4873752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数值核验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690104" y="5111496"/>
            <a:ext cx="38130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helix_point 为基准，N=2000 组随机参数：原图展开式最大偏差 1581 mm；修订式 2.8×10⁻¹⁴ mm。</a:t>
            </a:r>
            <a:endParaRPr lang="en-US" sz="9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8872" cy="93268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数值稳定式、切向量与直线极限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418320" y="4023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推导 3.1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消去 1/ρ 的稳定式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1170432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𝐡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(𝜼,s)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[</m:t>
                      </m:r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sSubPr>
                                <m:ctrlPr/>
                              </m:sSubPr>
                              <m:e>
                                <m:r>
                                  <a:rPr lang="en-US" sz="1400" dirty="0">
                                    <a:solidFill>
                                      <a:srgbClr val="16202B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 xml:space="preserve">x</m:t>
                                </m:r>
                              </m:e>
                              <m:sub>
                                <m:r>
                                  <a:rPr lang="en-US" sz="1400" dirty="0">
                                    <a:solidFill>
                                      <a:srgbClr val="16202B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+s</m:t>
                            </m:r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 </m:t>
                            </m:r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cos⁡</m:t>
                            </m:r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(</m:t>
                            </m:r>
                            <m:sSub>
                              <m:sSubPr>
                                <m:ctrlPr/>
                              </m:sSubPr>
                              <m:e>
                                <m:r>
                                  <a:rPr lang="en-US" sz="1400" dirty="0">
                                    <a:solidFill>
                                      <a:srgbClr val="16202B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 xml:space="preserve">ψ</m:t>
                                </m:r>
                              </m:e>
                              <m:sub>
                                <m:r>
                                  <a:rPr lang="en-US" sz="1400" dirty="0">
                                    <a:solidFill>
                                      <a:srgbClr val="16202B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+ρs/2)</m:t>
                            </m:r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sinc⁡</m:t>
                            </m:r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(ρs/2)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/>
                              </m:sSubPr>
                              <m:e>
                                <m:r>
                                  <a:rPr lang="en-US" sz="1400" dirty="0">
                                    <a:solidFill>
                                      <a:srgbClr val="16202B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 xml:space="preserve">y</m:t>
                                </m:r>
                              </m:e>
                              <m:sub>
                                <m:r>
                                  <a:rPr lang="en-US" sz="1400" dirty="0">
                                    <a:solidFill>
                                      <a:srgbClr val="16202B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+s</m:t>
                            </m:r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 </m:t>
                            </m:r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sin⁡</m:t>
                            </m:r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(</m:t>
                            </m:r>
                            <m:sSub>
                              <m:sSubPr>
                                <m:ctrlPr/>
                              </m:sSubPr>
                              <m:e>
                                <m:r>
                                  <a:rPr lang="en-US" sz="1400" dirty="0">
                                    <a:solidFill>
                                      <a:srgbClr val="16202B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 xml:space="preserve">ψ</m:t>
                                </m:r>
                              </m:e>
                              <m:sub>
                                <m:r>
                                  <a:rPr lang="en-US" sz="1400" dirty="0">
                                    <a:solidFill>
                                      <a:srgbClr val="16202B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+ρs/2)</m:t>
                            </m:r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sinc⁡</m:t>
                            </m:r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(ρs/2)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/>
                              </m:sSubPr>
                              <m:e>
                                <m:r>
                                  <a:rPr lang="en-US" sz="1400" dirty="0">
                                    <a:solidFill>
                                      <a:srgbClr val="16202B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 xml:space="preserve">z</m:t>
                                </m:r>
                              </m:e>
                              <m:sub>
                                <m:r>
                                  <a:rPr lang="en-US" sz="1400" dirty="0">
                                    <a:solidFill>
                                      <a:srgbClr val="16202B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+τs</m:t>
                            </m:r>
                          </m:e>
                        </m:mr>
                      </m:m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]</m:t>
                      </m:r>
                    </m:oMath>
                  </m:oMathPara>
                </a14:m>
              </mc:Choice>
              <mc:Fallback>
                <a:r>
                  <a:rPr lang="en-US" sz="14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\mathbf h(\boldsymbol\eta,s)=\begin{bmatrix}x_0+s\cos(\psi_0+\rho s/2)\operatorname{sinc}(\rho s/2)\\ y_0+s\sin(\psi_0+\rho s/2)\operatorname{sinc}(\rho s/2)\\ z_0+\tau s\end{bmatrix}</a:t>
                </a:r>
              </mc:Fallback>
            </mc:AlternateContent>
          </a:p>
        </p:txBody>
      </p:sp>
      <p:sp>
        <p:nvSpPr>
          <p:cNvPr id="8" name="Text 6"/>
          <p:cNvSpPr/>
          <p:nvPr/>
        </p:nvSpPr>
        <p:spPr>
          <a:xfrm>
            <a:off x="566928" y="2450592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sinc⁡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(a)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sin⁡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 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a</m:t>
                          </m:r>
                        </m:num>
                        <m:den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a</m:t>
                          </m:r>
                        </m:den>
                      </m:f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=1−</m:t>
                      </m:r>
                      <m:f>
                        <m:fPr>
                          <m:type m:val="bar"/>
                        </m:fPr>
                        <m:num>
                          <m:sSup>
                            <m:sSupPr>
                              <m:ctrlPr/>
                            </m:sSupPr>
                            <m:e>
                              <m:r>
                                <a:rPr lang="en-US" sz="14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a</m:t>
                              </m:r>
                            </m:e>
                            <m:sup>
                              <m:r>
                                <a:rPr lang="en-US" sz="14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2</m:t>
                              </m:r>
                            </m:sup>
                          </m:sSup>
                        </m:num>
                        <m:den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6</m:t>
                          </m:r>
                        </m:den>
                      </m:f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+O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</m:t>
                      </m:r>
                      <m:sSup>
                        <m:sSupPr>
                          <m:ctrlPr/>
                        </m:sSupPr>
                        <m:e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a</m:t>
                          </m:r>
                        </m:e>
                        <m:sup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4</m:t>
                          </m:r>
                        </m:sup>
                      </m:sSup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)</m:t>
                      </m:r>
                    </m:oMath>
                  </m:oMathPara>
                </a14:m>
              </mc:Choice>
              <mc:Fallback>
                <a:r>
                  <a:rPr lang="en-US" sz="14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\operatorname{sinc}(a)=\frac{\sin a}{a}=1-\frac{a^2}{6}+O(a^4)</a:t>
                </a:r>
              </mc:Fallback>
            </mc:AlternateContent>
          </a:p>
        </p:txBody>
      </p:sp>
      <p:sp>
        <p:nvSpPr>
          <p:cNvPr id="9" name="Text 7"/>
          <p:cNvSpPr/>
          <p:nvPr/>
        </p:nvSpPr>
        <p:spPr>
          <a:xfrm>
            <a:off x="566928" y="29077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sinc 在 a = 0 解析，故直线极限自动成立。这一点是必须的：seed 初值取 ρ = 0，闭式的 1/ρ 在那里发散。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3328416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sSub>
                        <m:sSubPr>
                          <m:ctrlPr/>
                        </m:sSubPr>
                        <m:e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lim</m:t>
                          </m:r>
                        </m:e>
                        <m:sub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ρ→0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⁡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𝐡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(𝜼,s)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𝐫</m:t>
                          </m:r>
                        </m:e>
                        <m:sub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0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+s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sSup>
                        <m:sSupPr>
                          <m:ctrlPr/>
                        </m:sSupPr>
                        <m:e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(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cos⁡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 </m:t>
                          </m:r>
                          <m:sSub>
                            <m:sSubPr>
                              <m:ctrlPr/>
                            </m:sSubPr>
                            <m:e>
                              <m:r>
                                <a:rPr lang="en-US" sz="14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ψ</m:t>
                              </m:r>
                            </m:e>
                            <m:sub>
                              <m:r>
                                <a:rPr lang="en-US" sz="14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0</m:t>
                              </m:r>
                            </m:sub>
                          </m:sSub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,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rPr>
                              <m:nor/>
                            </m:rPr>
                            <m:t xml:space="preserve"/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sin⁡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 </m:t>
                          </m:r>
                          <m:sSub>
                            <m:sSubPr>
                              <m:ctrlPr/>
                            </m:sSubPr>
                            <m:e>
                              <m:r>
                                <a:rPr lang="en-US" sz="14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ψ</m:t>
                              </m:r>
                            </m:e>
                            <m:sub>
                              <m:r>
                                <a:rPr lang="en-US" sz="14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0</m:t>
                              </m:r>
                            </m:sub>
                          </m:sSub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,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rPr>
                              <m:nor/>
                            </m:rPr>
                            <m:t xml:space="preserve"/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τ)</m:t>
                          </m:r>
                        </m:e>
                        <m:sup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𝖳</m:t>
                          </m:r>
                        </m:sup>
                      </m:sSup>
                    </m:oMath>
                  </m:oMathPara>
                </a14:m>
              </mc:Choice>
              <mc:Fallback>
                <a:r>
                  <a:rPr lang="en-US" sz="14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\lim_{\rho\to0}\mathbf h(\boldsymbol\eta,s)=\mathbf r_0+s\,(\cos\psi_0,\ \sin\psi_0,\ \tau)^{\mathsf T}</a:t>
                </a:r>
              </mc:Fallback>
            </mc:AlternateContent>
          </a:p>
        </p:txBody>
      </p:sp>
      <p:sp>
        <p:nvSpPr>
          <p:cNvPr id="11" name="Text 9"/>
          <p:cNvSpPr/>
          <p:nvPr/>
        </p:nvSpPr>
        <p:spPr>
          <a:xfrm>
            <a:off x="566928" y="38587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导数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4133088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𝐭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(s)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sSup>
                        <m:sSupPr>
                          <m:ctrlPr/>
                        </m:sSupPr>
                        <m:e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(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cos⁡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 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ψ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(s)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,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rPr>
                              <m:nor/>
                            </m:rPr>
                            <m:t xml:space="preserve"/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sin⁡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 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ψ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(s)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,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rPr>
                              <m:nor/>
                            </m:rPr>
                            <m:t xml:space="preserve"/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τ)</m:t>
                          </m:r>
                        </m:e>
                        <m:sup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𝖳</m:t>
                          </m:r>
                        </m:sup>
                      </m:sSup>
                    </m:oMath>
                  </m:oMathPara>
                </a14:m>
              </mc:Choice>
              <mc:Fallback>
                <a:r>
                  <a:rPr lang="en-US" sz="14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\mathbf t(s)=(\cos\psi(s),\ \sin\psi(s),\ \tau)^{\mathsf T}</a:t>
                </a:r>
              </mc:Fallback>
            </mc:AlternateContent>
          </a:p>
        </p:txBody>
      </p:sp>
      <p:sp>
        <p:nvSpPr>
          <p:cNvPr id="13" name="Text 11"/>
          <p:cNvSpPr/>
          <p:nvPr/>
        </p:nvSpPr>
        <p:spPr>
          <a:xfrm>
            <a:off x="566928" y="4590288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sSup>
                        <m:sSupPr>
                          <m:ctrlPr/>
                        </m:sSupPr>
                        <m:e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𝐡</m:t>
                          </m:r>
                        </m:e>
                        <m:sup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′′</m:t>
                          </m:r>
                        </m:sup>
                      </m:sSup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(s)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sSup>
                        <m:sSupPr>
                          <m:ctrlPr/>
                        </m:sSupPr>
                        <m:e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(−ρ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 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sin⁡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 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ψ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(s)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,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rPr>
                              <m:nor/>
                            </m:rPr>
                            <m:t xml:space="preserve"/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ρ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 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cos⁡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 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ψ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(s)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,</m:t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rPr>
                              <m:nor/>
                            </m:rPr>
                            <m:t xml:space="preserve"/>
                          </m:r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0)</m:t>
                          </m:r>
                        </m:e>
                        <m:sup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𝖳</m:t>
                          </m:r>
                        </m:sup>
                      </m:sSup>
                    </m:oMath>
                  </m:oMathPara>
                </a14:m>
              </mc:Choice>
              <mc:Fallback>
                <a:r>
                  <a:rPr lang="en-US" sz="14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\mathbf h''(s)=(-\rho\sin\psi(s),\ \rho\cos\psi(s),\ 0)^{\mathsf T}</a:t>
                </a:r>
              </mc:Fallback>
            </mc:AlternateContent>
          </a:p>
        </p:txBody>
      </p:sp>
      <p:sp>
        <p:nvSpPr>
          <p:cNvPr id="14" name="Text 12"/>
          <p:cNvSpPr/>
          <p:nvPr/>
        </p:nvSpPr>
        <p:spPr>
          <a:xfrm>
            <a:off x="566928" y="5102352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r>
                        <a:rPr lang="en-US" sz="1500" dirty="0">
                          <a:solidFill>
                            <a:srgbClr val="B5411F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‖𝐭</m:t>
                      </m:r>
                      <m:r>
                        <a:rPr lang="en-US" sz="1500" dirty="0">
                          <a:solidFill>
                            <a:srgbClr val="B5411F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(s)</m:t>
                      </m:r>
                      <m:r>
                        <a:rPr lang="en-US" sz="1500" dirty="0">
                          <a:solidFill>
                            <a:srgbClr val="B5411F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‖</m:t>
                      </m:r>
                      <m:r>
                        <a:rPr lang="en-US" sz="1500" dirty="0">
                          <a:solidFill>
                            <a:srgbClr val="B5411F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rad>
                        <m:radPr>
                          <m:degHide m:val="on"/>
                        </m:radPr>
                        <m:deg/>
                        <m:e>
                          <m:r>
                            <a:rPr lang="en-US" sz="1500" dirty="0">
                              <a:solidFill>
                                <a:srgbClr val="B5411F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1+</m:t>
                          </m:r>
                          <m:sSup>
                            <m:sSupPr>
                              <m:ctrlPr/>
                            </m:sSupPr>
                            <m:e>
                              <m:r>
                                <a:rPr lang="en-US" sz="1500" dirty="0">
                                  <a:solidFill>
                                    <a:srgbClr val="B5411F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τ</m:t>
                              </m:r>
                            </m:e>
                            <m:sup>
                              <m:r>
                                <a:rPr lang="en-US" sz="1500" dirty="0">
                                  <a:solidFill>
                                    <a:srgbClr val="B5411F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2</m:t>
                              </m:r>
                            </m:sup>
                          </m:sSup>
                        </m:e>
                      </m:rad>
                      <m:r>
                        <a:rPr lang="en-US" sz="1500" dirty="0">
                          <a:solidFill>
                            <a:srgbClr val="B5411F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≠1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B5411F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\lVert\mathbf t(s)\rVert=\sqrt{1+\tau^2}\neq 1</a:t>
                </a:r>
              </mc:Fallback>
            </mc:AlternateContent>
          </a:p>
        </p:txBody>
      </p:sp>
      <p:sp>
        <p:nvSpPr>
          <p:cNvPr id="15" name="Shape 13"/>
          <p:cNvSpPr/>
          <p:nvPr/>
        </p:nvSpPr>
        <p:spPr>
          <a:xfrm>
            <a:off x="566928" y="5559552"/>
            <a:ext cx="6858000" cy="868680"/>
          </a:xfrm>
          <a:prstGeom prst="rect">
            <a:avLst/>
          </a:prstGeom>
          <a:solidFill>
            <a:srgbClr val="FCF1EC"/>
          </a:solidFill>
          <a:ln w="12700">
            <a:solidFill>
              <a:srgbClr val="FCF1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5559552"/>
            <a:ext cx="41148" cy="868680"/>
          </a:xfrm>
          <a:prstGeom prst="rect">
            <a:avLst/>
          </a:prstGeom>
          <a:solidFill>
            <a:srgbClr val="B5411F"/>
          </a:solidFill>
          <a:ln w="12700">
            <a:solidFill>
              <a:srgbClr val="B541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562356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4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近似边界：t 不是单位三维切向量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13232" y="5861304"/>
            <a:ext cx="6583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xy 分量是单位的。凡涉及「投影到切线」的推导都要带上 ‖t‖² = 1 + τ²，s₀³ᴰ 分母里的 1 + τ² 就是这么来的。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7635240" y="896112"/>
            <a:ext cx="3995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曲率的物理来源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635240" y="1170432"/>
            <a:ext cx="3995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 z 的均匀场 B_z 中，横向运动半径 R = p_T /(|q|B_z)，故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635240" y="1572768"/>
            <a:ext cx="3995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|ρ|=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1</m:t>
                          </m:r>
                        </m:num>
                        <m:den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R</m:t>
                          </m:r>
                        </m:den>
                      </m:f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|q|</m:t>
                          </m:r>
                          <m:sSub>
                            <m:sSubPr>
                              <m:ctrlPr/>
                            </m:sSubPr>
                            <m:e>
                              <m:r>
                                <a:rPr lang="en-US" sz="16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B</m:t>
                              </m:r>
                            </m:e>
                            <m:sub>
                              <m:r>
                                <a:rPr lang="en-US" sz="16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z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/>
                            </m:sSubPr>
                            <m:e>
                              <m:r>
                                <a:rPr lang="en-US" sz="16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p</m:t>
                              </m:r>
                            </m:e>
                            <m:sub>
                              <m:r>
                                <a:rPr lang="en-US" sz="16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T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mc:Choice>
              <mc:Fallback>
                <a:r>
                  <a:rPr lang="en-US" sz="16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|\rho|=\frac{1}{R}=\frac{|q|B_z}{p_T}</a:t>
                </a:r>
              </mc:Fallback>
            </mc:AlternateContent>
          </a:p>
        </p:txBody>
      </p:sp>
      <p:sp>
        <p:nvSpPr>
          <p:cNvPr id="22" name="Shape 20"/>
          <p:cNvSpPr/>
          <p:nvPr/>
        </p:nvSpPr>
        <p:spPr>
          <a:xfrm>
            <a:off x="7635240" y="2157984"/>
            <a:ext cx="3995928" cy="1417320"/>
          </a:xfrm>
          <a:prstGeom prst="rect">
            <a:avLst/>
          </a:prstGeom>
          <a:solidFill>
            <a:srgbClr val="FCF1EC"/>
          </a:solidFill>
          <a:ln w="12700">
            <a:solidFill>
              <a:srgbClr val="FCF1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35240" y="2157984"/>
            <a:ext cx="41148" cy="1417320"/>
          </a:xfrm>
          <a:prstGeom prst="rect">
            <a:avLst/>
          </a:prstGeom>
          <a:solidFill>
            <a:srgbClr val="B5411F"/>
          </a:solidFill>
          <a:ln w="12700">
            <a:solidFill>
              <a:srgbClr val="B541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221992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4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实质错误 ②：原图曲率式多除一个质量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781544" y="2459736"/>
            <a:ext cx="372160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原图写 |ρ| = (B_z/p_T)(q/m)，量纲不成立。分母应是横向动量且不出现质量。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下方小框 R = mv/(Bq) 中的 mv 也应是 p_T。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7635240" y="3694176"/>
            <a:ext cx="3995928" cy="1234440"/>
          </a:xfrm>
          <a:prstGeom prst="rect">
            <a:avLst/>
          </a:prstGeom>
          <a:solidFill>
            <a:srgbClr val="FCF1EC"/>
          </a:solidFill>
          <a:ln w="12700">
            <a:solidFill>
              <a:srgbClr val="FCF1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35240" y="3694176"/>
            <a:ext cx="41148" cy="1234440"/>
          </a:xfrm>
          <a:prstGeom prst="rect">
            <a:avLst/>
          </a:prstGeom>
          <a:solidFill>
            <a:srgbClr val="B5411F"/>
          </a:solidFill>
          <a:ln w="12700">
            <a:solidFill>
              <a:srgbClr val="B541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81544" y="3758184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4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且主线根本不走这个式子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81544" y="3995928"/>
            <a:ext cx="372160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主线的 ρ 是纯几何拟合量，由 LM 直接优化，不从 B_z、q、p_T 导出（seed 初值取 ρ = 0）。磁场式只作物理背景。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7635240" y="5038344"/>
            <a:ext cx="3995928" cy="1389888"/>
          </a:xfrm>
          <a:prstGeom prst="rect">
            <a:avLst/>
          </a:prstGeom>
          <a:solidFill>
            <a:srgbClr val="EFF4F8"/>
          </a:solidFill>
          <a:ln w="12700">
            <a:solidFill>
              <a:srgbClr val="EFF4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35240" y="5038344"/>
            <a:ext cx="41148" cy="13898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81544" y="5102352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sinc 的定义须声明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781544" y="5340096"/>
            <a:ext cx="3721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本文用非归一化定义 sinc(a) = sin a / a。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代码写 torch.sinc(a/π)，是为抵消 PyTorch 的归一化约定 sin(πa)/(πa)——不是笔误。</a:t>
            </a:r>
            <a:endParaRPr lang="en-US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8872" cy="93268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点到 Helix 的最近点：目标函数与导数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418320" y="4023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推导 3.2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92354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1225296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𝐝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(s)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=𝐡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(𝜼,s)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−𝐩,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f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(s)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f>
                        <m:fPr>
                          <m:type m:val="bar"/>
                        </m:fPr>
                        <m:num>
                          <m:argPr>
                            <m:scrLvl m:val="0"/>
                          </m:argPr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1</m:t>
                          </m:r>
                        </m:num>
                        <m:den>
                          <m:argPr>
                            <m:scrLvl m:val="0"/>
                          </m:argPr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2</m:t>
                          </m:r>
                        </m:den>
                      </m:f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𝐝</m:t>
                      </m:r>
                      <m:sSup>
                        <m:sSupPr>
                          <m:ctrlPr/>
                        </m:sSup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(s)</m:t>
                          </m:r>
                        </m:e>
                        <m:sup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𝖳</m:t>
                          </m:r>
                        </m:sup>
                      </m:sSup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𝐝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(s)</m:t>
                      </m:r>
                    </m:oMath>
                  </m:oMathPara>
                </a14:m>
              </mc:Choice>
              <mc:Fallback>
                <a:r>
                  <a:rPr lang="en-US" sz="16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\mathbf d(s)=\mathbf h(\boldsymbol\eta,s)-\mathbf p,\qquad f(s)=\tfrac12\,\mathbf d(s)^{\mathsf T}\mathbf d(s)</a:t>
                </a:r>
              </mc:Fallback>
            </mc:AlternateContent>
          </a:p>
        </p:txBody>
      </p:sp>
      <p:sp>
        <p:nvSpPr>
          <p:cNvPr id="8" name="Text 6"/>
          <p:cNvSpPr/>
          <p:nvPr/>
        </p:nvSpPr>
        <p:spPr>
          <a:xfrm>
            <a:off x="566928" y="17556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取距离平方的一半，是为了让一阶导不带系数 2。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1579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一阶导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245059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sSup>
                        <m:sSupPr>
                          <m:ctrlPr/>
                        </m:sSup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f</m:t>
                          </m:r>
                        </m:e>
                        <m:sup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′</m:t>
                          </m:r>
                        </m:sup>
                      </m:sSup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(s)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=𝐝</m:t>
                      </m:r>
                      <m:sSup>
                        <m:sSupPr>
                          <m:ctrlPr/>
                        </m:sSup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(s)</m:t>
                          </m:r>
                        </m:e>
                        <m:sup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𝖳</m:t>
                          </m:r>
                        </m:sup>
                      </m:sSup>
                      <m:sSup>
                        <m:sSupPr>
                          <m:ctrlPr/>
                        </m:sSup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𝐡</m:t>
                          </m:r>
                        </m:e>
                        <m:sup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′</m:t>
                          </m:r>
                        </m:sup>
                      </m:sSup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(s)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=𝐝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(s)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⋅𝐭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(s)</m:t>
                      </m:r>
                    </m:oMath>
                  </m:oMathPara>
                </a14:m>
              </mc:Choice>
              <mc:Fallback>
                <a:r>
                  <a:rPr lang="en-US" sz="16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f'(s)=\mathbf d(s)^{\mathsf T}\mathbf h'(s)=\mathbf d(s)\cdot\mathbf t(s)</a:t>
                </a:r>
              </mc:Fallback>
            </mc:AlternateContent>
          </a:p>
        </p:txBody>
      </p:sp>
      <p:sp>
        <p:nvSpPr>
          <p:cNvPr id="11" name="Text 9"/>
          <p:cNvSpPr/>
          <p:nvPr/>
        </p:nvSpPr>
        <p:spPr>
          <a:xfrm>
            <a:off x="566928" y="299923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二阶导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3291840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sSup>
                        <m:sSupPr>
                          <m:ctrlPr/>
                        </m:sSup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f</m:t>
                          </m:r>
                        </m:e>
                        <m:sup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′′</m:t>
                          </m:r>
                        </m:sup>
                      </m:sSup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(s)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=𝐭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(s)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⋅𝐭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(s)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+𝐝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(s)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⋅</m:t>
                      </m:r>
                      <m:sSup>
                        <m:sSupPr>
                          <m:ctrlPr/>
                        </m:sSup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𝐡</m:t>
                          </m:r>
                        </m:e>
                        <m:sup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′′</m:t>
                          </m:r>
                        </m:sup>
                      </m:sSup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(s)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(1+</m:t>
                      </m:r>
                      <m:sSup>
                        <m:sSupPr>
                          <m:ctrlPr/>
                        </m:sSup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τ</m:t>
                          </m:r>
                        </m:e>
                        <m:sup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2</m:t>
                          </m:r>
                        </m:sup>
                      </m:sSup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)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+𝐝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(s)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⋅</m:t>
                      </m:r>
                      <m:sSup>
                        <m:sSupPr>
                          <m:ctrlPr/>
                        </m:sSup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𝐡</m:t>
                          </m:r>
                        </m:e>
                        <m:sup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′′</m:t>
                          </m:r>
                        </m:sup>
                      </m:sSup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(s)</m:t>
                      </m:r>
                    </m:oMath>
                  </m:oMathPara>
                </a14:m>
              </mc:Choice>
              <mc:Fallback>
                <a:r>
                  <a:rPr lang="en-US" sz="16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f''(s)=\mathbf t(s)\cdot\mathbf t(s)+\mathbf d(s)\cdot\mathbf h''(s)=(1+\tau^2)+\mathbf d(s)\cdot\mathbf h''(s)</a:t>
                </a:r>
              </mc:Fallback>
            </mc:AlternateContent>
          </a:p>
        </p:txBody>
      </p:sp>
      <p:sp>
        <p:nvSpPr>
          <p:cNvPr id="13" name="Text 11"/>
          <p:cNvSpPr/>
          <p:nvPr/>
        </p:nvSpPr>
        <p:spPr>
          <a:xfrm>
            <a:off x="566928" y="389534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内部局部极小的条件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418795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sSup>
                        <m:sSupPr>
                          <m:ctrlPr/>
                        </m:sSupPr>
                        <m:e>
                          <m:r>
                            <a:rPr lang="en-US" sz="1700" dirty="0">
                              <a:solidFill>
                                <a:srgbClr val="065A8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f</m:t>
                          </m:r>
                        </m:e>
                        <m:sup>
                          <m:r>
                            <a:rPr lang="en-US" sz="1700" dirty="0">
                              <a:solidFill>
                                <a:srgbClr val="065A8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′</m:t>
                          </m:r>
                        </m:sup>
                      </m:sSup>
                      <m:r>
                        <a:rPr lang="en-US" sz="1700" dirty="0">
                          <a:solidFill>
                            <a:srgbClr val="065A8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</m:t>
                      </m:r>
                      <m:sSup>
                        <m:sSupPr>
                          <m:ctrlPr/>
                        </m:sSupPr>
                        <m:e>
                          <m:r>
                            <a:rPr lang="en-US" sz="1700" dirty="0">
                              <a:solidFill>
                                <a:srgbClr val="065A8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s</m:t>
                          </m:r>
                        </m:e>
                        <m:sup>
                          <m:r>
                            <a:rPr lang="en-US" sz="1700" dirty="0">
                              <a:solidFill>
                                <a:srgbClr val="065A8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∗</m:t>
                          </m:r>
                        </m:sup>
                      </m:sSup>
                      <m:r>
                        <a:rPr lang="en-US" sz="1700" dirty="0">
                          <a:solidFill>
                            <a:srgbClr val="065A8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)</m:t>
                      </m:r>
                      <m:r>
                        <a:rPr lang="en-US" sz="1700" dirty="0">
                          <a:solidFill>
                            <a:srgbClr val="065A8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=0</m:t>
                      </m:r>
                      <m:r>
                        <a:rPr lang="en-US" sz="1700" dirty="0">
                          <a:solidFill>
                            <a:srgbClr val="065A8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rPr>
                          <m:nor/>
                        </m:rPr>
                        <m:t xml:space="preserve"/>
                      </m:r>
                      <m:r>
                        <a:rPr lang="en-US" sz="1700" dirty="0">
                          <a:solidFill>
                            <a:srgbClr val="065A8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∧</m:t>
                      </m:r>
                      <m:r>
                        <a:rPr lang="en-US" sz="1700" dirty="0">
                          <a:solidFill>
                            <a:srgbClr val="065A8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rPr>
                          <m:nor/>
                        </m:rPr>
                        <m:t xml:space="preserve"/>
                      </m:r>
                      <m:sSup>
                        <m:sSupPr>
                          <m:ctrlPr/>
                        </m:sSupPr>
                        <m:e>
                          <m:r>
                            <a:rPr lang="en-US" sz="1700" dirty="0">
                              <a:solidFill>
                                <a:srgbClr val="065A8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f</m:t>
                          </m:r>
                        </m:e>
                        <m:sup>
                          <m:r>
                            <a:rPr lang="en-US" sz="1700" dirty="0">
                              <a:solidFill>
                                <a:srgbClr val="065A8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′′</m:t>
                          </m:r>
                        </m:sup>
                      </m:sSup>
                      <m:r>
                        <a:rPr lang="en-US" sz="1700" dirty="0">
                          <a:solidFill>
                            <a:srgbClr val="065A8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</m:t>
                      </m:r>
                      <m:sSup>
                        <m:sSupPr>
                          <m:ctrlPr/>
                        </m:sSupPr>
                        <m:e>
                          <m:r>
                            <a:rPr lang="en-US" sz="1700" dirty="0">
                              <a:solidFill>
                                <a:srgbClr val="065A8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s</m:t>
                          </m:r>
                        </m:e>
                        <m:sup>
                          <m:r>
                            <a:rPr lang="en-US" sz="1700" dirty="0">
                              <a:solidFill>
                                <a:srgbClr val="065A8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∗</m:t>
                          </m:r>
                        </m:sup>
                      </m:sSup>
                      <m:r>
                        <a:rPr lang="en-US" sz="1700" dirty="0">
                          <a:solidFill>
                            <a:srgbClr val="065A8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)</m:t>
                      </m:r>
                      <m:r>
                        <a:rPr lang="en-US" sz="1700" dirty="0">
                          <a:solidFill>
                            <a:srgbClr val="065A8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&gt;0</m:t>
                      </m:r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065A82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f'(s^{\ast})=0\ \ \wedge\ \ f''(s^{\ast})&gt;0</a:t>
                </a:r>
              </mc:Fallback>
            </mc:AlternateContent>
          </a:p>
        </p:txBody>
      </p:sp>
      <p:sp>
        <p:nvSpPr>
          <p:cNvPr id="15" name="Text 13"/>
          <p:cNvSpPr/>
          <p:nvPr/>
        </p:nvSpPr>
        <p:spPr>
          <a:xfrm>
            <a:off x="566928" y="471830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几何含义：位移与切向正交。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26680" y="923544"/>
            <a:ext cx="3904488" cy="1965960"/>
          </a:xfrm>
          <a:prstGeom prst="rect">
            <a:avLst/>
          </a:prstGeom>
          <a:solidFill>
            <a:srgbClr val="FCF1EC"/>
          </a:solidFill>
          <a:ln w="12700">
            <a:solidFill>
              <a:srgbClr val="FCF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923544"/>
            <a:ext cx="41148" cy="1965960"/>
          </a:xfrm>
          <a:prstGeom prst="rect">
            <a:avLst/>
          </a:prstGeom>
          <a:solidFill>
            <a:srgbClr val="B5411F"/>
          </a:solidFill>
          <a:ln w="12700">
            <a:solidFill>
              <a:srgbClr val="B541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72984" y="987552"/>
            <a:ext cx="3630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4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不完整 ①：f′(s*) = 0 只是必要条件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872984" y="1225296"/>
            <a:ext cx="36301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原图只写了一阶条件。还需 f″(s*) &gt; 0 才是极小。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f″ 可以为负：当 d 指向曲率中心一侧且 |ρ|·‖d‖ &gt; 1 + τ² 时，驻点是极大值。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726680" y="3026664"/>
            <a:ext cx="3904488" cy="1600200"/>
          </a:xfrm>
          <a:prstGeom prst="rect">
            <a:avLst/>
          </a:prstGeom>
          <a:solidFill>
            <a:srgbClr val="FCF1EC"/>
          </a:solidFill>
          <a:ln w="12700">
            <a:solidFill>
              <a:srgbClr val="FCF1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3026664"/>
            <a:ext cx="41148" cy="1600200"/>
          </a:xfrm>
          <a:prstGeom prst="rect">
            <a:avLst/>
          </a:prstGeom>
          <a:solidFill>
            <a:srgbClr val="B5411F"/>
          </a:solidFill>
          <a:ln w="12700">
            <a:solidFill>
              <a:srgbClr val="B541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72984" y="3090672"/>
            <a:ext cx="3630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4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不完整 ②：驻点不唯一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872984" y="3328416"/>
            <a:ext cx="363016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f′ 在 helix 上有多个零点，Newton 只收敛到初值所在的吸引域。代码固定迭代 8 次，不做终态极小性证明。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7726680" y="4764024"/>
            <a:ext cx="3904488" cy="1664208"/>
          </a:xfrm>
          <a:prstGeom prst="rect">
            <a:avLst/>
          </a:prstGeom>
          <a:solidFill>
            <a:srgbClr val="EFF4F8"/>
          </a:solidFill>
          <a:ln w="12700">
            <a:solidFill>
              <a:srgbClr val="EFF4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26680" y="4764024"/>
            <a:ext cx="41148" cy="16642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72984" y="4828032"/>
            <a:ext cx="3630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因此本文的措辞边界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872984" y="5065776"/>
            <a:ext cx="3630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后文所有 s* 均指「拟合所采用的最近点估计」，不宣称全局最近点。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f′、f″ 两式已与 torch.autograd 对拍，偏差 ~10⁻¹⁵。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8872" cy="93268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Newton 迭代、初值与数值保护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418320" y="4023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推导 3.2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92354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Newton 更新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1207008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sSub>
                        <m:sSubPr>
                          <m:ctrlPr/>
                        </m:sSub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s</m:t>
                          </m:r>
                        </m:e>
                        <m:sub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n+1</m:t>
                          </m:r>
                        </m:sub>
                      </m:sSub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s</m:t>
                          </m:r>
                        </m:e>
                        <m:sub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n</m:t>
                          </m:r>
                        </m:sub>
                      </m:sSub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−</m:t>
                      </m:r>
                      <m:f>
                        <m:fPr>
                          <m:type m:val="bar"/>
                        </m:fPr>
                        <m:num>
                          <m:sSup>
                            <m:sSupPr>
                              <m:ctrlPr/>
                            </m:sSupPr>
                            <m:e>
                              <m:r>
                                <a:rPr lang="en-US" sz="16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f</m:t>
                              </m:r>
                            </m:e>
                            <m:sup>
                              <m:r>
                                <a:rPr lang="en-US" sz="16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′</m:t>
                              </m:r>
                            </m:sup>
                          </m:sSup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(</m:t>
                          </m:r>
                          <m:sSub>
                            <m:sSubPr>
                              <m:ctrlPr/>
                            </m:sSubPr>
                            <m:e>
                              <m:r>
                                <a:rPr lang="en-US" sz="16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s</m:t>
                              </m:r>
                            </m:e>
                            <m:sub>
                              <m:r>
                                <a:rPr lang="en-US" sz="16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n</m:t>
                              </m:r>
                            </m:sub>
                          </m:sSub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)</m:t>
                          </m:r>
                        </m:num>
                        <m:den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safe⁡</m:t>
                          </m:r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(</m:t>
                          </m:r>
                          <m:sSup>
                            <m:sSupPr>
                              <m:ctrlPr/>
                            </m:sSupPr>
                            <m:e>
                              <m:r>
                                <a:rPr lang="en-US" sz="16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f</m:t>
                              </m:r>
                            </m:e>
                            <m:sup>
                              <m:r>
                                <a:rPr lang="en-US" sz="16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′′</m:t>
                              </m:r>
                            </m:sup>
                          </m:sSup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(</m:t>
                          </m:r>
                          <m:sSub>
                            <m:sSubPr>
                              <m:ctrlPr/>
                            </m:sSubPr>
                            <m:e>
                              <m:r>
                                <a:rPr lang="en-US" sz="16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s</m:t>
                              </m:r>
                            </m:e>
                            <m:sub>
                              <m:r>
                                <a:rPr lang="en-US" sz="16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n</m:t>
                              </m:r>
                            </m:sub>
                          </m:sSub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)</m:t>
                          </m:r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)</m:t>
                          </m:r>
                        </m:den>
                      </m:f>
                    </m:oMath>
                  </m:oMathPara>
                </a14:m>
              </mc:Choice>
              <mc:Fallback>
                <a:r>
                  <a:rPr lang="en-US" sz="16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s_{n+1}=s_n-\frac{f'(s_n)}{\operatorname{safe}(f''(s_n))}</a:t>
                </a:r>
              </mc:Fallback>
            </mc:AlternateContent>
          </a:p>
        </p:txBody>
      </p:sp>
      <p:sp>
        <p:nvSpPr>
          <p:cNvPr id="8" name="Text 6"/>
          <p:cNvSpPr/>
          <p:nvPr/>
        </p:nvSpPr>
        <p:spPr>
          <a:xfrm>
            <a:off x="566928" y="1810512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safe⁡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(v)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{</m:t>
                      </m:r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</m:mPr>
                        <m:mr>
                          <m:e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v,</m:t>
                            </m:r>
                          </m:e>
                          <m:e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|v|&gt;</m:t>
                            </m:r>
                            <m:sSub>
                              <m:sSubPr>
                                <m:ctrlPr/>
                              </m:sSubPr>
                              <m:e>
                                <m:r>
                                  <a:rPr lang="en-US" sz="1400" dirty="0">
                                    <a:solidFill>
                                      <a:srgbClr val="16202B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US" sz="1400" dirty="0">
                                    <a:solidFill>
                                      <a:srgbClr val="16202B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 xml:space="preserve">c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p>
                              <m:sSupPr>
                                <m:ctrlPr/>
                              </m:sSupPr>
                              <m:e>
                                <m:r>
                                  <a:rPr lang="en-US" sz="1400" dirty="0">
                                    <a:solidFill>
                                      <a:srgbClr val="16202B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 xml:space="preserve">sign</m:t>
                                </m:r>
                              </m:e>
                              <m:sup>
                                <m:r>
                                  <a:rPr lang="en-US" sz="1400" dirty="0">
                                    <a:solidFill>
                                      <a:srgbClr val="16202B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 xml:space="preserve">+</m:t>
                                </m:r>
                              </m:sup>
                            </m:sSup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⁡</m:t>
                            </m:r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(v)</m:t>
                            </m:r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 </m:t>
                            </m:r>
                            <m:sSub>
                              <m:sSubPr>
                                <m:ctrlPr/>
                              </m:sSubPr>
                              <m:e>
                                <m:r>
                                  <a:rPr lang="en-US" sz="1400" dirty="0">
                                    <a:solidFill>
                                      <a:srgbClr val="16202B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US" sz="1400" dirty="0">
                                    <a:solidFill>
                                      <a:srgbClr val="16202B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 xml:space="preserve">c</m:t>
                                </m:r>
                              </m:sub>
                            </m:sSub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,</m:t>
                            </m:r>
                          </m:e>
                          <m:e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rPr>
                                <m:nor/>
                              </m:rPr>
                              <m:t xml:space="preserve">otherwise</m:t>
                            </m:r>
                          </m:e>
                        </m:mr>
                      </m:m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/>
                      </m:r>
                    </m:oMath>
                  </m:oMathPara>
                </a14:m>
              </mc:Choice>
              <mc:Fallback>
                <a:r>
                  <a:rPr lang="en-US" sz="14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\operatorname{safe}(v)=\begin{cases}v,&amp;|v|&gt;\varepsilon_c\\ \operatorname{sign}^{+}(v)\,\varepsilon_c,&amp;\text{otherwise}\end{cases}</a:t>
                </a:r>
              </mc:Fallback>
            </mc:AlternateContent>
          </a:p>
        </p:txBody>
      </p:sp>
      <p:sp>
        <p:nvSpPr>
          <p:cNvPr id="9" name="Text 7"/>
          <p:cNvSpPr/>
          <p:nvPr/>
        </p:nvSpPr>
        <p:spPr>
          <a:xfrm>
            <a:off x="566928" y="24871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sign⁺(v) 在 v ≥ 0 时取 +1，否则取 −1（保号，不改变步长方向）；ε_c = 10⁻⁹，默认迭代 8 次。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8895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初值：当前实现取 xy 平面内的投影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3182112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sSub>
                        <m:sSubPr>
                          <m:ctrlPr/>
                        </m:sSub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s</m:t>
                          </m:r>
                        </m:e>
                        <m:sub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0</m:t>
                          </m:r>
                        </m:sub>
                      </m:sSub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p</m:t>
                          </m:r>
                        </m:e>
                        <m:sub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x</m:t>
                          </m:r>
                        </m:sub>
                      </m:sSub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−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0</m:t>
                          </m:r>
                        </m:sub>
                      </m:sSub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)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cos⁡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ψ</m:t>
                          </m:r>
                        </m:e>
                        <m:sub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0</m:t>
                          </m:r>
                        </m:sub>
                      </m:sSub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+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p</m:t>
                          </m:r>
                        </m:e>
                        <m:sub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y</m:t>
                          </m:r>
                        </m:sub>
                      </m:sSub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−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0</m:t>
                          </m:r>
                        </m:sub>
                      </m:sSub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)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sin⁡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ψ</m:t>
                          </m:r>
                        </m:e>
                        <m:sub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0</m:t>
                          </m:r>
                        </m:sub>
                      </m:sSub>
                    </m:oMath>
                  </m:oMathPara>
                </a14:m>
              </mc:Choice>
              <mc:Fallback>
                <a:r>
                  <a:rPr lang="en-US" sz="16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s_0=(p_x-x_0)\cos\psi_0+(p_y-y_0)\sin\psi_0</a:t>
                </a:r>
              </mc:Fallback>
            </mc:AlternateContent>
          </a:p>
        </p:txBody>
      </p:sp>
      <p:sp>
        <p:nvSpPr>
          <p:cNvPr id="12" name="Text 10"/>
          <p:cNvSpPr/>
          <p:nvPr/>
        </p:nvSpPr>
        <p:spPr>
          <a:xfrm>
            <a:off x="566928" y="375818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有效性规则（每步候选须同时满足）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4050792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finite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s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n+1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)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rPr>
                          <m:nor/>
                        </m:rPr>
                        <m:t xml:space="preserve"/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∧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rPr>
                          <m:nor/>
                        </m:rPr>
                        <m:t xml:space="preserve"/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|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s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n+1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|≤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S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max⁡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=1200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rPr>
                          <m:nor/>
                        </m:rPr>
                        <m:t xml:space="preserve"/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mm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\mathrm{finite}(s_{n+1})\ \wedge\ |s_{n+1}|\le S_{\max}=1200\ \mathrm{mm}</a:t>
                </a:r>
              </mc:Fallback>
            </mc:AlternateContent>
          </a:p>
        </p:txBody>
      </p:sp>
      <p:sp>
        <p:nvSpPr>
          <p:cNvPr id="14" name="Text 12"/>
          <p:cNvSpPr/>
          <p:nvPr/>
        </p:nvSpPr>
        <p:spPr>
          <a:xfrm>
            <a:off x="566928" y="455371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不满足则该路径判无效并保留上一值；已失效的路径不因后续迭代重新有效——有效性是单调递减的 AND 累积。迭代结束后还要求 h(η,s*) 有限；无效行的输出位置用参考点 r₀ 填充，因此返回值必须配合有效性掩码使用。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35240" y="923544"/>
            <a:ext cx="3995928" cy="2395728"/>
          </a:xfrm>
          <a:prstGeom prst="rect">
            <a:avLst/>
          </a:prstGeom>
          <a:solidFill>
            <a:srgbClr val="FCF1EC"/>
          </a:solidFill>
          <a:ln w="12700">
            <a:solidFill>
              <a:srgbClr val="FCF1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5240" y="923544"/>
            <a:ext cx="41148" cy="2395728"/>
          </a:xfrm>
          <a:prstGeom prst="rect">
            <a:avLst/>
          </a:prstGeom>
          <a:solidFill>
            <a:srgbClr val="B5411F"/>
          </a:solidFill>
          <a:ln w="12700">
            <a:solidFill>
              <a:srgbClr val="B541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81544" y="987552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4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冲突：s₀ 与 s₀³ᴰ 并列，未说明取舍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81544" y="1225296"/>
            <a:ext cx="37216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helix 近似成过 r₀、方向 t(0) 的直线，最小二乘投影为下式。分母 1 + τ² 正是 ‖t(0)‖²，即 t 非单位化的直接后果。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该式数学上成立，但主线未采用，不得当作既有改进引用。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7635240" y="3456432"/>
            <a:ext cx="3995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对照，未采用：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635240" y="3675888"/>
            <a:ext cx="3995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>
                      <m:sSubSup>
                        <m:sSubSupPr>
                          <m:ctrlPr/>
                        </m:sSubSupPr>
                        <m:e>
                          <m:r>
                            <a:rPr lang="en-US" sz="1200" dirty="0">
                              <a:solidFill>
                                <a:srgbClr val="5D6E7E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s</m:t>
                          </m:r>
                        </m:e>
                        <m:sub>
                          <m:r>
                            <a:rPr lang="en-US" sz="1200" dirty="0">
                              <a:solidFill>
                                <a:srgbClr val="5D6E7E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0</m:t>
                          </m:r>
                        </m:sub>
                        <m:sup>
                          <m:r>
                            <a:rPr lang="en-US" sz="1200" dirty="0">
                              <a:solidFill>
                                <a:srgbClr val="5D6E7E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3</m:t>
                          </m:r>
                          <m:r>
                            <a:rPr lang="en-US" sz="1200" dirty="0">
                              <a:solidFill>
                                <a:srgbClr val="5D6E7E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w:rPr/>
                            <m:rPr>
                              <m:nor/>
                              <m:sty m:val="undefined"/>
                            </m:rPr>
                            <m:t xml:space="preserve">D</m:t>
                          </m:r>
                          <m:r>
                            <a:rPr lang="en-US" sz="1200" dirty="0">
                              <a:solidFill>
                                <a:srgbClr val="5D6E7E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 </m:t>
                          </m:r>
                        </m:sup>
                      </m:sSubSup>
                      <m:r>
                        <a:rPr lang="en-US" sz="1200" dirty="0">
                          <a:solidFill>
                            <a:srgbClr val="5D6E7E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200" dirty="0">
                              <a:solidFill>
                                <a:srgbClr val="5D6E7E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(𝐩−</m:t>
                          </m:r>
                          <m:sSub>
                            <m:sSubPr>
                              <m:ctrlPr/>
                            </m:sSubPr>
                            <m:e>
                              <m:r>
                                <a:rPr lang="en-US" sz="1200" dirty="0">
                                  <a:solidFill>
                                    <a:srgbClr val="5D6E7E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𝐫</m:t>
                              </m:r>
                            </m:e>
                            <m:sub>
                              <m:r>
                                <a:rPr lang="en-US" sz="1200" dirty="0">
                                  <a:solidFill>
                                    <a:srgbClr val="5D6E7E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0</m:t>
                              </m:r>
                            </m:sub>
                          </m:sSub>
                          <m:r>
                            <a:rPr lang="en-US" sz="1200" dirty="0">
                              <a:solidFill>
                                <a:srgbClr val="5D6E7E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)</m:t>
                          </m:r>
                          <m:r>
                            <a:rPr lang="en-US" sz="1200" dirty="0">
                              <a:solidFill>
                                <a:srgbClr val="5D6E7E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⋅𝐭</m:t>
                          </m:r>
                          <m:r>
                            <a:rPr lang="en-US" sz="1200" dirty="0">
                              <a:solidFill>
                                <a:srgbClr val="5D6E7E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(0)</m:t>
                          </m:r>
                        </m:num>
                        <m:den>
                          <m:sSup>
                            <m:sSupPr>
                              <m:ctrlPr/>
                            </m:sSupPr>
                            <m:e>
                              <m:r>
                                <a:rPr lang="en-US" sz="1200" dirty="0">
                                  <a:solidFill>
                                    <a:srgbClr val="5D6E7E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‖𝐭</m:t>
                              </m:r>
                              <m:r>
                                <a:rPr lang="en-US" sz="1200" dirty="0">
                                  <a:solidFill>
                                    <a:srgbClr val="5D6E7E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(0)</m:t>
                              </m:r>
                              <m:r>
                                <a:rPr lang="en-US" sz="1200" dirty="0">
                                  <a:solidFill>
                                    <a:srgbClr val="5D6E7E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‖</m:t>
                              </m:r>
                            </m:e>
                            <m:sup>
                              <m:r>
                                <a:rPr lang="en-US" sz="1200" dirty="0">
                                  <a:solidFill>
                                    <a:srgbClr val="5D6E7E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2</m:t>
                              </m:r>
                            </m:sup>
                          </m:sSup>
                        </m:den>
                      </m:f>
                      <m:r>
                        <a:rPr lang="en-US" sz="1200" dirty="0">
                          <a:solidFill>
                            <a:srgbClr val="5D6E7E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200" dirty="0">
                              <a:solidFill>
                                <a:srgbClr val="5D6E7E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(</m:t>
                          </m:r>
                          <m:sSub>
                            <m:sSubPr>
                              <m:ctrlPr/>
                            </m:sSubPr>
                            <m:e>
                              <m:r>
                                <a:rPr lang="en-US" sz="1200" dirty="0">
                                  <a:solidFill>
                                    <a:srgbClr val="5D6E7E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p</m:t>
                              </m:r>
                            </m:e>
                            <m:sub>
                              <m:r>
                                <a:rPr lang="en-US" sz="1200" dirty="0">
                                  <a:solidFill>
                                    <a:srgbClr val="5D6E7E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x</m:t>
                              </m:r>
                            </m:sub>
                          </m:sSub>
                          <m:r>
                            <a:rPr lang="en-US" sz="1200" dirty="0">
                              <a:solidFill>
                                <a:srgbClr val="5D6E7E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−</m:t>
                          </m:r>
                          <m:sSub>
                            <m:sSubPr>
                              <m:ctrlPr/>
                            </m:sSubPr>
                            <m:e>
                              <m:r>
                                <a:rPr lang="en-US" sz="1200" dirty="0">
                                  <a:solidFill>
                                    <a:srgbClr val="5D6E7E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sz="1200" dirty="0">
                                  <a:solidFill>
                                    <a:srgbClr val="5D6E7E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0</m:t>
                              </m:r>
                            </m:sub>
                          </m:sSub>
                          <m:r>
                            <a:rPr lang="en-US" sz="1200" dirty="0">
                              <a:solidFill>
                                <a:srgbClr val="5D6E7E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)</m:t>
                          </m:r>
                          <m:r>
                            <a:rPr lang="en-US" sz="1200" dirty="0">
                              <a:solidFill>
                                <a:srgbClr val="5D6E7E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cos⁡</m:t>
                          </m:r>
                          <m:r>
                            <a:rPr lang="en-US" sz="1200" dirty="0">
                              <a:solidFill>
                                <a:srgbClr val="5D6E7E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 </m:t>
                          </m:r>
                          <m:sSub>
                            <m:sSubPr>
                              <m:ctrlPr/>
                            </m:sSubPr>
                            <m:e>
                              <m:r>
                                <a:rPr lang="en-US" sz="1200" dirty="0">
                                  <a:solidFill>
                                    <a:srgbClr val="5D6E7E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ψ</m:t>
                              </m:r>
                            </m:e>
                            <m:sub>
                              <m:r>
                                <a:rPr lang="en-US" sz="1200" dirty="0">
                                  <a:solidFill>
                                    <a:srgbClr val="5D6E7E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0</m:t>
                              </m:r>
                            </m:sub>
                          </m:sSub>
                          <m:r>
                            <a:rPr lang="en-US" sz="1200" dirty="0">
                              <a:solidFill>
                                <a:srgbClr val="5D6E7E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+</m:t>
                          </m:r>
                          <m:r>
                            <a:rPr lang="en-US" sz="1200" dirty="0">
                              <a:solidFill>
                                <a:srgbClr val="5D6E7E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(</m:t>
                          </m:r>
                          <m:sSub>
                            <m:sSubPr>
                              <m:ctrlPr/>
                            </m:sSubPr>
                            <m:e>
                              <m:r>
                                <a:rPr lang="en-US" sz="1200" dirty="0">
                                  <a:solidFill>
                                    <a:srgbClr val="5D6E7E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p</m:t>
                              </m:r>
                            </m:e>
                            <m:sub>
                              <m:r>
                                <a:rPr lang="en-US" sz="1200" dirty="0">
                                  <a:solidFill>
                                    <a:srgbClr val="5D6E7E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y</m:t>
                              </m:r>
                            </m:sub>
                          </m:sSub>
                          <m:r>
                            <a:rPr lang="en-US" sz="1200" dirty="0">
                              <a:solidFill>
                                <a:srgbClr val="5D6E7E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−</m:t>
                          </m:r>
                          <m:sSub>
                            <m:sSubPr>
                              <m:ctrlPr/>
                            </m:sSubPr>
                            <m:e>
                              <m:r>
                                <a:rPr lang="en-US" sz="1200" dirty="0">
                                  <a:solidFill>
                                    <a:srgbClr val="5D6E7E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y</m:t>
                              </m:r>
                            </m:e>
                            <m:sub>
                              <m:r>
                                <a:rPr lang="en-US" sz="1200" dirty="0">
                                  <a:solidFill>
                                    <a:srgbClr val="5D6E7E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0</m:t>
                              </m:r>
                            </m:sub>
                          </m:sSub>
                          <m:r>
                            <a:rPr lang="en-US" sz="1200" dirty="0">
                              <a:solidFill>
                                <a:srgbClr val="5D6E7E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)</m:t>
                          </m:r>
                          <m:r>
                            <a:rPr lang="en-US" sz="1200" dirty="0">
                              <a:solidFill>
                                <a:srgbClr val="5D6E7E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sin⁡</m:t>
                          </m:r>
                          <m:r>
                            <a:rPr lang="en-US" sz="1200" dirty="0">
                              <a:solidFill>
                                <a:srgbClr val="5D6E7E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 </m:t>
                          </m:r>
                          <m:sSub>
                            <m:sSubPr>
                              <m:ctrlPr/>
                            </m:sSubPr>
                            <m:e>
                              <m:r>
                                <a:rPr lang="en-US" sz="1200" dirty="0">
                                  <a:solidFill>
                                    <a:srgbClr val="5D6E7E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ψ</m:t>
                              </m:r>
                            </m:e>
                            <m:sub>
                              <m:r>
                                <a:rPr lang="en-US" sz="1200" dirty="0">
                                  <a:solidFill>
                                    <a:srgbClr val="5D6E7E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0</m:t>
                              </m:r>
                            </m:sub>
                          </m:sSub>
                          <m:r>
                            <a:rPr lang="en-US" sz="1200" dirty="0">
                              <a:solidFill>
                                <a:srgbClr val="5D6E7E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+</m:t>
                          </m:r>
                          <m:r>
                            <a:rPr lang="en-US" sz="1200" dirty="0">
                              <a:solidFill>
                                <a:srgbClr val="5D6E7E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(</m:t>
                          </m:r>
                          <m:sSub>
                            <m:sSubPr>
                              <m:ctrlPr/>
                            </m:sSubPr>
                            <m:e>
                              <m:r>
                                <a:rPr lang="en-US" sz="1200" dirty="0">
                                  <a:solidFill>
                                    <a:srgbClr val="5D6E7E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p</m:t>
                              </m:r>
                            </m:e>
                            <m:sub>
                              <m:r>
                                <a:rPr lang="en-US" sz="1200" dirty="0">
                                  <a:solidFill>
                                    <a:srgbClr val="5D6E7E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z</m:t>
                              </m:r>
                            </m:sub>
                          </m:sSub>
                          <m:r>
                            <a:rPr lang="en-US" sz="1200" dirty="0">
                              <a:solidFill>
                                <a:srgbClr val="5D6E7E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−</m:t>
                          </m:r>
                          <m:sSub>
                            <m:sSubPr>
                              <m:ctrlPr/>
                            </m:sSubPr>
                            <m:e>
                              <m:r>
                                <a:rPr lang="en-US" sz="1200" dirty="0">
                                  <a:solidFill>
                                    <a:srgbClr val="5D6E7E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z</m:t>
                              </m:r>
                            </m:e>
                            <m:sub>
                              <m:r>
                                <a:rPr lang="en-US" sz="1200" dirty="0">
                                  <a:solidFill>
                                    <a:srgbClr val="5D6E7E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0</m:t>
                              </m:r>
                            </m:sub>
                          </m:sSub>
                          <m:r>
                            <a:rPr lang="en-US" sz="1200" dirty="0">
                              <a:solidFill>
                                <a:srgbClr val="5D6E7E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)</m:t>
                          </m:r>
                          <m:r>
                            <a:rPr lang="en-US" sz="1200" dirty="0">
                              <a:solidFill>
                                <a:srgbClr val="5D6E7E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τ</m:t>
                          </m:r>
                        </m:num>
                        <m:den>
                          <m:r>
                            <a:rPr lang="en-US" sz="1200" dirty="0">
                              <a:solidFill>
                                <a:srgbClr val="5D6E7E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1+</m:t>
                          </m:r>
                          <m:sSup>
                            <m:sSupPr>
                              <m:ctrlPr/>
                            </m:sSupPr>
                            <m:e>
                              <m:r>
                                <a:rPr lang="en-US" sz="1200" dirty="0">
                                  <a:solidFill>
                                    <a:srgbClr val="5D6E7E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τ</m:t>
                              </m:r>
                            </m:e>
                            <m:sup>
                              <m:r>
                                <a:rPr lang="en-US" sz="1200" dirty="0">
                                  <a:solidFill>
                                    <a:srgbClr val="5D6E7E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mc:Choice>
              <mc:Fallback>
                <a:r>
                  <a:rPr lang="en-US" sz="1200" dirty="0">
                    <a:solidFill>
                      <a:srgbClr val="5D6E7E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s_0^{\rm 3D}=\frac{(\mathbf p-\mathbf r_0)\cdot\mathbf t(0)}{\lVert\mathbf t(0)\rVert^2}=\frac{(p_x-x_0)\cos\psi_0+(p_y-y_0)\sin\psi_0+(p_z-z_0)\tau}{1+\tau^2}</a:t>
                </a:r>
              </mc:Fallback>
            </mc:AlternateContent>
          </a:p>
        </p:txBody>
      </p:sp>
      <p:sp>
        <p:nvSpPr>
          <p:cNvPr id="21" name="Shape 19"/>
          <p:cNvSpPr/>
          <p:nvPr/>
        </p:nvSpPr>
        <p:spPr>
          <a:xfrm>
            <a:off x="7635240" y="4672584"/>
            <a:ext cx="3995928" cy="1755648"/>
          </a:xfrm>
          <a:prstGeom prst="rect">
            <a:avLst/>
          </a:prstGeom>
          <a:solidFill>
            <a:srgbClr val="FCF1EC"/>
          </a:solidFill>
          <a:ln w="12700">
            <a:solidFill>
              <a:srgbClr val="FCF1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35240" y="4672584"/>
            <a:ext cx="41148" cy="1755648"/>
          </a:xfrm>
          <a:prstGeom prst="rect">
            <a:avLst/>
          </a:prstGeom>
          <a:solidFill>
            <a:srgbClr val="B5411F"/>
          </a:solidFill>
          <a:ln w="12700">
            <a:solidFill>
              <a:srgbClr val="B541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81544" y="4736592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4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不完整 ③：原图缺三项数值保护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81544" y="4974336"/>
            <a:ext cx="3721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原图写作裸的 s_{n+1} = s_n − f′/f″。实际实现有 f″ 符号保护、越界判无效、失效不复活三重保护，缺一不可复现。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8872" cy="93268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Gauge 固定：6 个物理参数 → 5 个优化变量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418320" y="4023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推导 3.3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92354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为什么必须消去一个自由度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1207008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六参数 η 对同一条几何曲线是冗余的：沿曲线平移参考点（r₀ → h(η,δ) 并同步 ψ₀ → ψ₀ + ρδ）给出完全相同的点集。该零模使 H = JᵀJ 奇异。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90195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把参考点约束在过 r₀、以初始切向为法向的平面内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2212848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𝐞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0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𝐮×</m:t>
                          </m:r>
                          <m:limUpp>
                            <m:e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𝐭</m:t>
                              </m:r>
                            </m:e>
                            <m:lim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ˆ</m:t>
                              </m:r>
                            </m:lim>
                          </m:limUpp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(0)</m:t>
                          </m:r>
                        </m:num>
                        <m:den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‖𝐮×</m:t>
                          </m:r>
                          <m:limUpp>
                            <m:e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𝐭</m:t>
                              </m:r>
                            </m:e>
                            <m:lim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ˆ</m:t>
                              </m:r>
                            </m:lim>
                          </m:limUpp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(0)</m:t>
                          </m:r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‖</m:t>
                          </m:r>
                        </m:den>
                      </m:f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,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𝐞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1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limUpp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𝐭</m:t>
                          </m:r>
                        </m:e>
                        <m:lim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ˆ</m:t>
                          </m:r>
                        </m:lim>
                      </m:limUpp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(0)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×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𝐞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0</m:t>
                          </m:r>
                        </m:sub>
                      </m:sSub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\mathbf e_0=\frac{\mathbf u\times\widehat{\mathbf t}(0)}{\lVert\mathbf u\times\widehat{\mathbf t}(0)\rVert},\qquad \mathbf e_1=\widehat{\mathbf t}(0)\times\mathbf e_0</a:t>
                </a:r>
              </mc:Fallback>
            </mc:AlternateContent>
          </a:p>
        </p:txBody>
      </p:sp>
      <p:sp>
        <p:nvSpPr>
          <p:cNvPr id="10" name="Text 8"/>
          <p:cNvSpPr/>
          <p:nvPr/>
        </p:nvSpPr>
        <p:spPr>
          <a:xfrm>
            <a:off x="566928" y="2798064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辅助向量 u 取 ẑ；当 t̂(0) 几乎平行于 ẑ 时改取 x̂ 以避免退化。参考系 (o, e₀, e₁) 每轮线性化时由当前参数重建，并在该轮内固定。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340156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优化变量与还原映射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3694176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𝜽=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a</m:t>
                          </m:r>
                        </m:e>
                        <m:sub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0</m:t>
                          </m:r>
                        </m:sub>
                      </m:sSub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,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rPr>
                          <m:nor/>
                        </m:rPr>
                        <m:t xml:space="preserve"/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a</m:t>
                          </m:r>
                        </m:e>
                        <m:sub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1</m:t>
                          </m:r>
                        </m:sub>
                      </m:sSub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,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rPr>
                          <m:nor/>
                        </m:rPr>
                        <m:t xml:space="preserve"/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ψ</m:t>
                          </m:r>
                        </m:e>
                        <m:sub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0</m:t>
                          </m:r>
                        </m:sub>
                      </m:sSub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,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rPr>
                          <m:nor/>
                        </m:rPr>
                        <m:t xml:space="preserve"/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τ,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rPr>
                          <m:nor/>
                        </m:rPr>
                        <m:t xml:space="preserve"/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ρ</m:t>
                          </m:r>
                        </m:e>
                        <m:sub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s</m:t>
                          </m:r>
                        </m:sub>
                      </m:sSub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)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∈</m:t>
                      </m:r>
                      <m:sSup>
                        <m:sSupPr>
                          <m:ctrlPr/>
                        </m:sSup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ℝ</m:t>
                          </m:r>
                        </m:e>
                        <m:sup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5</m:t>
                          </m:r>
                        </m:sup>
                      </m:sSup>
                    </m:oMath>
                  </m:oMathPara>
                </a14:m>
              </mc:Choice>
              <mc:Fallback>
                <a:r>
                  <a:rPr lang="en-US" sz="16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\boldsymbol\theta=(a_0,\ a_1,\ \psi_0,\ \tau,\ \rho_s)\in\mathbb R^5</a:t>
                </a:r>
              </mc:Fallback>
            </mc:AlternateContent>
          </a:p>
        </p:txBody>
      </p:sp>
      <p:sp>
        <p:nvSpPr>
          <p:cNvPr id="13" name="Text 11"/>
          <p:cNvSpPr/>
          <p:nvPr/>
        </p:nvSpPr>
        <p:spPr>
          <a:xfrm>
            <a:off x="566928" y="4224528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𝐫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0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(𝜽)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=𝐨+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a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0</m:t>
                          </m:r>
                        </m:sub>
                      </m:sSub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𝐞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0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+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a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1</m:t>
                          </m:r>
                        </m:sub>
                      </m:sSub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𝐞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1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,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ρ=κ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ρ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s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,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κ=</m:t>
                      </m:r>
                      <m:sSup>
                        <m:sSupPr>
                          <m:ctrlPr/>
                        </m:sSup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10</m:t>
                          </m:r>
                        </m:e>
                        <m:sup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−4</m:t>
                          </m:r>
                        </m:sup>
                      </m:sSup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\mathbf r_0(\boldsymbol\theta)=\mathbf o+a_0\mathbf e_0+a_1\mathbf e_1,\qquad \rho=\kappa\,\rho_s,\quad \kappa=10^{-4}</a:t>
                </a:r>
              </mc:Fallback>
            </mc:AlternateContent>
          </a:p>
        </p:txBody>
      </p:sp>
      <p:sp>
        <p:nvSpPr>
          <p:cNvPr id="14" name="Text 12"/>
          <p:cNvSpPr/>
          <p:nvPr/>
        </p:nvSpPr>
        <p:spPr>
          <a:xfrm>
            <a:off x="566928" y="4791456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打包时 a₀ = a₁ = 0（参考点即当前原点）。曲率缩放 κ 使 ρ_s 与其余分量量级相当，改善 H 的条件数。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52360" y="923544"/>
            <a:ext cx="4178808" cy="2377440"/>
          </a:xfrm>
          <a:prstGeom prst="rect">
            <a:avLst/>
          </a:prstGeom>
          <a:solidFill>
            <a:srgbClr val="FCF1EC"/>
          </a:solidFill>
          <a:ln w="12700">
            <a:solidFill>
              <a:srgbClr val="FCF1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52360" y="923544"/>
            <a:ext cx="41148" cy="2377440"/>
          </a:xfrm>
          <a:prstGeom prst="rect">
            <a:avLst/>
          </a:prstGeom>
          <a:solidFill>
            <a:srgbClr val="B5411F"/>
          </a:solidFill>
          <a:ln w="12700">
            <a:solidFill>
              <a:srgbClr val="B541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98664" y="987552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4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实质错误 ③：原图维度自相矛盾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598664" y="1225296"/>
            <a:ext cx="390448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原图写 J_t ∈ ℝ^{3H×5}，却在螺旋参数处列了 6 个分量。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个是物理参数 η，5 个是 gauge 固定后的优化变量 θ。二者不可混用。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7452360" y="3419856"/>
            <a:ext cx="4178808" cy="1572768"/>
          </a:xfrm>
          <a:prstGeom prst="rect">
            <a:avLst/>
          </a:prstGeom>
          <a:solidFill>
            <a:srgbClr val="EFF4F8"/>
          </a:solidFill>
          <a:ln w="12700">
            <a:solidFill>
              <a:srgbClr val="EFF4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52360" y="3419856"/>
            <a:ext cx="41148" cy="15727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98664" y="3483864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维只出现在接口上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598664" y="3721608"/>
            <a:ext cx="3904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solver 的输入／输出显式校验第二维为 6；内部线性化与线性求解一律在 5 维 θ 上进行。这就是两者并存而不矛盾的原因。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7452360" y="5102352"/>
            <a:ext cx="4178808" cy="1325880"/>
          </a:xfrm>
          <a:prstGeom prst="rect">
            <a:avLst/>
          </a:prstGeom>
          <a:solidFill>
            <a:srgbClr val="EFF4F8"/>
          </a:solidFill>
          <a:ln w="12700">
            <a:solidFill>
              <a:srgbClr val="EFF4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52360" y="5102352"/>
            <a:ext cx="41148" cy="1325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98664" y="5166360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实现对应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598664" y="5404104"/>
            <a:ext cx="390448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reference_gauge_frame、pack_gauge_fixed_track_parameters、unpack_gauge_fixed_track_parameters</a:t>
            </a:r>
            <a:endParaRPr lang="en-US" sz="9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8872" cy="93268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 残差与两种 Jacobian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418320" y="4023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推导 3.4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92354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残差与目标（w_ti = 拟合 mask ∩ 最近点有效性）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1216152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𝐫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ti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𝜽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)=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ti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[𝐡(𝜼(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𝜽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),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sSubSup>
                        <m:sSubSupPr>
                          <m:ctrlPr/>
                        </m:sSubSup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s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ti</m:t>
                          </m:r>
                        </m:sub>
                        <m:sup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∗</m:t>
                          </m:r>
                        </m:sup>
                      </m:sSubSup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)−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𝐩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ti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]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\mathbf r_{ti}(\boldsymbol\theta_t)=w_{ti}\big[\mathbf h(\boldsymbol\eta(\boldsymbol\theta_t),\,s^{\ast}_{ti})-\mathbf p_{ti}\big]</a:t>
                </a:r>
              </mc:Fallback>
            </mc:AlternateContent>
          </a:p>
        </p:txBody>
      </p:sp>
      <p:sp>
        <p:nvSpPr>
          <p:cNvPr id="8" name="Text 6"/>
          <p:cNvSpPr/>
          <p:nvPr/>
        </p:nvSpPr>
        <p:spPr>
          <a:xfrm>
            <a:off x="566928" y="1728216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r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=vec⁡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𝐫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t1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,…,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𝐫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  <m:sSub>
                            <m:sSubPr>
                              <m:ctrlPr/>
                            </m:sSubPr>
                            <m:e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N</m:t>
                              </m:r>
                            </m:e>
                            <m:sub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h</m:t>
                              </m:r>
                            </m:sub>
                          </m:sSub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)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∈</m:t>
                      </m:r>
                      <m:sSup>
                        <m:sSupPr>
                          <m:ctrlPr/>
                        </m:sSup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ℝ</m:t>
                          </m:r>
                        </m:e>
                        <m:sup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3</m:t>
                          </m:r>
                          <m:sSub>
                            <m:sSubPr>
                              <m:ctrlPr/>
                            </m:sSubPr>
                            <m:e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N</m:t>
                              </m:r>
                            </m:e>
                            <m:sub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h</m:t>
                              </m:r>
                            </m:sub>
                          </m:sSub>
                        </m:sup>
                      </m:sSup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,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F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f>
                        <m:fPr>
                          <m:type m:val="bar"/>
                        </m:fPr>
                        <m:num>
                          <m:argPr>
                            <m:scrLvl m:val="0"/>
                          </m:argPr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1</m:t>
                          </m:r>
                        </m:num>
                        <m:den>
                          <m:argPr>
                            <m:scrLvl m:val="0"/>
                          </m:argPr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2</m:t>
                          </m:r>
                        </m:den>
                      </m:f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sSubSup>
                        <m:sSubSupPr>
                          <m:ctrlPr/>
                        </m:sSubSup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r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  <m:sup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𝖳</m:t>
                          </m:r>
                        </m:sup>
                      </m:sSubSup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r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</m:sSub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r_t=\operatorname{vec}(\mathbf r_{t1},\dots,\mathbf r_{tN_h})\in\mathbb R^{3N_h},\qquad F_t=\tfrac12\,r_t^{\mathsf T}r_t</a:t>
                </a:r>
              </mc:Fallback>
            </mc:AlternateContent>
          </a:p>
        </p:txBody>
      </p:sp>
      <p:sp>
        <p:nvSpPr>
          <p:cNvPr id="9" name="Text 7"/>
          <p:cNvSpPr/>
          <p:nvPr/>
        </p:nvSpPr>
        <p:spPr>
          <a:xfrm>
            <a:off x="566928" y="223113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无效分量整体置零，故不进入目标也不进入梯度。约定为「预测减测量」——refit 阶段相反。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61518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代码实际构造的 Jacobian：冻结路径的偏导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2926080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sSubSup>
                        <m:sSubSupPr>
                          <m:ctrlPr/>
                        </m:sSubSup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J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ti</m:t>
                          </m:r>
                        </m:sub>
                        <m:sup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code</m:t>
                          </m:r>
                        </m:sup>
                      </m:sSubSup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ti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∂𝐡</m:t>
                          </m:r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(𝜼</m:t>
                          </m:r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(</m:t>
                          </m:r>
                          <m:sSub>
                            <m:sSubPr>
                              <m:ctrlPr/>
                            </m:sSubPr>
                            <m:e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𝜽</m:t>
                              </m:r>
                            </m:e>
                            <m:sub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t</m:t>
                              </m:r>
                            </m:sub>
                          </m:s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)</m:t>
                          </m:r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,s)</m:t>
                          </m:r>
                        </m:num>
                        <m:den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∂</m:t>
                          </m:r>
                          <m:sSub>
                            <m:sSubPr>
                              <m:ctrlPr/>
                            </m:sSubPr>
                            <m:e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𝜽</m:t>
                              </m:r>
                            </m:e>
                            <m:sub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t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|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s=</m:t>
                          </m:r>
                          <m:sSubSup>
                            <m:sSubSupPr>
                              <m:ctrlPr/>
                            </m:sSubSupPr>
                            <m:e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s</m:t>
                              </m:r>
                            </m:e>
                            <m:sub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ti</m:t>
                              </m:r>
                            </m:sub>
                            <m:sup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∗</m:t>
                              </m:r>
                            </m:sup>
                          </m:sSubSup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∈</m:t>
                      </m:r>
                      <m:sSup>
                        <m:sSupPr>
                          <m:ctrlPr/>
                        </m:sSup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ℝ</m:t>
                          </m:r>
                        </m:e>
                        <m:sup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3×5</m:t>
                          </m:r>
                        </m:sup>
                      </m:sSup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J^{\rm code}_{ti}=w_{ti}\,\frac{\partial\mathbf h(\boldsymbol\eta(\boldsymbol\theta_t),s)}{\partial\boldsymbol\theta_t}\bigg|_{s=s^{\ast}_{ti}}\in\mathbb R^{3\times5}</a:t>
                </a:r>
              </mc:Fallback>
            </mc:AlternateContent>
          </a:p>
        </p:txBody>
      </p:sp>
      <p:sp>
        <p:nvSpPr>
          <p:cNvPr id="12" name="Text 10"/>
          <p:cNvSpPr/>
          <p:nvPr/>
        </p:nvSpPr>
        <p:spPr>
          <a:xfrm>
            <a:off x="566928" y="35844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完整最近点预测的全导数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389534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f>
                        <m:fPr>
                          <m:type m:val="bar"/>
                        </m:fPr>
                        <m:num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d</m:t>
                          </m:r>
                          <m:sSub>
                            <m:sSubPr>
                              <m:ctrlPr/>
                            </m:sSubPr>
                            <m:e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𝐫</m:t>
                              </m:r>
                            </m:e>
                            <m:sub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ti</m:t>
                              </m:r>
                            </m:sub>
                          </m:sSub>
                        </m:num>
                        <m:den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d</m:t>
                          </m:r>
                          <m:sSub>
                            <m:sSubPr>
                              <m:ctrlPr/>
                            </m:sSubPr>
                            <m:e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𝜽</m:t>
                              </m:r>
                            </m:e>
                            <m:sub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t</m:t>
                              </m:r>
                            </m:sub>
                          </m:sSub>
                        </m:den>
                      </m:f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w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ti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∂𝐡</m:t>
                          </m:r>
                        </m:num>
                        <m:den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∂</m:t>
                          </m:r>
                          <m:sSub>
                            <m:sSubPr>
                              <m:ctrlPr/>
                            </m:sSubPr>
                            <m:e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𝜽</m:t>
                              </m:r>
                            </m:e>
                            <m:sub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t</m:t>
                              </m:r>
                            </m:sub>
                          </m:sSub>
                        </m:den>
                      </m:f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+𝐭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d</m:t>
                          </m:r>
                          <m:sSubSup>
                            <m:sSubSupPr>
                              <m:ctrlPr/>
                            </m:sSubSupPr>
                            <m:e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s</m:t>
                              </m:r>
                            </m:e>
                            <m:sub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ti</m:t>
                              </m:r>
                            </m:sub>
                            <m:sup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∗</m:t>
                              </m:r>
                            </m:sup>
                          </m:sSubSup>
                        </m:num>
                        <m:den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d</m:t>
                          </m:r>
                          <m:sSub>
                            <m:sSubPr>
                              <m:ctrlPr/>
                            </m:sSubPr>
                            <m:e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𝜽</m:t>
                              </m:r>
                            </m:e>
                            <m:sub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t</m:t>
                              </m:r>
                            </m:sub>
                          </m:sSub>
                        </m:den>
                      </m:f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)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\frac{d\mathbf r_{ti}}{d\boldsymbol\theta_t}=w_{ti}\left(\frac{\partial\mathbf h}{\partial\boldsymbol\theta_t}+\mathbf t\,\frac{ds^{\ast}_{ti}}{d\boldsymbol\theta_t}\right)</a:t>
                </a:r>
              </mc:Fallback>
            </mc:AlternateContent>
          </a:p>
        </p:txBody>
      </p:sp>
      <p:sp>
        <p:nvSpPr>
          <p:cNvPr id="14" name="Text 12"/>
          <p:cNvSpPr/>
          <p:nvPr/>
        </p:nvSpPr>
        <p:spPr>
          <a:xfrm>
            <a:off x="566928" y="455371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在精确内部最近点处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" y="486460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sSubSup>
                        <m:sSubSupPr>
                          <m:ctrlPr/>
                        </m:sSubSupPr>
                        <m:e>
                          <m:r>
                            <a:rPr lang="en-US" sz="1500" dirty="0">
                              <a:solidFill>
                                <a:srgbClr val="065A8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𝐫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065A8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ti</m:t>
                          </m:r>
                        </m:sub>
                        <m:sup>
                          <m:r>
                            <a:rPr lang="en-US" sz="1500" dirty="0">
                              <a:solidFill>
                                <a:srgbClr val="065A8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𝖳</m:t>
                          </m:r>
                        </m:sup>
                      </m:sSubSup>
                      <m:r>
                        <a:rPr lang="en-US" sz="1500" dirty="0">
                          <a:solidFill>
                            <a:srgbClr val="065A8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𝐭=0</m:t>
                      </m:r>
                      <m:r>
                        <a:rPr lang="en-US" sz="1500" dirty="0">
                          <a:solidFill>
                            <a:srgbClr val="065A8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rPr>
                          <m:nor/>
                        </m:rPr>
                        <m:t xml:space="preserve"/>
                      </m:r>
                      <m:r>
                        <a:rPr lang="en-US" sz="1500" dirty="0">
                          <a:solidFill>
                            <a:srgbClr val="065A8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⟹</m:t>
                      </m:r>
                      <m:r>
                        <a:rPr lang="en-US" sz="1500" dirty="0">
                          <a:solidFill>
                            <a:srgbClr val="065A8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rPr>
                          <m:nor/>
                        </m:rPr>
                        <m:t xml:space="preserve"/>
                      </m:r>
                      <m:sSubSup>
                        <m:sSubSupPr>
                          <m:ctrlPr/>
                        </m:sSubSupPr>
                        <m:e>
                          <m:r>
                            <a:rPr lang="en-US" sz="1500" dirty="0">
                              <a:solidFill>
                                <a:srgbClr val="065A8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𝐫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065A8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ti</m:t>
                          </m:r>
                        </m:sub>
                        <m:sup>
                          <m:r>
                            <a:rPr lang="en-US" sz="1500" dirty="0">
                              <a:solidFill>
                                <a:srgbClr val="065A8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𝖳</m:t>
                          </m:r>
                        </m:sup>
                      </m:sSubSup>
                      <m:r>
                        <a:rPr lang="en-US" sz="1500" dirty="0">
                          <a:solidFill>
                            <a:srgbClr val="065A8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500" dirty="0">
                          <a:solidFill>
                            <a:srgbClr val="065A8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𝐭</m:t>
                      </m:r>
                      <m:r>
                        <a:rPr lang="en-US" sz="1500" dirty="0">
                          <a:solidFill>
                            <a:srgbClr val="065A8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500" dirty="0">
                              <a:solidFill>
                                <a:srgbClr val="065A8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d</m:t>
                          </m:r>
                          <m:sSubSup>
                            <m:sSubSupPr>
                              <m:ctrlPr/>
                            </m:sSubSupPr>
                            <m:e>
                              <m:r>
                                <a:rPr lang="en-US" sz="1500" dirty="0">
                                  <a:solidFill>
                                    <a:srgbClr val="065A82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s</m:t>
                              </m:r>
                            </m:e>
                            <m:sub>
                              <m:r>
                                <a:rPr lang="en-US" sz="1500" dirty="0">
                                  <a:solidFill>
                                    <a:srgbClr val="065A82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ti</m:t>
                              </m:r>
                            </m:sub>
                            <m:sup>
                              <m:r>
                                <a:rPr lang="en-US" sz="1500" dirty="0">
                                  <a:solidFill>
                                    <a:srgbClr val="065A82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∗</m:t>
                              </m:r>
                            </m:sup>
                          </m:sSubSup>
                        </m:num>
                        <m:den>
                          <m:r>
                            <a:rPr lang="en-US" sz="1500" dirty="0">
                              <a:solidFill>
                                <a:srgbClr val="065A8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d</m:t>
                          </m:r>
                          <m:sSub>
                            <m:sSubPr>
                              <m:ctrlPr/>
                            </m:sSubPr>
                            <m:e>
                              <m:r>
                                <a:rPr lang="en-US" sz="1500" dirty="0">
                                  <a:solidFill>
                                    <a:srgbClr val="065A82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𝜽</m:t>
                              </m:r>
                            </m:e>
                            <m:sub>
                              <m:r>
                                <a:rPr lang="en-US" sz="1500" dirty="0">
                                  <a:solidFill>
                                    <a:srgbClr val="065A82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t</m:t>
                              </m:r>
                            </m:sub>
                          </m:sSub>
                        </m:den>
                      </m:f>
                      <m:r>
                        <a:rPr lang="en-US" sz="1500" dirty="0">
                          <a:solidFill>
                            <a:srgbClr val="065A8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=0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065A82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\mathbf r_{ti}^{\mathsf T}\mathbf t=0\ \ \Longrightarrow\ \ \mathbf r_{ti}^{\mathsf T}\,\mathbf t\,\frac{ds^{\ast}_{ti}}{d\boldsymbol\theta_t}=0</a:t>
                </a:r>
              </mc:Fallback>
            </mc:AlternateContent>
          </a:p>
        </p:txBody>
      </p:sp>
      <p:sp>
        <p:nvSpPr>
          <p:cNvPr id="16" name="Text 14"/>
          <p:cNvSpPr/>
          <p:nvPr/>
        </p:nvSpPr>
        <p:spPr>
          <a:xfrm>
            <a:off x="566928" y="541324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路径项对目标的一阶导数 g = Jᵀr 无贡献。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543800" y="923544"/>
            <a:ext cx="4087368" cy="2148840"/>
          </a:xfrm>
          <a:prstGeom prst="rect">
            <a:avLst/>
          </a:prstGeom>
          <a:solidFill>
            <a:srgbClr val="FCF1EC"/>
          </a:solidFill>
          <a:ln w="12700">
            <a:solidFill>
              <a:srgbClr val="FCF1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923544"/>
            <a:ext cx="41148" cy="2148840"/>
          </a:xfrm>
          <a:prstGeom prst="rect">
            <a:avLst/>
          </a:prstGeom>
          <a:solidFill>
            <a:srgbClr val="B5411F"/>
          </a:solidFill>
          <a:ln w="12700">
            <a:solidFill>
              <a:srgbClr val="B541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90104" y="987552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4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不完整 ④：原图未说明 J 的语义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690104" y="1225296"/>
            <a:ext cx="3813048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每次目标评估都重新求 s*，但本轮线性化对路径停止梯度（torch.no_grad 只包最近点求解）。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原图直接写 J = ∂r/∂θ，读者会默认它是全导数。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7543800" y="3182112"/>
            <a:ext cx="4087368" cy="2103120"/>
          </a:xfrm>
          <a:prstGeom prst="rect">
            <a:avLst/>
          </a:prstGeom>
          <a:solidFill>
            <a:srgbClr val="FCF1EC"/>
          </a:solidFill>
          <a:ln w="12700">
            <a:solidFill>
              <a:srgbClr val="FCF1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3800" y="3182112"/>
            <a:ext cx="41148" cy="2103120"/>
          </a:xfrm>
          <a:prstGeom prst="rect">
            <a:avLst/>
          </a:prstGeom>
          <a:solidFill>
            <a:srgbClr val="B5411F"/>
          </a:solidFill>
          <a:ln w="12700">
            <a:solidFill>
              <a:srgbClr val="B541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90104" y="3246120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4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关键：一阶消失 ≠ 二阶相同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690104" y="3483864"/>
            <a:ext cx="381304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 是 J 的二次型，路径项不与 r 缩并时不会消失。两个 Jacobian 的 JᵀJ 不同。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 seed 的驻点指标是「冻结路径目标」的二阶量，不是完整最近点目标的精确二阶量。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7543800" y="5404104"/>
            <a:ext cx="4087368" cy="1024128"/>
          </a:xfrm>
          <a:prstGeom prst="rect">
            <a:avLst/>
          </a:prstGeom>
          <a:solidFill>
            <a:srgbClr val="FCF1EC"/>
          </a:solidFill>
          <a:ln w="12700">
            <a:solidFill>
              <a:srgbClr val="FCF1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43800" y="5404104"/>
            <a:ext cx="41148" cy="1024128"/>
          </a:xfrm>
          <a:prstGeom prst="rect">
            <a:avLst/>
          </a:prstGeom>
          <a:solidFill>
            <a:srgbClr val="B5411F"/>
          </a:solidFill>
          <a:ln w="12700">
            <a:solidFill>
              <a:srgbClr val="B541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0104" y="5468112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4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叠加的近似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690104" y="5705856"/>
            <a:ext cx="3813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s* 本身只是有限次 Newton 的估计，rᵀt = 0 也只近似成立。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8872" cy="93268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Gauss–Newton 正规方程与 LM 阻尼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418320" y="4023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· 推导 3.4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92354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线性化 r(θ+Δ) ≈ r + JΔ，得二次模型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1216152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m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w:rPr/>
                        <m:rPr>
                          <m:nor/>
                          <m:sty m:val="undefined"/>
                        </m:rPr>
                        <m:t xml:space="preserve">Δ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)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f>
                        <m:fPr>
                          <m:type m:val="bar"/>
                        </m:fPr>
                        <m:num>
                          <m:argPr>
                            <m:scrLvl m:val="0"/>
                          </m:argPr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1</m:t>
                          </m:r>
                        </m:num>
                        <m:den>
                          <m:argPr>
                            <m:scrLvl m:val="0"/>
                          </m:argPr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2</m:t>
                          </m:r>
                        </m:den>
                      </m:f>
                      <m:sSup>
                        <m:sSupPr>
                          <m:ctrlPr/>
                        </m:sSup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‖r+J</m:t>
                          </m:r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w:rPr/>
                            <m:rPr>
                              <m:nor/>
                              <m:sty m:val="undefined"/>
                            </m:rPr>
                            <m:t xml:space="preserve">Δ</m:t>
                          </m:r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 </m:t>
                          </m:r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‖</m:t>
                          </m:r>
                        </m:e>
                        <m:sup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2</m:t>
                          </m:r>
                        </m:sup>
                      </m:sSup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=F+</m:t>
                      </m:r>
                      <m:sSup>
                        <m:sSupPr>
                          <m:ctrlPr/>
                        </m:sSup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g</m:t>
                          </m:r>
                        </m:e>
                        <m:sup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𝖳</m:t>
                          </m:r>
                        </m:sup>
                      </m:sSup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w:rPr/>
                        <m:rPr>
                          <m:nor/>
                          <m:sty m:val="undefined"/>
                        </m:rPr>
                        <m:t xml:space="preserve">Δ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+</m:t>
                      </m:r>
                      <m:f>
                        <m:fPr>
                          <m:type m:val="bar"/>
                        </m:fPr>
                        <m:num>
                          <m:argPr>
                            <m:scrLvl m:val="0"/>
                          </m:argPr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1</m:t>
                          </m:r>
                        </m:num>
                        <m:den>
                          <m:argPr>
                            <m:scrLvl m:val="0"/>
                          </m:argPr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2</m:t>
                          </m:r>
                        </m:den>
                      </m:f>
                      <m:sSup>
                        <m:sSupPr>
                          <m:ctrlPr/>
                        </m:sSup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w:rPr/>
                            <m:rPr>
                              <m:nor/>
                              <m:sty m:val="undefined"/>
                            </m:rPr>
                            <m:t xml:space="preserve">Δ</m:t>
                          </m:r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 </m:t>
                          </m:r>
                        </m:e>
                        <m:sup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𝖳</m:t>
                          </m:r>
                        </m:sup>
                      </m:sSup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H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w:rPr/>
                        <m:rPr>
                          <m:nor/>
                          <m:sty m:val="undefined"/>
                        </m:rPr>
                        <m:t xml:space="preserve">Δ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m(\Delta)=\tfrac12\lVert r+J\Delta\rVert^2=F+g^{\mathsf T}\Delta+\tfrac12\Delta^{\mathsf T}H\Delta</a:t>
                </a:r>
              </mc:Fallback>
            </mc:AlternateContent>
          </a:p>
        </p:txBody>
      </p:sp>
      <p:sp>
        <p:nvSpPr>
          <p:cNvPr id="8" name="Text 6"/>
          <p:cNvSpPr/>
          <p:nvPr/>
        </p:nvSpPr>
        <p:spPr>
          <a:xfrm>
            <a:off x="566928" y="174650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g=</m:t>
                      </m:r>
                      <m:sSup>
                        <m:sSupPr>
                          <m:ctrlPr/>
                        </m:sSup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J</m:t>
                          </m:r>
                        </m:e>
                        <m:sup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𝖳</m:t>
                          </m:r>
                        </m:sup>
                      </m:sSup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r,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H=</m:t>
                      </m:r>
                      <m:sSup>
                        <m:sSupPr>
                          <m:ctrlPr/>
                        </m:sSup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J</m:t>
                          </m:r>
                        </m:e>
                        <m:sup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𝖳</m:t>
                          </m:r>
                        </m:sup>
                      </m:sSup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J,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H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w:rPr/>
                        <m:rPr>
                          <m:nor/>
                          <m:sty m:val="undefined"/>
                        </m:rPr>
                        <m:t xml:space="preserve">Δ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=−g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g=J^{\mathsf T}r,\qquad H=J^{\mathsf T}J,\qquad H\Delta=-g</a:t>
                </a:r>
              </mc:Fallback>
            </mc:AlternateContent>
          </a:p>
        </p:txBody>
      </p:sp>
      <p:sp>
        <p:nvSpPr>
          <p:cNvPr id="9" name="Text 7"/>
          <p:cNvSpPr/>
          <p:nvPr/>
        </p:nvSpPr>
        <p:spPr>
          <a:xfrm>
            <a:off x="566928" y="232257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 是 GN 近似，不是精确 Hessian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261518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sSup>
                        <m:sSupPr>
                          <m:ctrlPr/>
                        </m:sSup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∇</m:t>
                          </m:r>
                        </m:e>
                        <m:sup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2</m:t>
                          </m:r>
                        </m:sup>
                      </m:sSup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F=</m:t>
                      </m:r>
                      <m:sSup>
                        <m:sSupPr>
                          <m:ctrlPr/>
                        </m:sSup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J</m:t>
                          </m:r>
                        </m:e>
                        <m:sup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𝖳</m:t>
                          </m:r>
                        </m:sup>
                      </m:sSup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J+</m:t>
                      </m:r>
                      <m:nary>
                        <m:naryPr>
                          <m:chr m:val="∑"/>
                          <m:limLoc m:val="subSup"/>
                          <m:grow m:val="1"/>
                          <m:subHide m:val="off"/>
                          <m:supHide m:val="on"/>
                        </m:naryPr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j</m:t>
                          </m:r>
                        </m:sub>
                        <m:sup/>
                        <m:e/>
                      </m:nary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r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j</m:t>
                          </m:r>
                        </m:sub>
                      </m:sSub>
                      <m:sSup>
                        <m:sSupPr>
                          <m:ctrlPr/>
                        </m:sSup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∇</m:t>
                          </m:r>
                        </m:e>
                        <m:sup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2</m:t>
                          </m:r>
                        </m:sup>
                      </m:sSup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r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j</m:t>
                          </m:r>
                        </m:sub>
                      </m:sSub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\nabla^2F=J^{\mathsf T}J+\sum_j r_j\nabla^2 r_j</a:t>
                </a:r>
              </mc:Fallback>
            </mc:AlternateContent>
          </a:p>
        </p:txBody>
      </p:sp>
      <p:sp>
        <p:nvSpPr>
          <p:cNvPr id="11" name="Text 9"/>
          <p:cNvSpPr/>
          <p:nvPr/>
        </p:nvSpPr>
        <p:spPr>
          <a:xfrm>
            <a:off x="566928" y="314553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丢弃的是残差加权二阶项；在小残差或近线性情形该项可忽略。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352958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LM 阻尼：平均对角元乘单位阵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3822192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α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max⁡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</m:t>
                      </m:r>
                      <m:f>
                        <m:fPr>
                          <m:type m:val="bar"/>
                        </m:fPr>
                        <m:num>
                          <m:argPr>
                            <m:scrLvl m:val="0"/>
                          </m:argPr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1</m:t>
                          </m:r>
                        </m:num>
                        <m:den>
                          <m:argPr>
                            <m:scrLvl m:val="0"/>
                          </m:argPr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5</m:t>
                          </m:r>
                        </m:den>
                      </m:f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tr⁡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H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,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rPr>
                          <m:nor/>
                        </m:rPr>
                        <m:t xml:space="preserve"/>
                      </m:r>
                      <m:sSup>
                        <m:sSupPr>
                          <m:ctrlPr/>
                        </m:sSup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10</m:t>
                          </m:r>
                        </m:e>
                        <m:sup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−30</m:t>
                          </m:r>
                        </m:sup>
                      </m:sSup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),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M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α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</m:sSub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I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5</m:t>
                          </m:r>
                        </m:sub>
                      </m:sSub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\alpha_t=\max\!\big(\tfrac15\operatorname{tr}H_t,\ 10^{-30}\big),\qquad M_t=\alpha_t I_5</a:t>
                </a:r>
              </mc:Fallback>
            </mc:AlternateContent>
          </a:p>
        </p:txBody>
      </p:sp>
      <p:sp>
        <p:nvSpPr>
          <p:cNvPr id="14" name="Text 12"/>
          <p:cNvSpPr/>
          <p:nvPr/>
        </p:nvSpPr>
        <p:spPr>
          <a:xfrm>
            <a:off x="566928" y="435254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H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+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μ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</m:sSub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M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)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w:rPr/>
                            <m:rPr>
                              <m:nor/>
                              <m:sty m:val="undefined"/>
                            </m:rPr>
                            <m:t xml:space="preserve">Δ</m:t>
                          </m:r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 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=−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g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,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sSubSup>
                        <m:sSubSupPr>
                          <m:ctrlPr/>
                        </m:sSubSup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𝜽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  <m:sup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cand</m:t>
                          </m:r>
                        </m:sup>
                      </m:sSubSup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𝜽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+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w:rPr/>
                            <m:rPr>
                              <m:nor/>
                              <m:sty m:val="undefined"/>
                            </m:rPr>
                            <m:t xml:space="preserve">Δ</m:t>
                          </m:r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 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</m:sSub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(H_t+\mu_t M_t)\,\Delta_t=-g_t,\qquad \boldsymbol\theta^{\rm cand}_t=\boldsymbol\theta_t+\Delta_t</a:t>
                </a:r>
              </mc:Fallback>
            </mc:AlternateContent>
          </a:p>
        </p:txBody>
      </p:sp>
      <p:sp>
        <p:nvSpPr>
          <p:cNvPr id="15" name="Text 13"/>
          <p:cNvSpPr/>
          <p:nvPr/>
        </p:nvSpPr>
        <p:spPr>
          <a:xfrm>
            <a:off x="566928" y="488289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diag(H) 阻尼，各分量受到相同的绝对阻尼；α 的 10⁻³⁰ 下限只防全零 H。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526694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 阶梯（初值 μ = 10⁻⁸，只对非驻点行更新）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5577840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sSubSup>
                        <m:sSubSupPr>
                          <m:ctrlPr/>
                        </m:sSubSupPr>
                        <m:e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μ</m:t>
                          </m:r>
                        </m:e>
                        <m:sub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  <m:sup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next</m:t>
                          </m:r>
                        </m:sup>
                      </m:sSubSup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{</m:t>
                      </m:r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</m:mPr>
                        <m:mr>
                          <m:e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max⁡</m:t>
                            </m:r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(0.1</m:t>
                            </m:r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 </m:t>
                            </m:r>
                            <m:sSub>
                              <m:sSubPr>
                                <m:ctrlPr/>
                              </m:sSubPr>
                              <m:e>
                                <m:r>
                                  <a:rPr lang="en-US" sz="1400" dirty="0">
                                    <a:solidFill>
                                      <a:srgbClr val="16202B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US" sz="1400" dirty="0">
                                    <a:solidFill>
                                      <a:srgbClr val="16202B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 xml:space="preserve">t</m:t>
                                </m:r>
                              </m:sub>
                            </m:sSub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,</m:t>
                            </m:r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rPr>
                                <m:nor/>
                              </m:rPr>
                              <m:t xml:space="preserve"/>
                            </m:r>
                            <m:sSup>
                              <m:sSupPr>
                                <m:ctrlPr/>
                              </m:sSupPr>
                              <m:e>
                                <m:r>
                                  <a:rPr lang="en-US" sz="1400" dirty="0">
                                    <a:solidFill>
                                      <a:srgbClr val="16202B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 xml:space="preserve">10</m:t>
                                </m:r>
                              </m:e>
                              <m:sup>
                                <m:r>
                                  <a:rPr lang="en-US" sz="1400" dirty="0">
                                    <a:solidFill>
                                      <a:srgbClr val="16202B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 xml:space="preserve">−12</m:t>
                                </m:r>
                              </m:sup>
                            </m:sSup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)</m:t>
                            </m:r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,</m:t>
                            </m:r>
                          </m:e>
                          <m:e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accept</m:t>
                            </m:r>
                          </m:e>
                        </m:mr>
                        <m:mr>
                          <m:e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10</m:t>
                            </m:r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 </m:t>
                            </m:r>
                            <m:sSub>
                              <m:sSubPr>
                                <m:ctrlPr/>
                              </m:sSubPr>
                              <m:e>
                                <m:r>
                                  <a:rPr lang="en-US" sz="1400" dirty="0">
                                    <a:solidFill>
                                      <a:srgbClr val="16202B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US" sz="1400" dirty="0">
                                    <a:solidFill>
                                      <a:srgbClr val="16202B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 xml:space="preserve">t</m:t>
                                </m:r>
                              </m:sub>
                            </m:sSub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,</m:t>
                            </m:r>
                          </m:e>
                          <m:e>
                            <m:r>
                              <a:rPr lang="en-US" sz="1400" dirty="0">
                                <a:solidFill>
                                  <a:srgbClr val="16202B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 xml:space="preserve">reject</m:t>
                            </m:r>
                          </m:e>
                        </m:mr>
                      </m:m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/>
                      </m:r>
                    </m:oMath>
                  </m:oMathPara>
                </a14:m>
              </mc:Choice>
              <mc:Fallback>
                <a:r>
                  <a:rPr lang="en-US" sz="14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\mu_t^{\rm next}=\begin{cases}\max(0.1\,\mu_t,\ 10^{-12}),&amp;\mathrm{accept}\\ 10\,\mu_t,&amp;\mathrm{reject}\end{cases}</a:t>
                </a:r>
              </mc:Fallback>
            </mc:AlternateContent>
          </a:p>
        </p:txBody>
      </p:sp>
      <p:sp>
        <p:nvSpPr>
          <p:cNvPr id="18" name="Shape 16"/>
          <p:cNvSpPr/>
          <p:nvPr/>
        </p:nvSpPr>
        <p:spPr>
          <a:xfrm>
            <a:off x="7543800" y="923544"/>
            <a:ext cx="4087368" cy="1481328"/>
          </a:xfrm>
          <a:prstGeom prst="rect">
            <a:avLst/>
          </a:prstGeom>
          <a:solidFill>
            <a:srgbClr val="FCF1EC"/>
          </a:solidFill>
          <a:ln w="12700">
            <a:solidFill>
              <a:srgbClr val="FCF1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43800" y="923544"/>
            <a:ext cx="41148" cy="1481328"/>
          </a:xfrm>
          <a:prstGeom prst="rect">
            <a:avLst/>
          </a:prstGeom>
          <a:solidFill>
            <a:srgbClr val="B5411F"/>
          </a:solidFill>
          <a:ln w="12700">
            <a:solidFill>
              <a:srgbClr val="B541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90104" y="987552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4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不完整 ⑤：原图记法易读成 diag(H)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690104" y="1225296"/>
            <a:ext cx="3813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原图 d_t = max(mean(diag H_t), 10⁻³⁰) → 等价且无歧义：α = max(⅕ tr H, 10⁻³⁰)，M = α I₅。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7543800" y="2542032"/>
            <a:ext cx="4087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候选接受条件（原图只有「目标下降」一条）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543800" y="2834640"/>
            <a:ext cx="4087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>
                      <m:r>
                        <a:rPr lang="en-US" sz="10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¬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0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stat</m:t>
                          </m:r>
                        </m:e>
                        <m:sub>
                          <m:r>
                            <a:rPr lang="en-US" sz="10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</m:sSub>
                      <m:r>
                        <a:rPr lang="en-US" sz="10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rPr>
                          <m:nor/>
                        </m:rPr>
                        <m:t xml:space="preserve"/>
                      </m:r>
                      <m:r>
                        <a:rPr lang="en-US" sz="10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∧</m:t>
                      </m:r>
                      <m:r>
                        <a:rPr lang="en-US" sz="10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rPr>
                          <m:nor/>
                        </m:rPr>
                        <m:t xml:space="preserve"/>
                      </m:r>
                      <m:r>
                        <a:rPr lang="en-US" sz="10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finite</m:t>
                      </m:r>
                      <m:r>
                        <a:rPr lang="en-US" sz="10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</m:t>
                      </m:r>
                      <m:sSubSup>
                        <m:sSubSupPr>
                          <m:ctrlPr/>
                        </m:sSubSupPr>
                        <m:e>
                          <m:r>
                            <a:rPr lang="en-US" sz="10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F</m:t>
                          </m:r>
                        </m:e>
                        <m:sub>
                          <m:r>
                            <a:rPr lang="en-US" sz="10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  <m:sup>
                          <m:r>
                            <a:rPr lang="en-US" sz="10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cand</m:t>
                          </m:r>
                        </m:sup>
                      </m:sSubSup>
                      <m:r>
                        <a:rPr lang="en-US" sz="10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)</m:t>
                      </m:r>
                      <m:r>
                        <a:rPr lang="en-US" sz="10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rPr>
                          <m:nor/>
                        </m:rPr>
                        <m:t xml:space="preserve"/>
                      </m:r>
                      <m:r>
                        <a:rPr lang="en-US" sz="10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∧</m:t>
                      </m:r>
                      <m:r>
                        <a:rPr lang="en-US" sz="10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rPr>
                          <m:nor/>
                        </m:rPr>
                        <m:t xml:space="preserve"/>
                      </m:r>
                      <m:sSubSup>
                        <m:sSubSupPr>
                          <m:ctrlPr/>
                        </m:sSubSupPr>
                        <m:e>
                          <m:r>
                            <a:rPr lang="en-US" sz="10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F</m:t>
                          </m:r>
                        </m:e>
                        <m:sub>
                          <m:r>
                            <a:rPr lang="en-US" sz="10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  <m:sup>
                          <m:r>
                            <a:rPr lang="en-US" sz="10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cand</m:t>
                          </m:r>
                        </m:sup>
                      </m:sSubSup>
                      <m:r>
                        <a:rPr lang="en-US" sz="10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&lt;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0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F</m:t>
                          </m:r>
                        </m:e>
                        <m:sub>
                          <m:r>
                            <a:rPr lang="en-US" sz="10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</m:sSub>
                      <m:r>
                        <a:rPr lang="en-US" sz="10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rPr>
                          <m:nor/>
                        </m:rPr>
                        <m:t xml:space="preserve"/>
                      </m:r>
                      <m:r>
                        <a:rPr lang="en-US" sz="10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∧</m:t>
                      </m:r>
                      <m:r>
                        <a:rPr lang="en-US" sz="10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rPr>
                          <m:nor/>
                        </m:rPr>
                        <m:t xml:space="preserve"/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0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ℰ</m:t>
                          </m:r>
                        </m:e>
                        <m:sub>
                          <m:r>
                            <a:rPr lang="en-US" sz="10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</m:sSub>
                      <m:r>
                        <a:rPr lang="en-US" sz="10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</m:t>
                      </m:r>
                      <m:sSubSup>
                        <m:sSubSupPr>
                          <m:ctrlPr/>
                        </m:sSubSupPr>
                        <m:e>
                          <m:r>
                            <a:rPr lang="en-US" sz="10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𝜽</m:t>
                          </m:r>
                        </m:e>
                        <m:sub>
                          <m:r>
                            <a:rPr lang="en-US" sz="10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  <m:sup>
                          <m:r>
                            <a:rPr lang="en-US" sz="10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cand</m:t>
                          </m:r>
                        </m:sup>
                      </m:sSubSup>
                      <m:r>
                        <a:rPr lang="en-US" sz="10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)</m:t>
                      </m:r>
                      <m:r>
                        <a:rPr lang="en-US" sz="10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⊇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0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ℰ</m:t>
                          </m:r>
                        </m:e>
                        <m:sub>
                          <m:r>
                            <a:rPr lang="en-US" sz="10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</m:sSub>
                      <m:r>
                        <a:rPr lang="en-US" sz="10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</m:t>
                      </m:r>
                      <m:sSubSup>
                        <m:sSubSupPr>
                          <m:ctrlPr/>
                        </m:sSubSupPr>
                        <m:e>
                          <m:r>
                            <a:rPr lang="en-US" sz="10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𝜽</m:t>
                          </m:r>
                        </m:e>
                        <m:sub>
                          <m:r>
                            <a:rPr lang="en-US" sz="10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  <m:sup>
                          <m:r>
                            <a:rPr lang="en-US" sz="10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init</m:t>
                          </m:r>
                        </m:sup>
                      </m:sSubSup>
                      <m:r>
                        <a:rPr lang="en-US" sz="10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)</m:t>
                      </m:r>
                    </m:oMath>
                  </m:oMathPara>
                </a14:m>
              </mc:Choice>
              <mc:Fallback>
                <a:r>
                  <a:rPr lang="en-US" sz="10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\neg\mathrm{stat}_t\ \wedge\ \mathrm{finite}(F^{\rm cand}_t)\ \wedge\ F^{\rm cand}_t&lt;F_t\ \wedge\ \mathcal E_t(\boldsymbol\theta^{\rm cand}_t)\supseteq\mathcal E_t(\boldsymbol\theta^{\rm init}_t)</a:t>
                </a:r>
              </mc:Fallback>
            </mc:AlternateContent>
          </a:p>
        </p:txBody>
      </p:sp>
      <p:sp>
        <p:nvSpPr>
          <p:cNvPr id="24" name="Shape 22"/>
          <p:cNvSpPr/>
          <p:nvPr/>
        </p:nvSpPr>
        <p:spPr>
          <a:xfrm>
            <a:off x="7543800" y="3401568"/>
            <a:ext cx="4087368" cy="1874520"/>
          </a:xfrm>
          <a:prstGeom prst="rect">
            <a:avLst/>
          </a:prstGeom>
          <a:solidFill>
            <a:srgbClr val="FCF1EC"/>
          </a:solidFill>
          <a:ln w="12700">
            <a:solidFill>
              <a:srgbClr val="FCF1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43800" y="3401568"/>
            <a:ext cx="41148" cy="1874520"/>
          </a:xfrm>
          <a:prstGeom prst="rect">
            <a:avLst/>
          </a:prstGeom>
          <a:solidFill>
            <a:srgbClr val="B5411F"/>
          </a:solidFill>
          <a:ln w="12700">
            <a:solidFill>
              <a:srgbClr val="B541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90104" y="3465576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4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最后一条是防作弊的关键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90104" y="3703320"/>
            <a:ext cx="381304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把有效集合锚定在初始集合上，防止 LM 通过让难拟合的 hit 失效来降低目标。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拒绝时参数不变、阻尼增大。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7543800" y="5385816"/>
            <a:ext cx="4087368" cy="1042416"/>
          </a:xfrm>
          <a:prstGeom prst="rect">
            <a:avLst/>
          </a:prstGeom>
          <a:solidFill>
            <a:srgbClr val="FCF1EC"/>
          </a:solidFill>
          <a:ln w="12700">
            <a:solidFill>
              <a:srgbClr val="FCF1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43800" y="5385816"/>
            <a:ext cx="41148" cy="1042416"/>
          </a:xfrm>
          <a:prstGeom prst="rect">
            <a:avLst/>
          </a:prstGeom>
          <a:solidFill>
            <a:srgbClr val="B5411F"/>
          </a:solidFill>
          <a:ln w="12700">
            <a:solidFill>
              <a:srgbClr val="B541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90104" y="5449824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4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不是完整信赖域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690104" y="5687568"/>
            <a:ext cx="3813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采用自适应阻尼策略，没有用实际／预测下降比构造 gain ratio 接受规则。</a:t>
            </a:r>
            <a:endParaRPr lang="en-US" sz="9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8872" cy="93268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停止判据、decrement 的读法与终态门限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418320" y="4023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· 推导 3.4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92354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每轮在求步之前先算 decrement 二次型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1216152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sSub>
                        <m:sSubPr>
                          <m:ctrlPr/>
                        </m:sSub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ν</m:t>
                          </m:r>
                        </m:e>
                        <m:sub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</m:sSub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sSubSup>
                        <m:sSubSupPr>
                          <m:ctrlPr/>
                        </m:sSubSup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g</m:t>
                          </m:r>
                        </m:e>
                        <m:sub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  <m:sup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𝖳</m:t>
                          </m:r>
                        </m:sup>
                      </m:sSubSup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H</m:t>
                          </m:r>
                        </m:e>
                        <m:sub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</m:sSub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+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ϵ</m:t>
                          </m:r>
                        </m:e>
                        <m:sub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μ</m:t>
                          </m:r>
                        </m:sub>
                      </m:sSub>
                      <m:sSub>
                        <m:sSubPr>
                          <m:ctrlPr/>
                        </m:sSub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M</m:t>
                          </m:r>
                        </m:e>
                        <m:sub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</m:sSub>
                      <m:sSup>
                        <m:sSupPr>
                          <m:ctrlPr/>
                        </m:sSup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−1</m:t>
                          </m:r>
                        </m:sup>
                      </m:sSup>
                      <m:sSub>
                        <m:sSubPr>
                          <m:ctrlPr/>
                        </m:sSub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g</m:t>
                          </m:r>
                        </m:e>
                        <m:sub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</m:sSub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,</m:t>
                      </m:r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ϵ</m:t>
                          </m:r>
                        </m:e>
                        <m:sub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μ</m:t>
                          </m:r>
                        </m:sub>
                      </m:sSub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sSup>
                        <m:sSupPr>
                          <m:ctrlPr/>
                        </m:sSup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10</m:t>
                          </m:r>
                        </m:e>
                        <m:sup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−12</m:t>
                          </m:r>
                        </m:sup>
                      </m:sSup>
                    </m:oMath>
                  </m:oMathPara>
                </a14:m>
              </mc:Choice>
              <mc:Fallback>
                <a:r>
                  <a:rPr lang="en-US" sz="16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\nu_t=g_t^{\mathsf T}\big(H_t+\epsilon_\mu M_t\big)^{-1}g_t,\qquad \epsilon_\mu=10^{-12}</a:t>
                </a:r>
              </mc:Fallback>
            </mc:AlternateContent>
          </a:p>
        </p:txBody>
      </p:sp>
      <p:sp>
        <p:nvSpPr>
          <p:cNvPr id="8" name="Text 6"/>
          <p:cNvSpPr/>
          <p:nvPr/>
        </p:nvSpPr>
        <p:spPr>
          <a:xfrm>
            <a:off x="566928" y="1773936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sSubSup>
                        <m:sSubSupPr>
                          <m:ctrlPr/>
                        </m:sSubSupPr>
                        <m:e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ν</m:t>
                          </m:r>
                        </m:e>
                        <m:sub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  <m:sup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rel</m:t>
                          </m:r>
                        </m:sup>
                      </m:sSubSup>
                      <m:r>
                        <a:rPr lang="en-US" sz="16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f>
                        <m:fPr>
                          <m:type m:val="bar"/>
                        </m:fPr>
                        <m:num>
                          <m:sSub>
                            <m:sSubPr>
                              <m:ctrlPr/>
                            </m:sSubPr>
                            <m:e>
                              <m:r>
                                <a:rPr lang="en-US" sz="16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ν</m:t>
                              </m:r>
                            </m:e>
                            <m:sub>
                              <m:r>
                                <a:rPr lang="en-US" sz="16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t</m:t>
                              </m:r>
                            </m:sub>
                          </m:sSub>
                        </m:num>
                        <m:den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max⁡</m:t>
                          </m:r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(</m:t>
                          </m:r>
                          <m:sSub>
                            <m:sSubPr>
                              <m:ctrlPr/>
                            </m:sSubPr>
                            <m:e>
                              <m:r>
                                <a:rPr lang="en-US" sz="16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F</m:t>
                              </m:r>
                            </m:e>
                            <m:sub>
                              <m:r>
                                <a:rPr lang="en-US" sz="16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t</m:t>
                              </m:r>
                            </m:sub>
                          </m:sSub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,</m:t>
                          </m:r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rPr>
                              <m:nor/>
                            </m:rPr>
                            <m:t xml:space="preserve"/>
                          </m:r>
                          <m:sSup>
                            <m:sSupPr>
                              <m:ctrlPr/>
                            </m:sSupPr>
                            <m:e>
                              <m:r>
                                <a:rPr lang="en-US" sz="16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10</m:t>
                              </m:r>
                            </m:e>
                            <m:sup>
                              <m:r>
                                <a:rPr lang="en-US" sz="16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−12</m:t>
                              </m:r>
                            </m:sup>
                          </m:sSup>
                          <m:r>
                            <a:rPr lang="en-US" sz="16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)</m:t>
                          </m:r>
                        </m:den>
                      </m:f>
                    </m:oMath>
                  </m:oMathPara>
                </a14:m>
              </mc:Choice>
              <mc:Fallback>
                <a:r>
                  <a:rPr lang="en-US" sz="16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\nu^{\rm rel}_t=\frac{\nu_t}{\max(F_t,\ 10^{-12})}</a:t>
                </a:r>
              </mc:Fallback>
            </mc:AlternateContent>
          </a:p>
        </p:txBody>
      </p:sp>
      <p:sp>
        <p:nvSpPr>
          <p:cNvPr id="9" name="Text 7"/>
          <p:cNvSpPr/>
          <p:nvPr/>
        </p:nvSpPr>
        <p:spPr>
          <a:xfrm>
            <a:off x="566928" y="241401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逐径迹驻点判据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270662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sSub>
                        <m:sSubPr>
                          <m:ctrlPr/>
                        </m:sSubPr>
                        <m:e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stat</m:t>
                          </m:r>
                        </m:e>
                        <m:sub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finite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</m:t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ν</m:t>
                          </m:r>
                        </m:e>
                        <m:sub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)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rPr>
                          <m:nor/>
                        </m:rPr>
                        <m:t xml:space="preserve"/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∧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rPr>
                          <m:nor/>
                        </m:rPr>
                        <m:t xml:space="preserve"/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[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rPr>
                          <m:nor/>
                        </m:rPr>
                        <m:t xml:space="preserve"/>
                      </m:r>
                      <m:sSub>
                        <m:sSubPr>
                          <m:ctrlPr/>
                        </m:sSubPr>
                        <m:e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ν</m:t>
                          </m:r>
                        </m:e>
                        <m:sub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≤</m:t>
                      </m:r>
                      <m:sSup>
                        <m:sSupPr>
                          <m:ctrlPr/>
                        </m:sSupPr>
                        <m:e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10</m:t>
                          </m:r>
                        </m:e>
                        <m:sup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−12</m:t>
                          </m:r>
                        </m:sup>
                      </m:sSup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rPr>
                          <m:nor/>
                        </m:rPr>
                        <m:t xml:space="preserve"/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∨</m:t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rPr>
                          <m:nor/>
                        </m:rPr>
                        <m:t xml:space="preserve"/>
                      </m:r>
                      <m:sSubSup>
                        <m:sSubSupPr>
                          <m:ctrlPr/>
                        </m:sSubSupPr>
                        <m:e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ν</m:t>
                          </m:r>
                        </m:e>
                        <m:sub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sub>
                        <m:sup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rel</m:t>
                          </m:r>
                        </m:sup>
                      </m:sSubSup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≤</m:t>
                      </m:r>
                      <m:sSup>
                        <m:sSupPr>
                          <m:ctrlPr/>
                        </m:sSupPr>
                        <m:e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10</m:t>
                          </m:r>
                        </m:e>
                        <m:sup>
                          <m:r>
                            <a:rPr lang="en-US" sz="14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−6</m:t>
                          </m:r>
                        </m:sup>
                      </m:sSup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rPr>
                          <m:nor/>
                        </m:rPr>
                        <m:t xml:space="preserve"/>
                      </m:r>
                      <m:r>
                        <a:rPr lang="en-US" sz="14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]</m:t>
                      </m:r>
                    </m:oMath>
                  </m:oMathPara>
                </a14:m>
              </mc:Choice>
              <mc:Fallback>
                <a:r>
                  <a:rPr lang="en-US" sz="14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\mathrm{stat}_t=\mathrm{finite}(\nu_t)\ \wedge\ \big[\ \nu_t\le10^{-12}\ \ \vee\ \ \nu^{\rm rel}_t\le10^{-6}\ \big]</a:t>
                </a:r>
              </mc:Fallback>
            </mc:AlternateContent>
          </a:p>
        </p:txBody>
      </p:sp>
      <p:sp>
        <p:nvSpPr>
          <p:cNvPr id="11" name="Text 9"/>
          <p:cNvSpPr/>
          <p:nvPr/>
        </p:nvSpPr>
        <p:spPr>
          <a:xfrm>
            <a:off x="566928" y="323697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全块所有行都满足才退出外层循环；最大迭代 60 轮。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362102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主线终态门限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3931920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w="http://schemas.openxmlformats.org/wordprocessingml/2006/main"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w:rPr/>
                        <m:rPr>
                          <m:nor/>
                          <m:sty m:val="undefined"/>
                        </m:rPr>
                        <m:t xml:space="preserve">n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_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w:rPr/>
                        <m:rPr>
                          <m:nor/>
                          <m:sty m:val="undefined"/>
                        </m:rPr>
                        <m:t xml:space="preserve">n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w:rPr/>
                        <m:rPr>
                          <m:nor/>
                          <m:sty m:val="undefined"/>
                        </m:rPr>
                        <m:t xml:space="preserve">o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w:rPr/>
                        <m:rPr>
                          <m:nor/>
                          <m:sty m:val="undefined"/>
                        </m:rPr>
                        <m:t xml:space="preserve">n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_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w:rPr/>
                        <m:rPr>
                          <m:nor/>
                          <m:sty m:val="undefined"/>
                        </m:rPr>
                        <m:t xml:space="preserve">f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w:rPr/>
                        <m:rPr>
                          <m:nor/>
                          <m:sty m:val="undefined"/>
                        </m:rPr>
                        <m:t xml:space="preserve">i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w:rPr/>
                        <m:rPr>
                          <m:nor/>
                          <m:sty m:val="undefined"/>
                        </m:rPr>
                        <m:t xml:space="preserve">n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w:rPr/>
                        <m:rPr>
                          <m:nor/>
                          <m:sty m:val="undefined"/>
                        </m:rPr>
                        <m:t xml:space="preserve">i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w:rPr/>
                        <m:rPr>
                          <m:nor/>
                          <m:sty m:val="undefined"/>
                        </m:rPr>
                        <m:t xml:space="preserve">t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w:rPr/>
                        <m:rPr>
                          <m:nor/>
                          <m:sty m:val="undefined"/>
                        </m:rPr>
                        <m:t xml:space="preserve">e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=0,</m:t>
                      </m:r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|</m:t>
                          </m:r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{t:¬</m:t>
                          </m:r>
                          <m:sSub>
                            <m:sSubPr>
                              <m:ctrlPr/>
                            </m:sSubPr>
                            <m:e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stat</m:t>
                              </m:r>
                            </m:e>
                            <m:sub>
                              <m:r>
                                <a:rPr lang="en-US" sz="1500" dirty="0">
                                  <a:solidFill>
                                    <a:srgbClr val="16202B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 xml:space="preserve">t</m:t>
                              </m:r>
                            </m:sub>
                          </m:sSub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}</m:t>
                          </m:r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|</m:t>
                          </m:r>
                        </m:num>
                        <m:den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T</m:t>
                          </m:r>
                        </m:den>
                      </m:f>
                      <m:r>
                        <a:rPr lang="en-US" sz="1500" dirty="0">
                          <a:solidFill>
                            <a:srgbClr val="1620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≤</m:t>
                      </m:r>
                      <m:sSup>
                        <m:sSupPr>
                          <m:ctrlPr/>
                        </m:sSupPr>
                        <m:e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10</m:t>
                          </m:r>
                        </m:e>
                        <m:sup>
                          <m:r>
                            <a:rPr lang="en-US" sz="1500" dirty="0">
                              <a:solidFill>
                                <a:srgbClr val="16202B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−3</m:t>
                          </m:r>
                        </m:sup>
                      </m:sSup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16202B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\mathrm{n\_non\_finite}=0,\qquad \frac{|\{t:\neg\mathrm{stat}_t\}|}{T}\le10^{-3}</a:t>
                </a:r>
              </mc:Fallback>
            </mc:AlternateContent>
          </a:p>
        </p:txBody>
      </p:sp>
      <p:sp>
        <p:nvSpPr>
          <p:cNvPr id="14" name="Text 12"/>
          <p:cNvSpPr/>
          <p:nvPr/>
        </p:nvSpPr>
        <p:spPr>
          <a:xfrm>
            <a:off x="566928" y="455371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非有限 decrement 立即失败。注意主线容许最多 0.1% 的非驻点行，不是要求全部径迹达标。驻点阈值 10⁻⁶ 低于 float32 分辨率，该评估须在 float64 下进行。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508406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正确的每轮顺序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66928" y="5340096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 s*  →  组装 r、J  →  算 H、g  →  算 ν 并判驻点  →  若未全部驻点则求步、评候选、接受或拒绝、更新 μ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5852160"/>
            <a:ext cx="6766560" cy="621792"/>
          </a:xfrm>
          <a:prstGeom prst="rect">
            <a:avLst/>
          </a:prstGeom>
          <a:solidFill>
            <a:srgbClr val="FCF1EC"/>
          </a:solidFill>
          <a:ln w="12700">
            <a:solidFill>
              <a:srgbClr val="FCF1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5852160"/>
            <a:ext cx="41148" cy="621792"/>
          </a:xfrm>
          <a:prstGeom prst="rect">
            <a:avLst/>
          </a:prstGeom>
          <a:solidFill>
            <a:srgbClr val="B5411F"/>
          </a:solidFill>
          <a:ln w="12700">
            <a:solidFill>
              <a:srgbClr val="B541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5916168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4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原图顺序错误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13232" y="6153912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原图把收敛判断画在最近点与残差计算之前。判驻点必须在求步之前、在 H 与 g 之后。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7543800" y="923544"/>
            <a:ext cx="4087368" cy="2240280"/>
          </a:xfrm>
          <a:prstGeom prst="rect">
            <a:avLst/>
          </a:prstGeom>
          <a:solidFill>
            <a:srgbClr val="FCF1EC"/>
          </a:solidFill>
          <a:ln w="12700">
            <a:solidFill>
              <a:srgbClr val="FCF1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3800" y="923544"/>
            <a:ext cx="41148" cy="2240280"/>
          </a:xfrm>
          <a:prstGeom prst="rect">
            <a:avLst/>
          </a:prstGeom>
          <a:solidFill>
            <a:srgbClr val="B5411F"/>
          </a:solidFill>
          <a:ln w="12700">
            <a:solidFill>
              <a:srgbClr val="B541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90104" y="987552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4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不完整 ⑥：ν 的三种误读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690104" y="1225296"/>
            <a:ext cx="3813048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与教科书 Newton decrement 差一次开方（教科书为 √(gᵀH⁻¹g)）。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不等于二次模型的预测下降量。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不是信赖域的 gain ratio。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7543800" y="3300984"/>
            <a:ext cx="4087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 Δ = −H⁻¹g 时的预测下降为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43800" y="3529584"/>
            <a:ext cx="4087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>
                      <m:r>
                        <a:rPr lang="en-US" sz="1400" dirty="0">
                          <a:solidFill>
                            <a:srgbClr val="065A8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m</m:t>
                      </m:r>
                      <m:r>
                        <a:rPr lang="en-US" sz="1400" dirty="0">
                          <a:solidFill>
                            <a:srgbClr val="065A8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(0)</m:t>
                      </m:r>
                      <m:r>
                        <a:rPr lang="en-US" sz="1400" dirty="0">
                          <a:solidFill>
                            <a:srgbClr val="065A8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−m</m:t>
                      </m:r>
                      <m:r>
                        <a:rPr lang="en-US" sz="1400" dirty="0">
                          <a:solidFill>
                            <a:srgbClr val="065A8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(</m:t>
                      </m:r>
                      <m:r>
                        <a:rPr lang="en-US" sz="1400" dirty="0">
                          <a:solidFill>
                            <a:srgbClr val="065A8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w:rPr/>
                        <m:rPr>
                          <m:nor/>
                          <m:sty m:val="undefined"/>
                        </m:rPr>
                        <m:t xml:space="preserve">Δ</m:t>
                      </m:r>
                      <m:r>
                        <a:rPr lang="en-US" sz="1400" dirty="0">
                          <a:solidFill>
                            <a:srgbClr val="065A8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400" dirty="0">
                          <a:solidFill>
                            <a:srgbClr val="065A8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)</m:t>
                      </m:r>
                      <m:r>
                        <a:rPr lang="en-US" sz="1400" dirty="0">
                          <a:solidFill>
                            <a:srgbClr val="065A8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=</m:t>
                      </m:r>
                      <m:f>
                        <m:fPr>
                          <m:type m:val="bar"/>
                        </m:fPr>
                        <m:num>
                          <m:argPr>
                            <m:scrLvl m:val="0"/>
                          </m:argPr>
                          <m:r>
                            <a:rPr lang="en-US" sz="1400" dirty="0">
                              <a:solidFill>
                                <a:srgbClr val="065A8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1</m:t>
                          </m:r>
                        </m:num>
                        <m:den>
                          <m:argPr>
                            <m:scrLvl m:val="0"/>
                          </m:argPr>
                          <m:r>
                            <a:rPr lang="en-US" sz="1400" dirty="0">
                              <a:solidFill>
                                <a:srgbClr val="065A8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2</m:t>
                          </m:r>
                        </m:den>
                      </m:f>
                      <m:r>
                        <a:rPr lang="en-US" sz="1400" dirty="0">
                          <a:solidFill>
                            <a:srgbClr val="065A8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sSup>
                        <m:sSupPr>
                          <m:ctrlPr/>
                        </m:sSupPr>
                        <m:e>
                          <m:r>
                            <a:rPr lang="en-US" sz="1400" dirty="0">
                              <a:solidFill>
                                <a:srgbClr val="065A8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g</m:t>
                          </m:r>
                        </m:e>
                        <m:sup>
                          <m:r>
                            <a:rPr lang="en-US" sz="1400" dirty="0">
                              <a:solidFill>
                                <a:srgbClr val="065A8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𝖳</m:t>
                          </m:r>
                        </m:sup>
                      </m:sSup>
                      <m:sSup>
                        <m:sSupPr>
                          <m:ctrlPr/>
                        </m:sSupPr>
                        <m:e>
                          <m:r>
                            <a:rPr lang="en-US" sz="1400" dirty="0">
                              <a:solidFill>
                                <a:srgbClr val="065A8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H</m:t>
                          </m:r>
                        </m:e>
                        <m:sup>
                          <m:r>
                            <a:rPr lang="en-US" sz="1400" dirty="0">
                              <a:solidFill>
                                <a:srgbClr val="065A8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−1</m:t>
                          </m:r>
                        </m:sup>
                      </m:sSup>
                      <m:r>
                        <a:rPr lang="en-US" sz="1400" dirty="0">
                          <a:solidFill>
                            <a:srgbClr val="065A8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g=</m:t>
                      </m:r>
                      <m:f>
                        <m:fPr>
                          <m:type m:val="bar"/>
                        </m:fPr>
                        <m:num>
                          <m:argPr>
                            <m:scrLvl m:val="0"/>
                          </m:argPr>
                          <m:r>
                            <a:rPr lang="en-US" sz="1400" dirty="0">
                              <a:solidFill>
                                <a:srgbClr val="065A8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1</m:t>
                          </m:r>
                        </m:num>
                        <m:den>
                          <m:argPr>
                            <m:scrLvl m:val="0"/>
                          </m:argPr>
                          <m:r>
                            <a:rPr lang="en-US" sz="1400" dirty="0">
                              <a:solidFill>
                                <a:srgbClr val="065A8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 xml:space="preserve">2</m:t>
                          </m:r>
                        </m:den>
                      </m:f>
                      <m:r>
                        <a:rPr lang="en-US" sz="1400" dirty="0">
                          <a:solidFill>
                            <a:srgbClr val="065A8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 </m:t>
                      </m:r>
                      <m:r>
                        <a:rPr lang="en-US" sz="1400" dirty="0">
                          <a:solidFill>
                            <a:srgbClr val="065A8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m:t xml:space="preserve">ν</m:t>
                      </m:r>
                    </m:oMath>
                  </m:oMathPara>
                </a14:m>
              </mc:Choice>
              <mc:Fallback>
                <a:r>
                  <a:rPr lang="en-US" sz="1400" dirty="0">
                    <a:solidFill>
                      <a:srgbClr val="065A82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m(0)-m(\Delta)=\tfrac12\,g^{\mathsf T}H^{-1}g=\tfrac12\,\nu</a:t>
                </a:r>
              </mc:Fallback>
            </mc:AlternateContent>
          </a:p>
        </p:txBody>
      </p:sp>
      <p:sp>
        <p:nvSpPr>
          <p:cNvPr id="27" name="Shape 25"/>
          <p:cNvSpPr/>
          <p:nvPr/>
        </p:nvSpPr>
        <p:spPr>
          <a:xfrm>
            <a:off x="7543800" y="4041648"/>
            <a:ext cx="4087368" cy="1143000"/>
          </a:xfrm>
          <a:prstGeom prst="rect">
            <a:avLst/>
          </a:prstGeom>
          <a:solidFill>
            <a:srgbClr val="EFF4F8"/>
          </a:solidFill>
          <a:ln w="12700">
            <a:solidFill>
              <a:srgbClr val="EFF4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43800" y="4041648"/>
            <a:ext cx="41148" cy="1143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90104" y="4105656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 ν 恰是其两倍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690104" y="4343400"/>
            <a:ext cx="38130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本文一律称「decrement 二次型」，避免上述误读。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7543800" y="5294376"/>
            <a:ext cx="4087368" cy="1133856"/>
          </a:xfrm>
          <a:prstGeom prst="rect">
            <a:avLst/>
          </a:prstGeom>
          <a:solidFill>
            <a:srgbClr val="EFF4F8"/>
          </a:solidFill>
          <a:ln w="12700">
            <a:solidFill>
              <a:srgbClr val="EFF4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43800" y="5294376"/>
            <a:ext cx="41148" cy="113385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0104" y="5358384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实现对应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690104" y="5596128"/>
            <a:ext cx="3813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damped_gauss_newton、require_stationary_helix_point_fit</a:t>
            </a:r>
            <a:endParaRPr lang="en-US" sz="9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8872" cy="93268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修订结论的数值核验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418320" y="4023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· 验证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923544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scripts/helix_model.py 的 helix_point 为基准，N = 2000 组随机参数（|ρ| ≤ 10⁻³ mm⁻¹，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|s| ≤ 800 mm，float64）；一、二阶导以 torch.autograd 为基准。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44752"/>
          <a:ext cx="73152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828800"/>
                <a:gridCol w="15544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表达式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最大偏差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原图闭式  y₀ − (cosψ(s) − cosψ₀)/ρ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1.4 × 10⁻¹⁰ mm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正确（浮点级）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原图展开式  y₀ − 2sin(ψ₀+ρs/2)sin(ρs/2)/ρ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1581 mm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错误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修订式  y₀ + s·sin(ψ₀+ρs/2)·sinc(ρs/2)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 × 10⁻¹⁴ mm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‖t‖ − √(1+τ²)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4.4 × 10⁻¹⁶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f′ = d·t   与 autograd 对拍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7.1 × 10⁻¹⁵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f″ = t·t + d·h″   与 autograd 对拍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3.6 × 10⁻¹⁵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ρ → 0 的直线极限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4096512"/>
            <a:ext cx="7315200" cy="868680"/>
          </a:xfrm>
          <a:prstGeom prst="rect">
            <a:avLst/>
          </a:prstGeom>
          <a:solidFill>
            <a:srgbClr val="FCF1EC"/>
          </a:solidFill>
          <a:ln w="12700">
            <a:solidFill>
              <a:srgbClr val="FCF1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4096512"/>
            <a:ext cx="41148" cy="868680"/>
          </a:xfrm>
          <a:prstGeom prst="rect">
            <a:avLst/>
          </a:prstGeom>
          <a:solidFill>
            <a:srgbClr val="B5411F"/>
          </a:solidFill>
          <a:ln w="12700">
            <a:solidFill>
              <a:srgbClr val="B5411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4160520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4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为什么要单列这一行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13232" y="4398264"/>
            <a:ext cx="7040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原图的闭式与展开式在同一行并列，闭式正确、展开式错误。只核验其中一个，会得出相反的结论。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8092440" y="923544"/>
            <a:ext cx="3538728" cy="1828800"/>
          </a:xfrm>
          <a:prstGeom prst="rect">
            <a:avLst/>
          </a:prstGeom>
          <a:solidFill>
            <a:srgbClr val="EFF4F8"/>
          </a:solidFill>
          <a:ln w="12700">
            <a:solidFill>
              <a:srgbClr val="EFF4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092440" y="923544"/>
            <a:ext cx="41148" cy="1828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38744" y="987552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核验的边界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238744" y="1225296"/>
            <a:ext cx="326440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这是公式等价性的数值核验，不是算法实验。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本次交付不含性能曲线或泛化结论，核验脚本不入库。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8092440" y="2907792"/>
            <a:ext cx="3538728" cy="2039112"/>
          </a:xfrm>
          <a:prstGeom prst="rect">
            <a:avLst/>
          </a:prstGeom>
          <a:solidFill>
            <a:srgbClr val="FCF1EC"/>
          </a:solidFill>
          <a:ln w="12700">
            <a:solidFill>
              <a:srgbClr val="FCF1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92440" y="2907792"/>
            <a:ext cx="41148" cy="2039112"/>
          </a:xfrm>
          <a:prstGeom prst="rect">
            <a:avLst/>
          </a:prstGeom>
          <a:solidFill>
            <a:srgbClr val="B5411F"/>
          </a:solidFill>
          <a:ln w="12700">
            <a:solidFill>
              <a:srgbClr val="B5411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38744" y="2971800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4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三条实质错误汇总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238744" y="3209544"/>
            <a:ext cx="3264408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y(s) 和差化积后符号为负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曲率式多除一个质量 m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J 的 3H×5 与 6 个螺旋参数矛盾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 19 条为符号冲突与条件缺失。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8872" cy="93268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与代码的对应关系，及三个易踩的坑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418320" y="4023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· 实现对应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923544"/>
          <a:ext cx="6492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651760"/>
                <a:gridCol w="26517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本文符号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代码变量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所在函数／模块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η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track / reference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helix_model.py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theta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helix_model.py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h, t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helix_point, helix_tangent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helix_model.py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s*, w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path, effective (= mask &amp; valid)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_single_point_fit_residual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H, g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hessian, gradient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damped_gauss_newton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α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scale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damped_gauss_newton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μ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level（per-track [T,1,1]）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damped_gauss_newton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scale[:,None,None] * identity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damped_gauss_newton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ν, ν^rel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decrement, relative_decrement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damped_gauss_newton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κ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CURVATURE_SCALE = 1e-4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helix_model.py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S_max, ε_c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S_MAX, CLOSEST_POINT_CURVATURE_EPS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helix_model.py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ε_μ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GAUSS_NEWTON_MIN_DAMPING = 1e-12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helix_model.py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269480" y="923544"/>
            <a:ext cx="4361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4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三个易踩的坑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269480" y="1225296"/>
            <a:ext cx="4361688" cy="1572768"/>
          </a:xfrm>
          <a:prstGeom prst="rect">
            <a:avLst/>
          </a:prstGeom>
          <a:solidFill>
            <a:srgbClr val="FCF1EC"/>
          </a:solidFill>
          <a:ln w="12700">
            <a:solidFill>
              <a:srgbClr val="FCF1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269480" y="1225296"/>
            <a:ext cx="41148" cy="1572768"/>
          </a:xfrm>
          <a:prstGeom prst="rect">
            <a:avLst/>
          </a:prstGeom>
          <a:solidFill>
            <a:srgbClr val="B5411F"/>
          </a:solidFill>
          <a:ln w="12700">
            <a:solidFill>
              <a:srgbClr val="B5411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15784" y="1289304"/>
            <a:ext cx="4087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4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同名常量不同值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415784" y="1527048"/>
            <a:ext cx="4087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GAUSS_NEWTON_TOLERANCE 在 helix_model.py 是 1e-6（seed 的相对 decrement 阈值），在 validate_helix_model.py 是 1e-10（refit 的 change 阈值）。引用时必须带模块名。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7269480" y="2907792"/>
            <a:ext cx="4361688" cy="1783080"/>
          </a:xfrm>
          <a:prstGeom prst="rect">
            <a:avLst/>
          </a:prstGeom>
          <a:solidFill>
            <a:srgbClr val="FCF1EC"/>
          </a:solidFill>
          <a:ln w="12700">
            <a:solidFill>
              <a:srgbClr val="FCF1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269480" y="2907792"/>
            <a:ext cx="41148" cy="1783080"/>
          </a:xfrm>
          <a:prstGeom prst="rect">
            <a:avLst/>
          </a:prstGeom>
          <a:solidFill>
            <a:srgbClr val="B5411F"/>
          </a:solidFill>
          <a:ln w="12700">
            <a:solidFill>
              <a:srgbClr val="B5411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15784" y="2971800"/>
            <a:ext cx="4087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4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converged 语义不同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415784" y="3209544"/>
            <a:ext cx="4087368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 的来自全行 decrement 驻点判据；refit 的来自 change &lt; 1e-10。refit 的 change 为零也可能是候选全被拒绝——表示迭代停止，不表示通过驻点验收。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7269480" y="4800600"/>
            <a:ext cx="4361688" cy="1627632"/>
          </a:xfrm>
          <a:prstGeom prst="rect">
            <a:avLst/>
          </a:prstGeom>
          <a:solidFill>
            <a:srgbClr val="FCF1EC"/>
          </a:solidFill>
          <a:ln w="12700">
            <a:solidFill>
              <a:srgbClr val="FCF1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69480" y="4800600"/>
            <a:ext cx="41148" cy="1627632"/>
          </a:xfrm>
          <a:prstGeom prst="rect">
            <a:avLst/>
          </a:prstGeom>
          <a:solidFill>
            <a:srgbClr val="B5411F"/>
          </a:solidFill>
          <a:ln w="12700">
            <a:solidFill>
              <a:srgbClr val="B5411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15784" y="4864608"/>
            <a:ext cx="4087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41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残差符号相反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415784" y="5102352"/>
            <a:ext cx="408736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 残差是预测减测量 h − p（三维全局，长度 3N_h）；refit 残差是测量减预测且按方差白化（二维局部，长度 2N_h）。F 不受影响，但 g = Jᵀr 的解读会反。</a:t>
            </a:r>
            <a:endParaRPr lang="en-US" sz="980" dirty="0"/>
          </a:p>
        </p:txBody>
      </p:sp>
      <p:sp>
        <p:nvSpPr>
          <p:cNvPr id="20" name="Text 17"/>
          <p:cNvSpPr/>
          <p:nvPr/>
        </p:nvSpPr>
        <p:spPr>
          <a:xfrm>
            <a:off x="566928" y="610819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D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公式以 LaTeX 生成 OMML 原生公式对象嵌入；每个公式同时保留 LaTeX 源码作为回退文本。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SMT seed 算法数学原理</dc:title>
  <dc:subject>PptxGenJS Presentation</dc:subject>
  <dc:creator>ML_Alignment</dc:creator>
  <cp:lastModifiedBy>ML_Alignment</cp:lastModifiedBy>
  <cp:revision>1</cp:revision>
  <dcterms:created xsi:type="dcterms:W3CDTF">2026-09-15T09:05:00Z</dcterms:created>
  <dcterms:modified xsi:type="dcterms:W3CDTF">2026-09-15T09:05:00Z</dcterms:modified>
</cp:coreProperties>
</file>