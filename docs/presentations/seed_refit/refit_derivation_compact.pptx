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表内求交路径 ŝᵢ 对应展示公式的 \hat s_i^\cap；只表示求交返回值。理想精确交点分支另记 s_i^\cap。平面函数 φ 不复用 seed 的单点距离目标 f，粗体局部测量 m 不与标量二次模型 m(Δ) 混淆。测量分量索引 a 仅取 0、1；不再使用 seed 推导 sinc 时的临时标量 a。t 为径迹索引时不加粗，粗体 t 为路径切向导数。本阶段 r、J 定义与 seed 相同角色但映射不同，不能将 seed 的冻结路径 J 直接移用。若在同一目标内把 r 与 J 同时反号，F、g、H 和 LM 步不变；两阶段还存在空间、白化、路径约束差异，不能仅以反号互相替代。当前主线通过零材料节点的 fit_broken_helix 复用求解器；零节点无散射先验项，内部自由度仍为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初始直线分母不满足近平行阈值时，代码用保号 ±1 避免非法除法，但 straight_valid=False，路径不会因此有效；随后还检查 s₀ 有限和 t(s₀) 的法向投影。每步更新通过 accept_newton_candidate 累积有效性，不复活失败路径。终态检查包含迭代有效性、路径与点有限、路径绝对值上界、平面残差阈值。无效位置实际调用 h(η,0)，即 r₀，不是全局坐标零点。求交不依赖 SMT 最近点路径作为 s₀；代码中的预计算 hit_s 在零节点路径不替代平面求交路径。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位置和局部测量使用 mm，方差使用 mm²，W 使用 mm⁻¹，r、F、χ² 无量纲。Fₜ 是逐径迹目标；全块统计用显式径迹索引 t。对角标准化对应代码 measured−local 除以 sqrt(clamp_min(variance,EPS_VARIANCE))；主线等价地计算残差平方除以 clamp_min(covariance,EPS_COVARIANCE)。本阶段 J 有 2Nₕ 行，其中无效分量行置零，不因单点缺少 LOC1 而改变张量宽度。零材料节点时 prior 展平长度为 0，因此没有额外材料残差。目标定义与 seed 第5页同为最小二乘，但数据空间、权重、残差方向和路径约束均已改变。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所有隐式公式在同一个精确交点处评估，省略了 t 的 η、sᵢᶜᵃᵖ 参数。由 nᵀ[B+t(ds/dθ)]=0 可见交点的全导数位于平面切空间；矩阵 I−tnᵀ/(nᵀt) 通常是斜投影，不能无条件称为正交投影。相比 seed 的 J=w∂h/∂θ|固定路径，refit 局部测量预测必须包含路径响应；不存在可直接照搬的“最近点残差与切向正交，所以路径项消失”结论。边界条件变化会改变有效分量集合，理论式仅描述固定有效分支，不对 mask 的离散变化求导。隐式函数公式是解释和核对依据，不是声称当前实现采用解析隐式求导。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这里“否则”直接对应 improved=candidate_objective&lt;current。NaN 不会通过严格小于比较，但不能将代码描述为有完整的 isfinite 候选保护。与 seed 不同，该循环没有 candidate_ok_of 初始有效点保留约束，也没有逐行 stationary 掩码；所有行均计算候选并按 improved 更新参数和阻尼。下一轮重算 r、J、H、g。每条径迹独立求解，计算按最多 2048 行分块；默认每块最多 60 轮。H 的单位依赖五维坐标，αI₅ 是在该数值坐标系中的阻尼，不能因为残差无量纲就认为 H 所有元素单位相同。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当 current 与候选目标均有限且候选未下降时，截断后的 decrease 为零；候选出现 NaN 时 change 本身可能非有限，因此不能笼统声称“任意全拒绝都使 change=0”。停止量分母 max(|F_old|,1) 是代码定义，不是 seed 的 ν/max(F,10⁻¹²)。newton_decrement 用拟合结果重建诊断参考系并重新计算 Jacobian，区别于一次拟合中固定 frame。主线 _refit_helices_gauss_newton 先检查 float64 解的非有限 ν 和非驻点比例，再由外层转换回调用方 dtype，重评目标和失效率；故不能把原 float64 驻点门限声称为对转换后参数逐项重新执行。失效率为非目标拟合 hit 中 valid=False 的比例，不是无效分量比例，默认上限 0.05，可由配置覆盖。包装层可选的 seed/refit stationarity 对比诊断不控制默认 GN 的强制驻点门限。ν 为无量纲二次型，不开平方，不等于实际目标下降，不保证全局最优。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符号衔接与算法入口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范围：固定几何、非目标层测量、单 Helix。共同推导见 seed 第 2、3、5、6 页；本稿仅展开 refit 新增部分。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沿用 seed 的定义与命名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35024"/>
          <a:ext cx="66111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056632"/>
              </a:tblGrid>
              <a:tr h="35661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 · 维度 / 单位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t, i；n, k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径迹、hit；路径 Newton、外层 LM 索引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Nₕ；T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单轨 hit 槽位数；块内径迹数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η；θ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六维几何参数；五维优化变量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h；t = hₛ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Helix 全局位置；横向弧长导数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o；e₀, e₁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一次拟合内固定的参考原点与法平面基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r；F；J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残差；½‖r‖²；本阶段残差的 Jacobian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H；g；Δ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JᵀJ；Jᵀr；五维候选步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α；M；μ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平均对角尺度；αI₅；自适应阻尼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A；ν；εμ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 + εμM；gᵀA⁻¹g；微阻尼 10⁻¹²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75504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入口：seed 输出 → 固定 gauge → refit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000" descr="\boldsymbol\eta^{(0)}=\boldsymbol\eta_{\rm seed},\quad \rho_s^{(0)}=\rho_{\rm seed}/\kappa"/>
              <p:cNvSpPr txBox="1"/>
              <p:nvPr/>
            </p:nvSpPr>
            <p:spPr>
              <a:xfrm>
                <a:off x="502920" y="5577840"/>
                <a:ext cx="6611112" cy="5486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𝜼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𝜼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𝑠𝑒𝑒𝑑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𝑠𝑒𝑒𝑑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/</m:t>
                      </m:r>
                      <m:r>
                        <a:rPr sz="2000">
                          <a:latin typeface="Cambria Math" panose="02040503050406030204"/>
                        </a:rPr>
                        <m:t>𝜅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e000" descr="\boldsymbol\eta^{(0)}=\boldsymbol\eta_{\rm seed},\quad \rho_s^{(0)}=\rho_{\rm seed}/\kapp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577840"/>
                <a:ext cx="6611112" cy="548640"/>
              </a:xfrm>
              <a:prstGeom prst="rect">
                <a:avLst/>
              </a:prstGeom>
              <a:blipFill rotWithShape="1">
                <a:blip r:embed="rId1"/>
                <a:stretch>
                  <a:fillRect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001" descr="\boldsymbol\theta=(a_0,a_1,\psi_0,\tau,\rho_s),\quad a_0^{(0)}=a_1^{(0)}=0"/>
              <p:cNvSpPr txBox="1"/>
              <p:nvPr/>
            </p:nvSpPr>
            <p:spPr>
              <a:xfrm>
                <a:off x="502920" y="6291072"/>
                <a:ext cx="6611112" cy="51206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𝜽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𝜏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𝜌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e001" descr="\boldsymbol\theta=(a_0,a_1,\psi_0,\tau,\rho_s),\quad a_0^{(0)}=a_1^{(0)}=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291072"/>
                <a:ext cx="6611112" cy="512064"/>
              </a:xfrm>
              <a:prstGeom prst="rect">
                <a:avLst/>
              </a:prstGeom>
              <a:blipFill rotWithShape="1">
                <a:blip r:embed="rId2"/>
                <a:stretch>
                  <a:fillRect t="-25" r="2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516368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Refit 新增符号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16368" y="1335024"/>
          <a:ext cx="66111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056632"/>
              </a:tblGrid>
              <a:tr h="35661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 · 维度 / 单位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cᵢ；Rᵢ；nᵢ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面中心 [mm]；局部→全局旋转；单位法向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φᵢ(s)；ŝᵢ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平面方程；求交路径估计（式中加 ∩）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mᵢ；m̂ᵢ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局部测量与预测 [2 维，mm]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a；Vᵢ,ₐ；Wᵢ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LOC0/1 索引；方差；标准化矩阵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r̃ᵢ,ₐ；rᵢ,ₐ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标准化残差；应用有效 mask 后的残差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P；Bᵢ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取前两坐标的矩阵；固定路径 ∂h/∂θ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bᵢ；Lᵢ；wᵢ,ₐ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非目标层 mask；LOC1 mask；有效分量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ε∥；εφ；εV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近平行、终态平面残差、方差保护阈值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ζₜ；Ncomp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逐轨相对下降量；有效测量分量数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516368" y="5175504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同一数学角色，本阶段单位与维度改变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002" descr="\mathbf r\in\mathbb R^{2N_h},\qquad J\in\mathbb R^{2N_h\times5}"/>
              <p:cNvSpPr txBox="1"/>
              <p:nvPr/>
            </p:nvSpPr>
            <p:spPr>
              <a:xfrm>
                <a:off x="7516368" y="5605272"/>
                <a:ext cx="6611112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𝐫</m:t>
                      </m:r>
                      <m:r>
                        <a:rPr sz="2000">
                          <a:latin typeface="Cambria Math" panose="02040503050406030204"/>
                        </a:rPr>
                        <m:t>∈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ℝ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ℎ</m:t>
                              </m:r>
                            </m:sub>
                          </m:sSub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𝐽</m:t>
                      </m:r>
                      <m:r>
                        <a:rPr sz="2000">
                          <a:latin typeface="Cambria Math" panose="02040503050406030204"/>
                        </a:rPr>
                        <m:t>∈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ℝ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ℎ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×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4" name="e002" descr="\mathbf r\in\mathbb R^{2N_h},\qquad J\in\mathbb R^{2N_h\times5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5605272"/>
                <a:ext cx="6611112" cy="502920"/>
              </a:xfrm>
              <a:prstGeom prst="rect">
                <a:avLst/>
              </a:prstGeom>
              <a:blipFill rotWithShape="1">
                <a:blip r:embed="rId3"/>
                <a:stretch>
                  <a:fillRect l="-8" t="-25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516368" y="7132320"/>
            <a:ext cx="66111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refit 的 r、F、ν 均无量纲；H 与 g 随优化坐标定标。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1736" y="6968109"/>
            <a:ext cx="55810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/>
              <a:t>κ = 10⁻⁴ mm⁻¹</a:t>
            </a:r>
            <a:r>
              <a:rPr lang="zh-CN" altLang="en-US"/>
              <a:t>；</a:t>
            </a:r>
            <a:r>
              <a:rPr lang="en-US" altLang="zh-CN"/>
              <a:t>refit </a:t>
            </a:r>
            <a:r>
              <a:rPr lang="zh-CN" altLang="en-US"/>
              <a:t>初始曲率继承 </a:t>
            </a:r>
            <a:r>
              <a:rPr lang="en-US" altLang="zh-CN"/>
              <a:t>seed，</a:t>
            </a:r>
            <a:r>
              <a:rPr lang="zh-CN" altLang="en-US"/>
              <a:t>不重置为零。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510145" y="6249035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refit：</a:t>
            </a:r>
            <a:r>
              <a:rPr lang="zh-CN" altLang="en-US"/>
              <a:t>测量减预测，再按方差标准化。</a:t>
            </a:r>
            <a:endParaRPr lang="en-US" altLang="zh-CN"/>
          </a:p>
          <a:p>
            <a:r>
              <a:rPr lang="en-US" altLang="zh-CN"/>
              <a:t>seed：</a:t>
            </a:r>
            <a:r>
              <a:rPr lang="zh-CN" altLang="en-US"/>
              <a:t>预测减测量，使用三维全局距离。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Helix 与测量面求交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实现：helix_model.py · intersect_plane / accept_newton_candidate；Helix 位置与切向公式见 seed 第 2 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固定测量面，建立一维求根方程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03" descr="\mathbf n_i=R_i\begin{bmatrix}0\\0\\1\end{bmatrix},\quad\phi_i(s)=\mathbf n_i^{\mathsf T}[\mathbf h(\boldsymbol\eta,s)-\mathbf c_i]"/>
              <p:cNvSpPr txBox="1"/>
              <p:nvPr/>
            </p:nvSpPr>
            <p:spPr>
              <a:xfrm>
                <a:off x="502920" y="1353312"/>
                <a:ext cx="6611112" cy="9601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35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1935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35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35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1935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35">
                          <a:latin typeface="Cambria Math" panose="02040503050406030204"/>
                        </a:rPr>
                        <m:t>[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/>
                          </m:ctrlPr>
                        </m:mPr>
                        <m:mr>
                          <m:e>
                            <m:r>
                              <a:rPr sz="1935">
                                <a:latin typeface="Cambria Math" panose="02040503050406030204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sz="1935">
                                <a:latin typeface="Cambria Math" panose="02040503050406030204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sz="1935">
                                <a:latin typeface="Cambria Math" panose="02040503050406030204"/>
                              </a:rPr>
                              <m:t>1</m:t>
                            </m:r>
                          </m:e>
                        </m:mr>
                      </m:m>
                      <m:r>
                        <a:rPr sz="1935">
                          <a:latin typeface="Cambria Math" panose="02040503050406030204"/>
                        </a:rPr>
                        <m:t>]</m:t>
                      </m:r>
                      <m:r>
                        <a:rPr sz="1935">
                          <a:latin typeface="Cambria Math" panose="02040503050406030204"/>
                        </a:rPr>
                        <m:t>,</m:t>
                      </m:r>
                      <m:r>
                        <a:rPr sz="1935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35">
                              <a:latin typeface="Cambria Math" panose="02040503050406030204"/>
                            </a:rPr>
                            <m:t>𝜙</m:t>
                          </m:r>
                        </m:e>
                        <m:sub>
                          <m:r>
                            <a:rPr sz="1935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35">
                          <a:latin typeface="Cambria Math" panose="02040503050406030204"/>
                        </a:rPr>
                        <m:t>(</m:t>
                      </m:r>
                      <m:r>
                        <a:rPr sz="1935">
                          <a:latin typeface="Cambria Math" panose="02040503050406030204"/>
                        </a:rPr>
                        <m:t>𝑠</m:t>
                      </m:r>
                      <m:r>
                        <a:rPr sz="1935">
                          <a:latin typeface="Cambria Math" panose="02040503050406030204"/>
                        </a:rPr>
                        <m:t>)</m:t>
                      </m:r>
                      <m:r>
                        <a:rPr sz="1935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35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1935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1935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35">
                          <a:latin typeface="Cambria Math" panose="02040503050406030204"/>
                        </a:rPr>
                        <m:t>[</m:t>
                      </m:r>
                      <m:r>
                        <a:rPr sz="1935">
                          <a:latin typeface="Cambria Math" panose="02040503050406030204"/>
                        </a:rPr>
                        <m:t>𝐡</m:t>
                      </m:r>
                      <m:r>
                        <a:rPr sz="1935">
                          <a:latin typeface="Cambria Math" panose="02040503050406030204"/>
                        </a:rPr>
                        <m:t>(</m:t>
                      </m:r>
                      <m:r>
                        <a:rPr sz="1935">
                          <a:latin typeface="Cambria Math" panose="02040503050406030204"/>
                        </a:rPr>
                        <m:t>𝜼</m:t>
                      </m:r>
                      <m:r>
                        <a:rPr sz="1935">
                          <a:latin typeface="Cambria Math" panose="02040503050406030204"/>
                        </a:rPr>
                        <m:t>,</m:t>
                      </m:r>
                      <m:r>
                        <a:rPr sz="1935">
                          <a:latin typeface="Cambria Math" panose="02040503050406030204"/>
                        </a:rPr>
                        <m:t>𝑠</m:t>
                      </m:r>
                      <m:r>
                        <a:rPr sz="1935">
                          <a:latin typeface="Cambria Math" panose="02040503050406030204"/>
                        </a:rPr>
                        <m:t>)</m:t>
                      </m:r>
                      <m:r>
                        <a:rPr sz="1935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35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1935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35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003" descr="\mathbf n_i=R_i\begin{bmatrix}0\\0\\1\end{bmatrix},\quad\phi_i(s)=\mathbf n_i^{\mathsf T}[\mathbf h(\boldsymbol\eta,s)-\mathbf c_i]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53312"/>
                <a:ext cx="6611112" cy="960120"/>
              </a:xfrm>
              <a:prstGeom prst="rect">
                <a:avLst/>
              </a:prstGeom>
              <a:blipFill rotWithShape="1">
                <a:blip r:embed="rId1"/>
                <a:stretch>
                  <a:fillRect t="-13" r="2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04" descr="\phi_i(s)=0,\qquad\phi_i^{\prime}(s)=\mathbf n_i^{\mathsf T}\mathbf t(s)"/>
              <p:cNvSpPr txBox="1"/>
              <p:nvPr/>
            </p:nvSpPr>
            <p:spPr>
              <a:xfrm>
                <a:off x="502920" y="2514600"/>
                <a:ext cx="6611112" cy="5486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𝜙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0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𝜙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𝐭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004" descr="\phi_i(s)=0,\qquad\phi_i^{\prime}(s)=\mathbf n_i^{\mathsf T}\mathbf t(s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514600"/>
                <a:ext cx="6611112" cy="548640"/>
              </a:xfrm>
              <a:prstGeom prst="rect">
                <a:avLst/>
              </a:prstGeom>
              <a:blipFill rotWithShape="1">
                <a:blip r:embed="rId2"/>
                <a:stretch>
                  <a:fillRect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02920" y="4114800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切线近似提供路径初值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005" descr="\mathbf h(\boldsymbol\eta,s)\approx\mathbf r_0+s\mathbf t(0)"/>
              <p:cNvSpPr txBox="1"/>
              <p:nvPr/>
            </p:nvSpPr>
            <p:spPr>
              <a:xfrm>
                <a:off x="502920" y="4526280"/>
                <a:ext cx="6611112" cy="49377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𝜼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≈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𝐭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0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e005" descr="\mathbf h(\boldsymbol\eta,s)\approx\mathbf r_0+s\mathbf t(0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526280"/>
                <a:ext cx="6611112" cy="493776"/>
              </a:xfrm>
              <a:prstGeom prst="rect">
                <a:avLst/>
              </a:prstGeom>
              <a:blipFill rotWithShape="1">
                <a:blip r:embed="rId3"/>
                <a:stretch>
                  <a:fillRect r="2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06" descr="s_0=\frac{\mathbf n_i^{\mathsf T}(\mathbf c_i-\mathbf r_0)}{\mathbf n_i^{\mathsf T}\mathbf t(0)}"/>
              <p:cNvSpPr txBox="1"/>
              <p:nvPr/>
            </p:nvSpPr>
            <p:spPr>
              <a:xfrm>
                <a:off x="502920" y="5230368"/>
                <a:ext cx="6611112" cy="7315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55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055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55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55">
                                  <a:latin typeface="Cambria Math" panose="02040503050406030204"/>
                                </a:rPr>
                                <m:t>𝐧</m:t>
                              </m:r>
                            </m:e>
                            <m:sub>
                              <m:r>
                                <a:rPr sz="2055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2055">
                                  <a:latin typeface="Cambria Math" panose="02040503050406030204"/>
                                </a:rPr>
                                <m:t>𝖳</m:t>
                              </m:r>
                            </m:sup>
                          </m:sSubSup>
                          <m:r>
                            <a:rPr sz="2055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55">
                                  <a:latin typeface="Cambria Math" panose="02040503050406030204"/>
                                </a:rPr>
                                <m:t>𝐜</m:t>
                              </m:r>
                            </m:e>
                            <m:sub>
                              <m:r>
                                <a:rPr sz="2055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  <m:r>
                            <a:rPr sz="2055">
                              <a:latin typeface="Cambria Math" panose="02040503050406030204"/>
                            </a:rPr>
                            <m:t>−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55">
                                  <a:latin typeface="Cambria Math" panose="02040503050406030204"/>
                                </a:rPr>
                                <m:t>𝐫</m:t>
                              </m:r>
                            </m:e>
                            <m:sub>
                              <m:r>
                                <a:rPr sz="2055">
                                  <a:latin typeface="Cambria Math" panose="02040503050406030204"/>
                                </a:rPr>
                                <m:t>0</m:t>
                              </m:r>
                            </m:sub>
                          </m:sSub>
                          <m:r>
                            <a:rPr sz="2055">
                              <a:latin typeface="Cambria Math" panose="02040503050406030204"/>
                            </a:rPr>
                            <m:t>)</m:t>
                          </m:r>
                        </m:num>
                        <m:den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55">
                                  <a:latin typeface="Cambria Math" panose="02040503050406030204"/>
                                </a:rPr>
                                <m:t>𝐧</m:t>
                              </m:r>
                            </m:e>
                            <m:sub>
                              <m:r>
                                <a:rPr sz="2055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2055">
                                  <a:latin typeface="Cambria Math" panose="02040503050406030204"/>
                                </a:rPr>
                                <m:t>𝖳</m:t>
                              </m:r>
                            </m:sup>
                          </m:sSubSup>
                          <m:r>
                            <a:rPr sz="2055">
                              <a:latin typeface="Cambria Math" panose="02040503050406030204"/>
                            </a:rPr>
                            <m:t>𝐭</m:t>
                          </m:r>
                          <m:r>
                            <a:rPr sz="2055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55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55">
                              <a:latin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1" name="e006" descr="s_0=\frac{\mathbf n_i^{\mathsf T}(\mathbf c_i-\mathbf r_0)}{\mathbf n_i^{\mathsf T}\mathbf t(0)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230368"/>
                <a:ext cx="6611112" cy="731520"/>
              </a:xfrm>
              <a:prstGeom prst="rect">
                <a:avLst/>
              </a:prstGeom>
              <a:blipFill rotWithShape="1">
                <a:blip r:embed="rId4"/>
                <a:stretch>
                  <a:fillRect t="-6233" r="2" b="-62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007" descr="s_{n+1}=s_n-\frac{\phi_i(s_n)}{\phi_i^{\prime}(s_n)}"/>
              <p:cNvSpPr txBox="1"/>
              <p:nvPr/>
            </p:nvSpPr>
            <p:spPr>
              <a:xfrm>
                <a:off x="502920" y="6629400"/>
                <a:ext cx="6611112" cy="7132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𝑛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+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−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𝜙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  <m:r>
                            <a:rPr sz="21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𝑛</m:t>
                              </m:r>
                            </m:sub>
                          </m:sSub>
                          <m:r>
                            <a:rPr sz="2100">
                              <a:latin typeface="Cambria Math" panose="02040503050406030204"/>
                            </a:rPr>
                            <m:t>)</m:t>
                          </m:r>
                        </m:num>
                        <m:den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𝜙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2100">
                                  <a:latin typeface="Cambria Math" panose="02040503050406030204"/>
                                </a:rPr>
                                <m:t>′</m:t>
                              </m:r>
                            </m:sup>
                          </m:sSubSup>
                          <m:r>
                            <a:rPr sz="21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𝑛</m:t>
                              </m:r>
                            </m:sub>
                          </m:sSub>
                          <m:r>
                            <a:rPr sz="2100">
                              <a:latin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3" name="e007" descr="s_{n+1}=s_n-\frac{\phi_i(s_n)}{\phi_i^{\prime}(s_n)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629400"/>
                <a:ext cx="6611112" cy="713232"/>
              </a:xfrm>
              <a:prstGeom prst="rect">
                <a:avLst/>
              </a:prstGeom>
              <a:blipFill rotWithShape="1">
                <a:blip r:embed="rId5"/>
                <a:stretch>
                  <a:fillRect t="-2404" r="2" b="-2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516368" y="1353312"/>
            <a:ext cx="661111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默认执行 12 次 Newton；ε∥ = 10⁻⁶。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初始化检查 t(0) 与 t(s₀) 的法向投影绝对值。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008" descr="|\mathbf n_i^{\mathsf T}\mathbf t(0)|\ge\varepsilon_\parallel,\quad |\mathbf n_i^{\mathsf T}\mathbf t(s_0)|\ge\varepsilon_\parallel"/>
              <p:cNvSpPr txBox="1"/>
              <p:nvPr/>
            </p:nvSpPr>
            <p:spPr>
              <a:xfrm>
                <a:off x="7516368" y="2313496"/>
                <a:ext cx="6611112" cy="34734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|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𝐭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≥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𝜀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∥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|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𝐭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|≥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𝜀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∥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6" name="e008" descr="|\mathbf n_i^{\mathsf T}\mathbf t(0)|\ge\varepsilon_\parallel,\quad |\mathbf n_i^{\mathsf T}\mathbf t(s_0)|\ge\varepsilon_\paralle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313496"/>
                <a:ext cx="6611112" cy="347345"/>
              </a:xfrm>
              <a:prstGeom prst="rect">
                <a:avLst/>
              </a:prstGeom>
              <a:blipFill rotWithShape="1">
                <a:blip r:embed="rId6"/>
                <a:stretch>
                  <a:fillRect l="-8" t="-5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7516368" y="4828032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5  终态检查与适用边界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009" descr="|\phi_i(\hat s_i^\cap)|\le\varepsilon_\phi=10^{-3}\ {\rm mm}"/>
              <p:cNvSpPr txBox="1"/>
              <p:nvPr/>
            </p:nvSpPr>
            <p:spPr>
              <a:xfrm>
                <a:off x="7516368" y="5230368"/>
                <a:ext cx="6611112" cy="5943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|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𝜙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lim>
                              <m:r>
                                <a:rPr sz="2000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∩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|≤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𝜀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𝜙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3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𝑚𝑚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0" name="e009" descr="|\phi_i(\hat s_i^\cap)|\le\varepsilon_\phi=10^{-3}\ {\rm mm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5230368"/>
                <a:ext cx="6611112" cy="594360"/>
              </a:xfrm>
              <a:prstGeom prst="rect">
                <a:avLst/>
              </a:prstGeom>
              <a:blipFill rotWithShape="1">
                <a:blip r:embed="rId7"/>
                <a:stretch>
                  <a:fillRect l="-8" t="-85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7516368" y="6885432"/>
            <a:ext cx="66111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近平行指切向与面近似平行；函数求无限平面交点，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不检查传感器有限边界，也不证明交点全局唯一。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35305" y="3220720"/>
            <a:ext cx="5276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这里求曲线穿过测量面的位置；不最小化点到曲线距离。</a:t>
            </a:r>
            <a:r>
              <a:rPr lang="en-US" altLang="zh-CN"/>
              <a:t>𝑅</a:t>
            </a:r>
            <a:r>
              <a:rPr lang="" altLang="en-US"/>
              <a:t>ᵢ</a:t>
            </a:r>
            <a:r>
              <a:rPr lang="zh-CN" altLang="en-US"/>
              <a:t>为正交旋转矩阵，几何在 </a:t>
            </a:r>
            <a:r>
              <a:rPr lang="en-US" altLang="zh-CN"/>
              <a:t>refit </a:t>
            </a:r>
            <a:r>
              <a:rPr lang="zh-CN" altLang="en-US"/>
              <a:t>中固定。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0215" y="626618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 Newton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求根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55510" y="93281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实际数值保护与有效性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42200" y="3187065"/>
            <a:ext cx="55822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每次候选须有限、</a:t>
            </a:r>
            <a:r>
              <a:rPr lang="en-US" altLang="zh-CN"/>
              <a:t>|</a:t>
            </a:r>
            <a:r>
              <a:rPr lang="en-US" altLang="zh-CN"/>
              <a:t>𝑠</a:t>
            </a:r>
            <a:r>
              <a:rPr lang="en-US" altLang="zh-CN"/>
              <a:t>| ≤ </a:t>
            </a:r>
            <a:r>
              <a:rPr lang="en-US" altLang="zh-CN"/>
              <a:t>1200</a:t>
            </a:r>
            <a:r>
              <a:rPr lang="en-US" altLang="zh-CN"/>
              <a:t> </a:t>
            </a:r>
            <a:r>
              <a:rPr lang="en-US" altLang="zh-CN"/>
              <a:t>𝑚𝑚</a:t>
            </a:r>
            <a:r>
              <a:rPr lang="zh-CN" altLang="en-US"/>
              <a:t>，，且当前导数绝对值 ≥ </a:t>
            </a:r>
            <a:r>
              <a:rPr lang="en-US" altLang="zh-CN"/>
              <a:t>ε∥。</a:t>
            </a:r>
            <a:r>
              <a:rPr lang="zh-CN" altLang="en-US"/>
              <a:t>失败即保留旧路径并永久标无效</a:t>
            </a:r>
            <a:r>
              <a:rPr>
                <a:sym typeface="+mn-ea"/>
              </a:rPr>
              <a:t>不能把分母保护解释为允许近平行求交。</a:t>
            </a:r>
            <a:endParaRPr>
              <a:sym typeface="+mn-ea"/>
            </a:endParaRPr>
          </a:p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459345" y="6104255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终态还要求路径、位置有限且未越界。</a:t>
            </a:r>
            <a:endParaRPr lang="en-US" altLang="zh-CN"/>
          </a:p>
          <a:p>
            <a:r>
              <a:rPr lang="zh-CN" altLang="en-US"/>
              <a:t>无效时返回路径 0、参考点 </a:t>
            </a:r>
            <a:r>
              <a:rPr lang="en-US" altLang="zh-CN"/>
              <a:t>r₀ </a:t>
            </a:r>
            <a:r>
              <a:rPr lang="zh-CN" altLang="en-US"/>
              <a:t>和 </a:t>
            </a:r>
            <a:r>
              <a:rPr lang="en-US" altLang="zh-CN"/>
              <a:t>valid = False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局部预测、方差标准化与 half-χ²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实现：validate_helix_model.py · broken_helix_local_prediction / _standardized_residual；ml_alignment_autograd.py · _measurement_refit_objective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全局交点 → 测量面的局部坐标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10" descr="P=\begin{bmatrix}1&amp;0&amp;0\\0&amp;1&amp;0\end{bmatrix}"/>
              <p:cNvSpPr txBox="1"/>
              <p:nvPr/>
            </p:nvSpPr>
            <p:spPr>
              <a:xfrm>
                <a:off x="502920" y="1335024"/>
                <a:ext cx="6611112" cy="78638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𝑃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[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/>
                          </m:ctrlPr>
                        </m:mPr>
                        <m:mr>
                          <m:e>
                            <m:r>
                              <a:rPr sz="2000">
                                <a:latin typeface="Cambria Math" panose="02040503050406030204"/>
                              </a:rPr>
                              <m:t>1</m:t>
                            </m:r>
                          </m:e>
                          <m:e>
                            <m:r>
                              <a:rPr sz="2000">
                                <a:latin typeface="Cambria Math" panose="02040503050406030204"/>
                              </a:rPr>
                              <m:t>0</m:t>
                            </m:r>
                          </m:e>
                          <m:e>
                            <m:r>
                              <a:rPr sz="2000">
                                <a:latin typeface="Cambria Math" panose="02040503050406030204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sz="2000">
                                <a:latin typeface="Cambria Math" panose="02040503050406030204"/>
                              </a:rPr>
                              <m:t>0</m:t>
                            </m:r>
                          </m:e>
                          <m:e>
                            <m:r>
                              <a:rPr sz="2000">
                                <a:latin typeface="Cambria Math" panose="02040503050406030204"/>
                              </a:rPr>
                              <m:t>1</m:t>
                            </m:r>
                          </m:e>
                          <m:e>
                            <m:r>
                              <a:rPr sz="2000">
                                <a:latin typeface="Cambria Math" panose="02040503050406030204"/>
                              </a:rPr>
                              <m:t>0</m:t>
                            </m:r>
                          </m:e>
                        </m:mr>
                      </m:m>
                      <m:r>
                        <a:rPr sz="2000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010" descr="P=\begin{bmatrix}1&amp;0&amp;0\\0&amp;1&amp;0\end{b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35024"/>
                <a:ext cx="6611112" cy="786384"/>
              </a:xfrm>
              <a:prstGeom prst="rect">
                <a:avLst/>
              </a:prstGeom>
              <a:blipFill rotWithShape="1">
                <a:blip r:embed="rId1"/>
                <a:stretch>
                  <a:fillRect t="-32" r="2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11" descr="\widehat{\mathbf m}_i=P R_i^{\mathsf T}[\mathbf h(\boldsymbol\eta,\hat s_i^\cap)-\mathbf c_i]"/>
              <p:cNvSpPr txBox="1"/>
              <p:nvPr/>
            </p:nvSpPr>
            <p:spPr>
              <a:xfrm>
                <a:off x="502920" y="2331720"/>
                <a:ext cx="661111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𝐦</m:t>
                              </m:r>
                            </m:e>
                            <m:lim>
                              <m:r>
                                <a:rPr sz="2000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𝑃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[</m:t>
                      </m:r>
                      <m:r>
                        <a:rPr sz="2000">
                          <a:latin typeface="Cambria Math" panose="02040503050406030204"/>
                        </a:rPr>
                        <m:t>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𝜼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lim>
                              <m:r>
                                <a:rPr sz="2000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∩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011" descr="\widehat{\mathbf m}_i=P R_i^{\mathsf T}[\mathbf h(\boldsymbol\eta,\hat s_i^\cap)-\mathbf c_i]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331720"/>
                <a:ext cx="6611112" cy="530352"/>
              </a:xfrm>
              <a:prstGeom prst="rect">
                <a:avLst/>
              </a:prstGeom>
              <a:blipFill rotWithShape="1">
                <a:blip r:embed="rId2"/>
                <a:stretch>
                  <a:fillRect r="2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02920" y="3941063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测量减预测 → 按分量方差标准化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012" descr="\widetilde r_{i,a}=\frac{m_{i,a}-\widehat m_{i,a}}{\sqrt{\max(V_{i,a},\varepsilon_V)}},\quad a\in\{0,1\}"/>
              <p:cNvSpPr txBox="1"/>
              <p:nvPr/>
            </p:nvSpPr>
            <p:spPr>
              <a:xfrm>
                <a:off x="502920" y="4361688"/>
                <a:ext cx="6611112" cy="7315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1980">
                                  <a:latin typeface="Cambria Math" panose="02040503050406030204"/>
                                </a:rPr>
                                <m:t>𝑟</m:t>
                              </m:r>
                            </m:e>
                            <m:lim>
                              <m:r>
                                <a:rPr sz="1980">
                                  <a:latin typeface="Cambria Math" panose="02040503050406030204"/>
                                </a:rPr>
                                <m:t>~</m:t>
                              </m:r>
                            </m:lim>
                          </m:limUpp>
                        </m:e>
                        <m:sub>
                          <m:r>
                            <a:rPr sz="198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198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80">
                              <a:latin typeface="Cambria Math" panose="02040503050406030204"/>
                            </a:rPr>
                            <m:t>𝑎</m:t>
                          </m:r>
                        </m:sub>
                      </m:sSub>
                      <m:r>
                        <a:rPr sz="198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80">
                                  <a:latin typeface="Cambria Math" panose="02040503050406030204"/>
                                </a:rPr>
                                <m:t>𝑚</m:t>
                              </m:r>
                            </m:e>
                            <m:sub>
                              <m:r>
                                <a:rPr sz="1980">
                                  <a:latin typeface="Cambria Math" panose="02040503050406030204"/>
                                </a:rPr>
                                <m:t>𝑖</m:t>
                              </m:r>
                              <m:r>
                                <a:rPr sz="1980"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sz="1980">
                                  <a:latin typeface="Cambria Math" panose="02040503050406030204"/>
                                </a:rPr>
                                <m:t>𝑎</m:t>
                              </m:r>
                            </m:sub>
                          </m:sSub>
                          <m:r>
                            <a:rPr sz="1980">
                              <a:latin typeface="Cambria Math" panose="02040503050406030204"/>
                            </a:rPr>
                            <m:t>−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/>
                                  </m:ctrlPr>
                                </m:limUppPr>
                                <m:e>
                                  <m:r>
                                    <a:rPr sz="1980">
                                      <a:latin typeface="Cambria Math" panose="02040503050406030204"/>
                                    </a:rPr>
                                    <m:t>𝑚</m:t>
                                  </m:r>
                                </m:e>
                                <m:lim>
                                  <m:r>
                                    <a:rPr sz="1980">
                                      <a:latin typeface="Cambria Math" panose="02040503050406030204"/>
                                    </a:rPr>
                                    <m:t>ˆ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1980">
                                  <a:latin typeface="Cambria Math" panose="02040503050406030204"/>
                                </a:rPr>
                                <m:t>𝑖</m:t>
                              </m:r>
                              <m:r>
                                <a:rPr sz="1980"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sz="1980">
                                  <a:latin typeface="Cambria Math" panose="02040503050406030204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/>
                              </m:ctrlPr>
                            </m:radPr>
                            <m:deg/>
                            <m:e>
                              <m:r>
                                <a:rPr sz="1980">
                                  <a:latin typeface="Cambria Math" panose="02040503050406030204"/>
                                </a:rPr>
                                <m:t>𝑚𝑎𝑥</m:t>
                              </m:r>
                              <m:r>
                                <a:rPr sz="1980">
                                  <a:latin typeface="Cambria Math" panose="02040503050406030204"/>
                                </a:rPr>
                                <m:t>⁡</m:t>
                              </m:r>
                              <m:r>
                                <a:rPr sz="1980">
                                  <a:latin typeface="Cambria Math" panose="02040503050406030204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sz="1980">
                                      <a:latin typeface="Cambria Math" panose="02040503050406030204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sz="1980">
                                      <a:latin typeface="Cambria Math" panose="02040503050406030204"/>
                                    </a:rPr>
                                    <m:t>𝑖</m:t>
                                  </m:r>
                                  <m:r>
                                    <a:rPr sz="1980">
                                      <a:latin typeface="Cambria Math" panose="02040503050406030204"/>
                                    </a:rPr>
                                    <m:t>,</m:t>
                                  </m:r>
                                  <m:r>
                                    <a:rPr sz="1980">
                                      <a:latin typeface="Cambria Math" panose="02040503050406030204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sz="1980">
                                  <a:latin typeface="Cambria Math" panose="02040503050406030204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sz="1980">
                                      <a:latin typeface="Cambria Math" panose="02040503050406030204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sz="1980">
                                      <a:latin typeface="Cambria Math" panose="02040503050406030204"/>
                                    </a:rPr>
                                    <m:t>𝑉</m:t>
                                  </m:r>
                                </m:sub>
                              </m:sSub>
                              <m:r>
                                <a:rPr sz="1980">
                                  <a:latin typeface="Cambria Math" panose="02040503050406030204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sz="1980">
                          <a:latin typeface="Cambria Math" panose="02040503050406030204"/>
                        </a:rPr>
                        <m:t>,</m:t>
                      </m:r>
                      <m:r>
                        <a:rPr sz="1980">
                          <a:latin typeface="Cambria Math" panose="02040503050406030204"/>
                        </a:rPr>
                        <m:t> </m:t>
                      </m:r>
                      <m:r>
                        <a:rPr sz="1980">
                          <a:latin typeface="Cambria Math" panose="02040503050406030204"/>
                        </a:rPr>
                        <m:t>𝑎</m:t>
                      </m:r>
                      <m:r>
                        <a:rPr sz="1980">
                          <a:latin typeface="Cambria Math" panose="02040503050406030204"/>
                        </a:rPr>
                        <m:t>∈</m:t>
                      </m:r>
                      <m:r>
                        <a:rPr sz="1980">
                          <a:latin typeface="Cambria Math" panose="02040503050406030204"/>
                        </a:rPr>
                        <m:t>{</m:t>
                      </m:r>
                      <m:r>
                        <a:rPr sz="1980">
                          <a:latin typeface="Cambria Math" panose="02040503050406030204"/>
                        </a:rPr>
                        <m:t>0</m:t>
                      </m:r>
                      <m:r>
                        <a:rPr sz="1980">
                          <a:latin typeface="Cambria Math" panose="02040503050406030204"/>
                        </a:rPr>
                        <m:t>,</m:t>
                      </m:r>
                      <m:r>
                        <a:rPr sz="1980">
                          <a:latin typeface="Cambria Math" panose="02040503050406030204"/>
                        </a:rPr>
                        <m:t>1</m:t>
                      </m:r>
                      <m:r>
                        <a:rPr sz="1980">
                          <a:latin typeface="Cambria Math" panose="02040503050406030204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e012" descr="\widetilde r_{i,a}=\frac{m_{i,a}-\widehat m_{i,a}}{\sqrt{\max(V_{i,a},\varepsilon_V)}},\quad a\in\{0,1\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361688"/>
                <a:ext cx="6611112" cy="731520"/>
              </a:xfrm>
              <a:prstGeom prst="rect">
                <a:avLst/>
              </a:prstGeom>
              <a:blipFill rotWithShape="1">
                <a:blip r:embed="rId3"/>
                <a:stretch>
                  <a:fillRect t="-13611" r="2" b="-13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13" descr="W_i=\operatorname{diag}_{a=0,1}\left[\max(V_{i,a},\varepsilon_V)^{-1/2}\right]"/>
              <p:cNvSpPr txBox="1"/>
              <p:nvPr/>
            </p:nvSpPr>
            <p:spPr>
              <a:xfrm>
                <a:off x="502920" y="5276088"/>
                <a:ext cx="6611112" cy="62179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𝑊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𝑑𝑖𝑎𝑔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=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[</m:t>
                      </m:r>
                      <m:r>
                        <a:rPr sz="1900">
                          <a:latin typeface="Cambria Math" panose="02040503050406030204"/>
                        </a:rPr>
                        <m:t>𝑚𝑎𝑥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𝑉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𝑖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𝑎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𝜀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𝑉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/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2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e013" descr="W_i=\operatorname{diag}_{a=0,1}\left[\max(V_{i,a},\varepsilon_V)^{-1/2}\right]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276088"/>
                <a:ext cx="6611112" cy="621792"/>
              </a:xfrm>
              <a:prstGeom prst="rect">
                <a:avLst/>
              </a:prstGeom>
              <a:blipFill rotWithShape="1">
                <a:blip r:embed="rId4"/>
                <a:stretch>
                  <a:fillRect t="-82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02920" y="7004304"/>
            <a:ext cx="66111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标准化后残差无量纲；平方和即本实现采用的 χ²。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3  分量有效性：非目标层 ∩ 求交成功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014" descr="w_{i,0}=b_i\land\operatorname{valid}_i,\quad w_{i,1}=w_{i,0}\land L_i"/>
              <p:cNvSpPr txBox="1"/>
              <p:nvPr/>
            </p:nvSpPr>
            <p:spPr>
              <a:xfrm>
                <a:off x="7516368" y="1335024"/>
                <a:ext cx="661111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∧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𝑣𝑎𝑙𝑖𝑑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∧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𝐿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" name="e014" descr="w_{i,0}=b_i\land\operatorname{valid}_i,\quad w_{i,1}=w_{i,0}\land L_i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35024"/>
                <a:ext cx="6611112" cy="530352"/>
              </a:xfrm>
              <a:prstGeom prst="rect">
                <a:avLst/>
              </a:prstGeom>
              <a:blipFill rotWithShape="1">
                <a:blip r:embed="rId5"/>
                <a:stretch>
                  <a:fillRect l="-8" t="-48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015" descr="r_{i,a}=\begin{cases}\widetilde r_{i,a},&amp;w_{i,a}=1\\0,&amp;w_{i,a}=0\end{cases}"/>
              <p:cNvSpPr txBox="1"/>
              <p:nvPr/>
            </p:nvSpPr>
            <p:spPr>
              <a:xfrm>
                <a:off x="7516368" y="2066543"/>
                <a:ext cx="6611112" cy="78638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𝑟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𝑎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{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/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limUpp>
                                  <m:limUppPr>
                                    <m:ctrlPr>
                                      <a:rPr/>
                                    </m:ctrlPr>
                                  </m:limUppPr>
                                  <m:e>
                                    <m:r>
                                      <a:rPr sz="2000">
                                        <a:latin typeface="Cambria Math" panose="02040503050406030204"/>
                                      </a:rPr>
                                      <m:t>𝑟</m:t>
                                    </m:r>
                                  </m:e>
                                  <m:lim>
                                    <m:r>
                                      <a:rPr sz="2000">
                                        <a:latin typeface="Cambria Math" panose="02040503050406030204"/>
                                      </a:rPr>
                                      <m:t>~</m:t>
                                    </m:r>
                                  </m:lim>
                                </m:limUpp>
                              </m:e>
                              <m:sub>
                                <m:r>
                                  <a:rPr sz="2000">
                                    <a:latin typeface="Cambria Math" panose="02040503050406030204"/>
                                  </a:rPr>
                                  <m:t>𝑖</m:t>
                                </m:r>
                                <m:r>
                                  <a:rPr sz="2000">
                                    <a:latin typeface="Cambria Math" panose="02040503050406030204"/>
                                  </a:rPr>
                                  <m:t>,</m:t>
                                </m:r>
                                <m:r>
                                  <a:rPr sz="2000">
                                    <a:latin typeface="Cambria Math" panose="02040503050406030204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sz="20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2000">
                                    <a:latin typeface="Cambria Math" panose="02040503050406030204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sz="2000">
                                    <a:latin typeface="Cambria Math" panose="02040503050406030204"/>
                                  </a:rPr>
                                  <m:t>𝑖</m:t>
                                </m:r>
                                <m:r>
                                  <a:rPr sz="2000">
                                    <a:latin typeface="Cambria Math" panose="02040503050406030204"/>
                                  </a:rPr>
                                  <m:t>,</m:t>
                                </m:r>
                                <m:r>
                                  <a:rPr sz="2000">
                                    <a:latin typeface="Cambria Math" panose="02040503050406030204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sz="200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sz="2000">
                                <a:latin typeface="Cambria Math" panose="02040503050406030204"/>
                              </a:rPr>
                              <m:t>0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2000">
                                    <a:latin typeface="Cambria Math" panose="02040503050406030204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sz="2000">
                                    <a:latin typeface="Cambria Math" panose="02040503050406030204"/>
                                  </a:rPr>
                                  <m:t>𝑖</m:t>
                                </m:r>
                                <m:r>
                                  <a:rPr sz="2000">
                                    <a:latin typeface="Cambria Math" panose="02040503050406030204"/>
                                  </a:rPr>
                                  <m:t>,</m:t>
                                </m:r>
                                <m:r>
                                  <a:rPr sz="2000">
                                    <a:latin typeface="Cambria Math" panose="02040503050406030204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sz="200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  <mc:Fallback>
          <p:sp>
            <p:nvSpPr>
              <p:cNvPr id="16" name="e015" descr="r_{i,a}=\begin{cases}\widetilde r_{i,a},&amp;w_{i,a}=1\\0,&amp;w_{i,a}=0\end{case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066543"/>
                <a:ext cx="6611112" cy="786384"/>
              </a:xfrm>
              <a:prstGeom prst="rect">
                <a:avLst/>
              </a:prstGeom>
              <a:blipFill rotWithShape="1">
                <a:blip r:embed="rId6"/>
                <a:stretch>
                  <a:fillRect l="-8" t="-32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516368" y="3886200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堆叠残差 → 优化目标与报告量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016" descr="\mathbf r=\operatorname{col}(\mathbf r_1,\ldots,\mathbf r_{N_h})\in\mathbb R^{2N_h}"/>
              <p:cNvSpPr txBox="1"/>
              <p:nvPr/>
            </p:nvSpPr>
            <p:spPr>
              <a:xfrm>
                <a:off x="7516368" y="4288536"/>
                <a:ext cx="6611112" cy="5669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𝐫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𝑐𝑜𝑙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,…,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ℎ</m:t>
                              </m:r>
                            </m:sub>
                          </m:sSub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∈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ℝ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2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ℎ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9" name="e016" descr="\mathbf r=\operatorname{col}(\mathbf r_1,\ldots,\mathbf r_{N_h})\in\mathbb R^{2N_h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4288536"/>
                <a:ext cx="6611112" cy="566928"/>
              </a:xfrm>
              <a:prstGeom prst="rect">
                <a:avLst/>
              </a:prstGeom>
              <a:blipFill rotWithShape="1">
                <a:blip r:embed="rId7"/>
                <a:stretch>
                  <a:fillRect l="-8" t="-67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017" descr="F_t=\frac12\sum_{i,a}r_{ti,a}^2,\quad\chi^2=2\sum_t F_t"/>
              <p:cNvSpPr txBox="1"/>
              <p:nvPr/>
            </p:nvSpPr>
            <p:spPr>
              <a:xfrm>
                <a:off x="7516368" y="5027422"/>
                <a:ext cx="6611112" cy="698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70">
                              <a:latin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sz="1870">
                              <a:latin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sz="187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87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187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limLoc m:val="subSup"/>
                          <m:supHide m:val="on"/>
                          <m:ctrlPr>
                            <a:rPr/>
                          </m:ctrlPr>
                        </m:naryPr>
                        <m:sub>
                          <m:r>
                            <a:rPr sz="187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187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870">
                              <a:latin typeface="Cambria Math" panose="02040503050406030204"/>
                            </a:rPr>
                            <m:t>𝑎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/>
                                </a:rPr>
                                <m:t>𝑟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/>
                                </a:rPr>
                                <m:t>𝑡𝑖</m:t>
                              </m:r>
                              <m:r>
                                <a:rPr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/>
                                </a:rPr>
                                <m:t>𝑎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sz="1870">
                          <a:latin typeface="Cambria Math" panose="02040503050406030204"/>
                        </a:rPr>
                        <m:t>,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70">
                              <a:latin typeface="Cambria Math" panose="02040503050406030204"/>
                            </a:rPr>
                            <m:t>𝜒</m:t>
                          </m:r>
                        </m:e>
                        <m:sup>
                          <m:r>
                            <a:rPr sz="1870">
                              <a:latin typeface="Cambria Math" panose="02040503050406030204"/>
                            </a:rPr>
                            <m:t>2</m:t>
                          </m:r>
                        </m:sup>
                      </m:sSup>
                      <m:r>
                        <a:rPr sz="1870">
                          <a:latin typeface="Cambria Math" panose="02040503050406030204"/>
                        </a:rPr>
                        <m:t>=</m:t>
                      </m:r>
                      <m:r>
                        <a:rPr sz="1870">
                          <a:latin typeface="Cambria Math" panose="02040503050406030204"/>
                        </a:rPr>
                        <m:t>2</m:t>
                      </m:r>
                      <m:nary>
                        <m:naryPr>
                          <m:chr m:val="∑"/>
                          <m:grow m:val="on"/>
                          <m:limLoc m:val="subSup"/>
                          <m:supHide m:val="on"/>
                          <m:ctrlPr>
                            <a:rPr/>
                          </m:ctrlPr>
                        </m:naryPr>
                        <m:sub>
                          <m:r>
                            <a:rPr sz="1870">
                              <a:latin typeface="Cambria Math" panose="02040503050406030204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/>
                                </a:rPr>
                                <m:t>𝐹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20" name="e017" descr="F_t=\frac12\sum_{i,a}r_{ti,a}^2,\quad\chi^2=2\sum_t F_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5027422"/>
                <a:ext cx="6611112" cy="698500"/>
              </a:xfrm>
              <a:prstGeom prst="rect">
                <a:avLst/>
              </a:prstGeom>
              <a:blipFill rotWithShape="1">
                <a:blip r:embed="rId8"/>
                <a:stretch>
                  <a:fillRect l="-8" t="-18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e018" descr="N_{\rm comp}=\sum_{t,i,a}w_{ti,a},\quad\overline{\chi^2}_{\rm comp}=\frac{2\sum_tF_t}{\max(N_{\rm comp},1)}"/>
              <p:cNvSpPr txBox="1"/>
              <p:nvPr/>
            </p:nvSpPr>
            <p:spPr>
              <a:xfrm>
                <a:off x="7516368" y="5892546"/>
                <a:ext cx="6611112" cy="72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𝑁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𝑐𝑜𝑚𝑝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limLoc m:val="subSup"/>
                          <m:supHide m:val="on"/>
                          <m:ctrlPr>
                            <a:rPr/>
                          </m:ctrlPr>
                        </m:naryPr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𝑡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/>
                                </a:rPr>
                                <m:t>𝑤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/>
                                </a:rPr>
                                <m:t>𝑡𝑖</m:t>
                              </m:r>
                              <m:r>
                                <a:rPr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  <m:r>
                        <a:rPr sz="1900">
                          <a:latin typeface="Cambria Math" panose="02040503050406030204"/>
                        </a:rPr>
                        <m:t>,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borderBox>
                            <m:borderBoxPr>
                              <m:hideBot m:val="on"/>
                              <m:hideLeft m:val="on"/>
                              <m:hideRight m:val="on"/>
                              <m:ctrlPr>
                                <a:rPr/>
                              </m:ctrlPr>
                            </m:borderBoxPr>
                            <m:e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r>
                                    <a:rPr sz="1900">
                                      <a:latin typeface="Cambria Math" panose="02040503050406030204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sz="1900">
                                      <a:latin typeface="Cambria Math" panose="02040503050406030204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borderBox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𝑐𝑜𝑚𝑝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900">
                              <a:latin typeface="Cambria Math" panose="02040503050406030204"/>
                            </a:rPr>
                            <m:t>2</m:t>
                          </m:r>
                          <m:nary>
                            <m:naryPr>
                              <m:chr m:val="∑"/>
                              <m:grow m:val="on"/>
                              <m:limLoc m:val="subSup"/>
                              <m:supHide m:val="on"/>
                              <m:ctrlPr>
                                <a:rPr/>
                              </m:ctrlPr>
                            </m:naryPr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𝑡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sz="19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𝑐𝑜𝑚𝑝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1" name="e018" descr="N_{\rm comp}=\sum_{t,i,a}w_{ti,a},\quad\overline{\chi^2}_{\rm comp}=\frac{2\sum_tF_t}{\max(N_{\rm comp},1)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5892546"/>
                <a:ext cx="6611112" cy="723900"/>
              </a:xfrm>
              <a:prstGeom prst="rect">
                <a:avLst/>
              </a:prstGeom>
              <a:blipFill rotWithShape="1">
                <a:blip r:embed="rId9"/>
                <a:stretch>
                  <a:fillRect l="-8" t="-53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15290" y="6080760"/>
                <a:ext cx="4876800" cy="37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𝜀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V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⁻⁸ 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mm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²</m:t>
                    </m:r>
                  </m:oMath>
                </a14:m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；按输入对角方差标准化。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" y="6080760"/>
                <a:ext cx="4876800" cy="37973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415290" y="652970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没有对 </a:t>
            </a:r>
            <a:r>
              <a:rPr lang="en-US" altLang="zh-CN"/>
              <a:t>LOC0–LOC1 </a:t>
            </a:r>
            <a:r>
              <a:rPr lang="zh-CN" altLang="en-US"/>
              <a:t>完整协方差做逆平方根变换。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476490" y="308483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</a:t>
            </a:r>
            <a:r>
              <a:rPr lang="" altLang="en-US"/>
              <a:t>ᵢ </a:t>
            </a:r>
            <a:r>
              <a:rPr lang="zh-CN" altLang="en-US"/>
              <a:t>表示 </a:t>
            </a:r>
            <a:r>
              <a:rPr lang="en-US" altLang="zh-CN"/>
              <a:t>LOC1 </a:t>
            </a:r>
            <a:r>
              <a:rPr lang="zh-CN" altLang="en-US"/>
              <a:t>可用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交点路径对参数的导数与 Jacobian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实现：validate_helix_model.py · broken_helix_local_prediction / _BATCHED_RESIDUAL_JACOBIAN；对照 seed 第 5 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理论：对精确平面约束隐式求导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661111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以下为精确交点处、光滑分支及固定有效集的推导；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要求 nᵢᵀt ≠ 0。Bᵢ 表示固定路径的几何偏导。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19" descr="B_i=\left.\frac{\partial\mathbf h(\boldsymbol\eta(\boldsymbol\theta),s)}{\partial\boldsymbol\theta}\right|_{s=s_i^\cap}\in\mathbb R^{3\times5}"/>
              <p:cNvSpPr txBox="1"/>
              <p:nvPr/>
            </p:nvSpPr>
            <p:spPr>
              <a:xfrm>
                <a:off x="502920" y="2231136"/>
                <a:ext cx="6611112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𝐵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f>
                            <m:fPr>
                              <m:ctrlPr>
                                <a:rPr/>
                              </m:ctrlPr>
                            </m:fPr>
                            <m:num>
                              <m:r>
                                <a:rPr sz="1900">
                                  <a:latin typeface="Cambria Math" panose="02040503050406030204"/>
                                </a:rPr>
                                <m:t>𝜕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𝐡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𝜼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𝜽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)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𝑠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)</m:t>
                              </m:r>
                            </m:num>
                            <m:den>
                              <m:r>
                                <a:rPr sz="1900">
                                  <a:latin typeface="Cambria Math" panose="02040503050406030204"/>
                                </a:rPr>
                                <m:t>𝜕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𝜽</m:t>
                              </m:r>
                            </m:den>
                          </m:f>
                          <m:r>
                            <a:rPr sz="1900">
                              <a:latin typeface="Cambria Math" panose="02040503050406030204"/>
                            </a:rPr>
                            <m:t>|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=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1900">
                                  <a:latin typeface="Cambria Math" panose="02040503050406030204"/>
                                </a:rPr>
                                <m:t>∩</m:t>
                              </m:r>
                            </m:sup>
                          </m:sSubSup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∈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ℝ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3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×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7" name="e019" descr="B_i=\left.\frac{\partial\mathbf h(\boldsymbol\eta(\boldsymbol\theta),s)}{\partial\boldsymbol\theta}\right|_{s=s_i^\cap}\in\mathbb R^{3\times5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231136"/>
                <a:ext cx="6611112" cy="777240"/>
              </a:xfrm>
              <a:prstGeom prst="rect">
                <a:avLst/>
              </a:prstGeom>
              <a:blipFill rotWithShape="1">
                <a:blip r:embed="rId1"/>
                <a:stretch>
                  <a:fillRect t="-49" r="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020" descr="0=\frac{d\phi_i}{d\boldsymbol\theta}=\mathbf n_i^{\mathsf T}\left(B_i+\mathbf t\frac{ds_i^\cap}{d\boldsymbol\theta}\right)"/>
              <p:cNvSpPr txBox="1"/>
              <p:nvPr/>
            </p:nvSpPr>
            <p:spPr>
              <a:xfrm>
                <a:off x="502920" y="3218688"/>
                <a:ext cx="6611112" cy="74980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0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𝜙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𝐵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𝐭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∩</m:t>
                              </m:r>
                            </m:sup>
                          </m:sSubSup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e020" descr="0=\frac{d\phi_i}{d\boldsymbol\theta}=\mathbf n_i^{\mathsf T}\left(B_i+\mathbf t\frac{ds_i^\cap}{d\boldsymbol\theta}\righ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218688"/>
                <a:ext cx="6611112" cy="749808"/>
              </a:xfrm>
              <a:prstGeom prst="rect">
                <a:avLst/>
              </a:prstGeom>
              <a:blipFill rotWithShape="1">
                <a:blip r:embed="rId2"/>
                <a:stretch>
                  <a:fillRect t="-68" r="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021" descr="\frac{ds_i^\cap}{d\boldsymbol\theta}=-\frac{\mathbf n_i^{\mathsf T}B_i}{\mathbf n_i^{\mathsf T}\mathbf t}"/>
              <p:cNvSpPr txBox="1"/>
              <p:nvPr/>
            </p:nvSpPr>
            <p:spPr>
              <a:xfrm>
                <a:off x="502920" y="4187952"/>
                <a:ext cx="6611112" cy="74980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100">
                              <a:latin typeface="Cambria Math" panose="02040503050406030204"/>
                            </a:rPr>
                            <m:t>𝑑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2100">
                                  <a:latin typeface="Cambria Math" panose="02040503050406030204"/>
                                </a:rPr>
                                <m:t>∩</m:t>
                              </m:r>
                            </m:sup>
                          </m:sSubSup>
                        </m:num>
                        <m:den>
                          <m:r>
                            <a:rPr sz="21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𝜽</m:t>
                          </m:r>
                        </m:den>
                      </m:f>
                      <m:r>
                        <a:rPr sz="2100">
                          <a:latin typeface="Cambria Math" panose="02040503050406030204"/>
                        </a:rPr>
                        <m:t>=−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𝐧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2100">
                                  <a:latin typeface="Cambria Math" panose="02040503050406030204"/>
                                </a:rPr>
                                <m:t>𝖳</m:t>
                              </m:r>
                            </m:sup>
                          </m:sSubSup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𝐵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𝐧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2100">
                                  <a:latin typeface="Cambria Math" panose="02040503050406030204"/>
                                </a:rPr>
                                <m:t>𝖳</m:t>
                              </m:r>
                            </m:sup>
                          </m:sSubSup>
                          <m:r>
                            <a:rPr sz="2100">
                              <a:latin typeface="Cambria Math" panose="02040503050406030204"/>
                            </a:rPr>
                            <m:t>𝐭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9" name="e021" descr="\frac{ds_i^\cap}{d\boldsymbol\theta}=-\frac{\mathbf n_i^{\mathsf T}B_i}{\mathbf n_i^{\mathsf T}\mathbf t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187952"/>
                <a:ext cx="6611112" cy="749808"/>
              </a:xfrm>
              <a:prstGeom prst="rect">
                <a:avLst/>
              </a:prstGeom>
              <a:blipFill rotWithShape="1">
                <a:blip r:embed="rId3"/>
                <a:stretch>
                  <a:fillRect t="-4844" r="2" b="-4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22" descr="\frac{d\widehat{\mathbf m}_i}{d\boldsymbol\theta}=PR_i^{\mathsf T}\left(B_i+\mathbf t\frac{ds_i^\cap}{d\boldsymbol\theta}\right)"/>
              <p:cNvSpPr txBox="1"/>
              <p:nvPr/>
            </p:nvSpPr>
            <p:spPr>
              <a:xfrm>
                <a:off x="502920" y="5605272"/>
                <a:ext cx="6611112" cy="74980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/>
                                  </m:ctrlPr>
                                </m:limUppPr>
                                <m:e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𝐦</m:t>
                                  </m:r>
                                </m:e>
                                <m:lim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ˆ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𝑃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𝐵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𝐭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∩</m:t>
                              </m:r>
                            </m:sup>
                          </m:sSubSup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e022" descr="\frac{d\widehat{\mathbf m}_i}{d\boldsymbol\theta}=PR_i^{\mathsf T}\left(B_i+\mathbf t\frac{ds_i^\cap}{d\boldsymbol\theta}\righ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605272"/>
                <a:ext cx="6611112" cy="749808"/>
              </a:xfrm>
              <a:prstGeom prst="rect">
                <a:avLst/>
              </a:prstGeom>
              <a:blipFill rotWithShape="1">
                <a:blip r:embed="rId4"/>
                <a:stretch>
                  <a:fillRect t="-3235" r="2" b="-3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023" descr="=PR_i^{\mathsf T}\left(I_3-\frac{\mathbf t\mathbf n_i^{\mathsf T}}{\mathbf n_i^{\mathsf T}\mathbf t}\right)B_i"/>
              <p:cNvSpPr txBox="1"/>
              <p:nvPr/>
            </p:nvSpPr>
            <p:spPr>
              <a:xfrm>
                <a:off x="502920" y="6601968"/>
                <a:ext cx="6611112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75">
                          <a:latin typeface="Cambria Math" panose="02040503050406030204"/>
                        </a:rPr>
                        <m:t>=</m:t>
                      </m:r>
                      <m:r>
                        <a:rPr sz="1975">
                          <a:latin typeface="Cambria Math" panose="02040503050406030204"/>
                        </a:rPr>
                        <m:t>𝑃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75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1975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1975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75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75">
                              <a:latin typeface="Cambria Math" panose="02040503050406030204"/>
                            </a:rPr>
                            <m:t>𝐼</m:t>
                          </m:r>
                        </m:e>
                        <m:sub>
                          <m:r>
                            <a:rPr sz="1975">
                              <a:latin typeface="Cambria Math" panose="02040503050406030204"/>
                            </a:rPr>
                            <m:t>3</m:t>
                          </m:r>
                        </m:sub>
                      </m:sSub>
                      <m:r>
                        <a:rPr sz="1975">
                          <a:latin typeface="Cambria Math" panose="02040503050406030204"/>
                        </a:rPr>
                        <m:t>−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975">
                              <a:latin typeface="Cambria Math" panose="02040503050406030204"/>
                            </a:rPr>
                            <m:t>𝐭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1975">
                                  <a:latin typeface="Cambria Math" panose="02040503050406030204"/>
                                </a:rPr>
                                <m:t>𝐧</m:t>
                              </m:r>
                            </m:e>
                            <m:sub>
                              <m:r>
                                <a:rPr sz="1975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1975">
                                  <a:latin typeface="Cambria Math" panose="02040503050406030204"/>
                                </a:rPr>
                                <m:t>𝖳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1975">
                                  <a:latin typeface="Cambria Math" panose="02040503050406030204"/>
                                </a:rPr>
                                <m:t>𝐧</m:t>
                              </m:r>
                            </m:e>
                            <m:sub>
                              <m:r>
                                <a:rPr sz="1975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1975">
                                  <a:latin typeface="Cambria Math" panose="02040503050406030204"/>
                                </a:rPr>
                                <m:t>𝖳</m:t>
                              </m:r>
                            </m:sup>
                          </m:sSubSup>
                          <m:r>
                            <a:rPr sz="1975">
                              <a:latin typeface="Cambria Math" panose="02040503050406030204"/>
                            </a:rPr>
                            <m:t>𝐭</m:t>
                          </m:r>
                        </m:den>
                      </m:f>
                      <m:r>
                        <a:rPr sz="1975">
                          <a:latin typeface="Cambria Math" panose="02040503050406030204"/>
                        </a:rPr>
                        <m:t>)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75">
                              <a:latin typeface="Cambria Math" panose="02040503050406030204"/>
                            </a:rPr>
                            <m:t>𝐵</m:t>
                          </m:r>
                        </m:e>
                        <m:sub>
                          <m:r>
                            <a:rPr sz="1975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" name="e023" descr="=PR_i^{\mathsf T}\left(I_3-\frac{\mathbf t\mathbf n_i^{\mathsf T}}{\mathbf n_i^{\mathsf T}\mathbf t}\right)B_i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601968"/>
                <a:ext cx="6611112" cy="777240"/>
              </a:xfrm>
              <a:prstGeom prst="rect">
                <a:avLst/>
              </a:prstGeom>
              <a:blipFill rotWithShape="1">
                <a:blip r:embed="rId5"/>
                <a:stretch>
                  <a:fillRect t="-65" r="2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024" descr="J_i=-\operatorname{diag}(w_{i,0},w_{i,1})W_i\frac{d\widehat{\mathbf m}_i}{d\boldsymbol\theta}"/>
              <p:cNvSpPr txBox="1"/>
              <p:nvPr/>
            </p:nvSpPr>
            <p:spPr>
              <a:xfrm>
                <a:off x="7516368" y="1380744"/>
                <a:ext cx="6611112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𝐽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=−</m:t>
                      </m:r>
                      <m:r>
                        <a:rPr sz="2000">
                          <a:latin typeface="Cambria Math" panose="02040503050406030204"/>
                        </a:rPr>
                        <m:t>𝑑𝑖𝑎𝑔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𝑊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/>
                                  </m:ctrlPr>
                                </m:limUppPr>
                                <m:e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𝐦</m:t>
                                  </m:r>
                                </m:e>
                                <m:lim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ˆ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4" name="e024" descr="J_i=-\operatorname{diag}(w_{i,0},w_{i,1})W_i\frac{d\widehat{\mathbf m}_i}{d\boldsymbol\theta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80744"/>
                <a:ext cx="6611112" cy="777240"/>
              </a:xfrm>
              <a:prstGeom prst="rect">
                <a:avLst/>
              </a:prstGeom>
              <a:blipFill rotWithShape="1">
                <a:blip r:embed="rId6"/>
                <a:stretch>
                  <a:fillRect l="-8" t="-1340" b="-1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025" descr="J=\operatorname{col}(J_1,\ldots,J_{N_h})\in\mathbb R^{2N_h\times5}"/>
              <p:cNvSpPr txBox="1"/>
              <p:nvPr/>
            </p:nvSpPr>
            <p:spPr>
              <a:xfrm>
                <a:off x="7516368" y="2395728"/>
                <a:ext cx="661111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𝐽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𝑐𝑜𝑙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𝐽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,…,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𝐽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ℎ</m:t>
                              </m:r>
                            </m:sub>
                          </m:sSub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∈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ℝ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2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ℎ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×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5" name="e025" descr="J=\operatorname{col}(J_1,\ldots,J_{N_h})\in\mathbb R^{2N_h\times5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395728"/>
                <a:ext cx="6611112" cy="530352"/>
              </a:xfrm>
              <a:prstGeom prst="rect">
                <a:avLst/>
              </a:prstGeom>
              <a:blipFill rotWithShape="1">
                <a:blip r:embed="rId7"/>
                <a:stretch>
                  <a:fillRect l="-8" t="-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516368" y="4059936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实现：对有限次求交运算自动微分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4489704"/>
            <a:ext cx="6611112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vmap(jacrev(...)) 对每条径迹构造 J：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θ → η → 12 次 Newton 求交 → 局部坐标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方差标准化 → mask → 堆叠残差。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5660136"/>
            <a:ext cx="661111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求交路径没有像 seed 那样停止梯度；布尔有效性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不连续求导，where 对当前选中的数值分支求导。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8305" y="515683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路径变化 → 交点沿测量面移动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59345" y="116268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标准化残差的理论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Jacobian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59345" y="3102610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负号来自“测量减预测”；几何、测量与方差固定。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LM 更新、候选重评估与接受规则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实现：validate_helix_model.py · fit_broken_helix（零节点）/ fit_helices_gauss_newton；共同推导见 seed 第 5 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共同公式概述，不重复二次模型推导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26" descr="\mathbf g=J^{\mathsf T}\mathbf r,\qquad H=J^{\mathsf T}J"/>
              <p:cNvSpPr txBox="1"/>
              <p:nvPr/>
            </p:nvSpPr>
            <p:spPr>
              <a:xfrm>
                <a:off x="502920" y="1344168"/>
                <a:ext cx="6611112" cy="51206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100">
                          <a:latin typeface="Cambria Math" panose="02040503050406030204"/>
                        </a:rPr>
                        <m:t>𝐠</m:t>
                      </m:r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00">
                              <a:latin typeface="Cambria Math" panose="02040503050406030204"/>
                            </a:rPr>
                            <m:t>𝐽</m:t>
                          </m:r>
                        </m:e>
                        <m:sup>
                          <m:r>
                            <a:rPr sz="21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2100">
                          <a:latin typeface="Cambria Math" panose="02040503050406030204"/>
                        </a:rPr>
                        <m:t>𝐫</m:t>
                      </m:r>
                      <m:r>
                        <a:rPr sz="2100">
                          <a:latin typeface="Cambria Math" panose="02040503050406030204"/>
                        </a:rPr>
                        <m:t>,</m:t>
                      </m:r>
                      <m:r>
                        <a:rPr sz="2100">
                          <a:latin typeface="Cambria Math" panose="02040503050406030204"/>
                        </a:rPr>
                        <m:t> </m:t>
                      </m:r>
                      <m:r>
                        <a:rPr sz="2100">
                          <a:latin typeface="Cambria Math" panose="02040503050406030204"/>
                        </a:rPr>
                        <m:t>𝐻</m:t>
                      </m:r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00">
                              <a:latin typeface="Cambria Math" panose="02040503050406030204"/>
                            </a:rPr>
                            <m:t>𝐽</m:t>
                          </m:r>
                        </m:e>
                        <m:sup>
                          <m:r>
                            <a:rPr sz="21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2100">
                          <a:latin typeface="Cambria Math" panose="02040503050406030204"/>
                        </a:rPr>
                        <m:t>𝐽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026" descr="\mathbf g=J^{\mathsf T}\mathbf r,\qquad H=J^{\mathsf T}J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44168"/>
                <a:ext cx="6611112" cy="512064"/>
              </a:xfrm>
              <a:prstGeom prst="rect">
                <a:avLst/>
              </a:prstGeom>
              <a:blipFill rotWithShape="1">
                <a:blip r:embed="rId1"/>
                <a:stretch>
                  <a:fillRect t="-99" r="2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27" descr="\alpha=\max\left(\frac{\operatorname{tr}H}{5},10^{-30}\right),\quad M=\alpha I_5"/>
              <p:cNvSpPr txBox="1"/>
              <p:nvPr/>
            </p:nvSpPr>
            <p:spPr>
              <a:xfrm>
                <a:off x="502920" y="2084831"/>
                <a:ext cx="6611112" cy="6858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𝛼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𝑚𝑎𝑥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𝑡𝑟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𝐻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5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30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𝑀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𝛼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𝐼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" name="e027" descr="\alpha=\max\left(\frac{\operatorname{tr}H}{5},10^{-30}\right),\quad M=\alpha I_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084831"/>
                <a:ext cx="6611112" cy="685800"/>
              </a:xfrm>
              <a:prstGeom prst="rect">
                <a:avLst/>
              </a:prstGeom>
              <a:blipFill rotWithShape="1">
                <a:blip r:embed="rId2"/>
                <a:stretch>
                  <a:fillRect t="-18" r="2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028" descr="(H+\mu M)\Delta=-\mathbf g,\quad\boldsymbol\theta^c=\boldsymbol\theta+\Delta"/>
              <p:cNvSpPr txBox="1"/>
              <p:nvPr/>
            </p:nvSpPr>
            <p:spPr>
              <a:xfrm>
                <a:off x="502920" y="2999232"/>
                <a:ext cx="6611112" cy="58521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𝐻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𝜇</m:t>
                      </m:r>
                      <m:r>
                        <a:rPr sz="2000">
                          <a:latin typeface="Cambria Math" panose="02040503050406030204"/>
                        </a:rPr>
                        <m:t>𝑀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=−</m:t>
                      </m:r>
                      <m:r>
                        <a:rPr sz="2000">
                          <a:latin typeface="Cambria Math" panose="02040503050406030204"/>
                        </a:rPr>
                        <m:t>𝐠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𝑐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𝜽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e028" descr="(H+\mu M)\Delta=-\mathbf g,\quad\boldsymbol\theta^c=\boldsymbol\theta+\Del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999232"/>
                <a:ext cx="6611112" cy="585216"/>
              </a:xfrm>
              <a:prstGeom prst="rect">
                <a:avLst/>
              </a:prstGeom>
              <a:blipFill rotWithShape="1">
                <a:blip r:embed="rId3"/>
                <a:stretch>
                  <a:fillRect t="-22" r="2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02920" y="4736592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候选必须重新求交与计算目标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29" descr="F^c=\frac12\left\|\mathbf r(\boldsymbol\theta^c)\right\|^2"/>
              <p:cNvSpPr txBox="1"/>
              <p:nvPr/>
            </p:nvSpPr>
            <p:spPr>
              <a:xfrm>
                <a:off x="502920" y="5184648"/>
                <a:ext cx="6611112" cy="6400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00">
                              <a:latin typeface="Cambria Math" panose="02040503050406030204"/>
                            </a:rPr>
                            <m:t>𝐹</m:t>
                          </m:r>
                        </m:e>
                        <m:sup>
                          <m:r>
                            <a:rPr sz="2100">
                              <a:latin typeface="Cambria Math" panose="02040503050406030204"/>
                            </a:rPr>
                            <m:t>𝑐</m:t>
                          </m:r>
                        </m:sup>
                      </m:sSup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1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21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00">
                              <a:latin typeface="Cambria Math" panose="02040503050406030204"/>
                            </a:rPr>
                            <m:t>‖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𝐫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(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𝜽</m:t>
                              </m:r>
                            </m:e>
                            <m:sup>
                              <m:r>
                                <a:rPr sz="2100">
                                  <a:latin typeface="Cambria Math" panose="02040503050406030204"/>
                                </a:rPr>
                                <m:t>𝑐</m:t>
                              </m:r>
                            </m:sup>
                          </m:sSup>
                          <m:r>
                            <a:rPr sz="2100">
                              <a:latin typeface="Cambria Math" panose="02040503050406030204"/>
                            </a:rPr>
                            <m:t>)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‖</m:t>
                          </m:r>
                        </m:e>
                        <m:sup>
                          <m:r>
                            <a:rPr sz="2100">
                              <a:latin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1" name="e029" descr="F^c=\frac12\left\|\mathbf r(\boldsymbol\theta^c)\right\|^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184648"/>
                <a:ext cx="6611112" cy="640080"/>
              </a:xfrm>
              <a:prstGeom prst="rect">
                <a:avLst/>
              </a:prstGeom>
              <a:blipFill rotWithShape="1">
                <a:blip r:embed="rId4"/>
                <a:stretch>
                  <a:fillRect t="-1964" r="2" b="-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02920" y="7004304"/>
            <a:ext cx="6611112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不能用旧路径、旧预测或线性模型值代替 Fᶜ。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3  逐径迹严格下降才接受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030" descr="\boldsymbol\theta^+=\begin{cases}\boldsymbol\theta^c,&amp;F^c&lt;F\\\boldsymbol\theta,&amp;\text{otherwise}\end{cases}"/>
              <p:cNvSpPr txBox="1"/>
              <p:nvPr/>
            </p:nvSpPr>
            <p:spPr>
              <a:xfrm>
                <a:off x="7516368" y="1380744"/>
                <a:ext cx="6611112" cy="90525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00">
                              <a:latin typeface="Cambria Math" panose="02040503050406030204"/>
                            </a:rPr>
                            <m:t>𝜽</m:t>
                          </m:r>
                        </m:e>
                        <m:sup>
                          <m:r>
                            <a:rPr sz="2100">
                              <a:latin typeface="Cambria Math" panose="02040503050406030204"/>
                            </a:rPr>
                            <m:t>+</m:t>
                          </m:r>
                        </m:sup>
                      </m:sSup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r>
                        <a:rPr sz="2100">
                          <a:latin typeface="Cambria Math" panose="02040503050406030204"/>
                        </a:rPr>
                        <m:t>{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/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/>
                                </m:ctrlPr>
                              </m:sSupPr>
                              <m:e>
                                <m:r>
                                  <a:rPr sz="2100">
                                    <a:latin typeface="Cambria Math" panose="02040503050406030204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sz="2100">
                                    <a:latin typeface="Cambria Math" panose="02040503050406030204"/>
                                  </a:rPr>
                                  <m:t>𝑐</m:t>
                                </m:r>
                              </m:sup>
                            </m:sSup>
                            <m:r>
                              <a:rPr sz="21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sSup>
                              <m:sSupPr>
                                <m:ctrlPr>
                                  <a:rPr/>
                                </m:ctrlPr>
                              </m:sSupPr>
                              <m:e>
                                <m:r>
                                  <a:rPr sz="2100">
                                    <a:latin typeface="Cambria Math" panose="02040503050406030204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sz="2100">
                                    <a:latin typeface="Cambria Math" panose="02040503050406030204"/>
                                  </a:rPr>
                                  <m:t>𝑐</m:t>
                                </m:r>
                              </m:sup>
                            </m:sSup>
                            <m:r>
                              <a:rPr sz="2100">
                                <a:latin typeface="Cambria Math" panose="02040503050406030204"/>
                              </a:rPr>
                              <m:t>&lt;</m:t>
                            </m:r>
                            <m:r>
                              <a:rPr sz="2100">
                                <a:latin typeface="Cambria Math" panose="02040503050406030204"/>
                              </a:rPr>
                              <m:t>𝐹</m:t>
                            </m:r>
                          </m:e>
                        </m:mr>
                        <m:mr>
                          <m:e>
                            <m:r>
                              <a:rPr sz="2100">
                                <a:latin typeface="Cambria Math" panose="02040503050406030204"/>
                              </a:rPr>
                              <m:t>𝜽</m:t>
                            </m:r>
                            <m:r>
                              <a:rPr sz="21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sz="2100">
                                <a:latin typeface="Cambria Math" panose="02040503050406030204"/>
                              </a:rPr>
                              <m:t>otherwise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  <mc:Fallback>
          <p:sp>
            <p:nvSpPr>
              <p:cNvPr id="15" name="e030" descr="\boldsymbol\theta^+=\begin{cases}\boldsymbol\theta^c,&amp;F^c&lt;F\\\boldsymbol\theta,&amp;\text{otherwise}\end{case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80744"/>
                <a:ext cx="6611112" cy="905256"/>
              </a:xfrm>
              <a:prstGeom prst="rect">
                <a:avLst/>
              </a:prstGeom>
              <a:blipFill rotWithShape="1">
                <a:blip r:embed="rId5"/>
                <a:stretch>
                  <a:fillRect l="-8" t="-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031" descr="\mu^{(0)}=10^{-8},\quad\mu^+=\begin{cases}\max(0.1\mu,10^{-12}),&amp;F^c&lt;F\\10\mu,&amp;\text{otherwise}\end{cases}"/>
              <p:cNvSpPr txBox="1"/>
              <p:nvPr/>
            </p:nvSpPr>
            <p:spPr>
              <a:xfrm>
                <a:off x="7516368" y="2542032"/>
                <a:ext cx="6611112" cy="914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𝜇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8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𝜇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+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{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/>
                          </m:ctrlPr>
                        </m:mPr>
                        <m:mr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𝑚𝑎𝑥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⁡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0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.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1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𝜇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/>
                                </m:ctrlPr>
                              </m:sSupPr>
                              <m:e>
                                <m:r>
                                  <a:rPr sz="1900">
                                    <a:latin typeface="Cambria Math" panose="02040503050406030204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sz="1900">
                                    <a:latin typeface="Cambria Math" panose="02040503050406030204"/>
                                  </a:rPr>
                                  <m:t>−</m:t>
                                </m:r>
                                <m:r>
                                  <a:rPr sz="1900">
                                    <a:latin typeface="Cambria Math" panose="02040503050406030204"/>
                                  </a:rPr>
                                  <m:t>12</m:t>
                                </m:r>
                              </m:sup>
                            </m:sSup>
                            <m:r>
                              <a:rPr sz="1900">
                                <a:latin typeface="Cambria Math" panose="02040503050406030204"/>
                              </a:rPr>
                              <m:t>)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sSup>
                              <m:sSupPr>
                                <m:ctrlPr>
                                  <a:rPr/>
                                </m:ctrlPr>
                              </m:sSupPr>
                              <m:e>
                                <m:r>
                                  <a:rPr sz="1900">
                                    <a:latin typeface="Cambria Math" panose="02040503050406030204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sz="1900">
                                    <a:latin typeface="Cambria Math" panose="02040503050406030204"/>
                                  </a:rPr>
                                  <m:t>𝑐</m:t>
                                </m:r>
                              </m:sup>
                            </m:sSup>
                            <m:r>
                              <a:rPr sz="1900">
                                <a:latin typeface="Cambria Math" panose="02040503050406030204"/>
                              </a:rPr>
                              <m:t>&lt;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𝐹</m:t>
                            </m:r>
                          </m:e>
                        </m:mr>
                        <m:mr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10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𝜇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sz="1900">
                                <a:latin typeface="Cambria Math" panose="02040503050406030204"/>
                              </a:rPr>
                              <m:t>otherwise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  <mc:Fallback>
          <p:sp>
            <p:nvSpPr>
              <p:cNvPr id="16" name="e031" descr="\mu^{(0)}=10^{-8},\quad\mu^+=\begin{cases}\max(0.1\mu,10^{-12}),&amp;F^c&lt;F\\10\mu,&amp;\text{otherwise}\end{case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542032"/>
                <a:ext cx="6611112" cy="914400"/>
              </a:xfrm>
              <a:prstGeom prst="rect">
                <a:avLst/>
              </a:prstGeom>
              <a:blipFill rotWithShape="1">
                <a:blip r:embed="rId6"/>
                <a:stretch>
                  <a:fillRect l="-8" t="-1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516368" y="4672584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与 seed 接受规则不同的实现边界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5093208"/>
            <a:ext cx="6611112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内层只有 Fᶜ &lt; F 的接受比较；没有独立的有限值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接受谓词，也没有“保留初始有效集”的条件。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6071616"/>
            <a:ext cx="6611112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有效分量集可随候选改变；目标下降可能伴随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样本变化，不能解释为固定样本目标的严格下降。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7031736"/>
            <a:ext cx="66111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初始与终态另检查求交失效率；终态再验收驻点。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2920" y="6282690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θ</a:t>
            </a:r>
            <a:r>
              <a:rPr lang="" altLang="en-US"/>
              <a:t>ᶜ → </a:t>
            </a:r>
            <a:r>
              <a:rPr lang="zh-CN" altLang="en-US"/>
              <a:t>新 </a:t>
            </a:r>
            <a:r>
              <a:rPr lang="en-US" altLang="zh-CN"/>
              <a:t>Helix → </a:t>
            </a:r>
            <a:r>
              <a:rPr lang="zh-CN" altLang="en-US"/>
              <a:t>每个面的新交点 → 局部预测</a:t>
            </a:r>
            <a:endParaRPr lang="en-US" altLang="zh-CN"/>
          </a:p>
          <a:p>
            <a:r>
              <a:rPr lang="zh-CN" altLang="en-US"/>
              <a:t>→ 新有效 </a:t>
            </a:r>
            <a:r>
              <a:rPr lang="en-US" altLang="zh-CN"/>
              <a:t>mask </a:t>
            </a:r>
            <a:r>
              <a:rPr lang="zh-CN" altLang="en-US"/>
              <a:t>与标准化残差 → </a:t>
            </a:r>
            <a:r>
              <a:rPr lang="en-US" altLang="zh-CN"/>
              <a:t>F</a:t>
            </a:r>
            <a:r>
              <a:rPr lang="" altLang="en-US"/>
              <a:t>ᶜ。</a:t>
            </a:r>
            <a:endParaRPr lang="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459345" y="3510280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采用自适应阻尼；不使用实际 / 预测下降比。</a:t>
            </a:r>
            <a:endParaRPr lang="en-US" altLang="zh-CN"/>
          </a:p>
          <a:p>
            <a:r>
              <a:rPr lang="zh-CN" altLang="en-US"/>
              <a:t>循环内不依据 </a:t>
            </a:r>
            <a:r>
              <a:rPr lang="en-US" altLang="zh-CN"/>
              <a:t>ν </a:t>
            </a:r>
            <a:r>
              <a:rPr lang="zh-CN" altLang="en-US"/>
              <a:t>冻结已驻点径迹。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循环停止、独立驻点验收与完整流程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实现：fit_broken_helix / newton_decrement / stationarity_report；主线 _refit_helices_gauss_newton / fit_helices_to_measurements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循环停止：当前块最大的相对下降量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32" descr="\zeta_t=\frac{\max(F_t^{\rm old}-F_t^c,0)}{\max(|F_t^{\rm old}|,1)}"/>
              <p:cNvSpPr txBox="1"/>
              <p:nvPr/>
            </p:nvSpPr>
            <p:spPr>
              <a:xfrm>
                <a:off x="502920" y="1362456"/>
                <a:ext cx="6611112" cy="7589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𝜁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1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(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𝐹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𝑡</m:t>
                              </m:r>
                            </m:sub>
                            <m:sup>
                              <m:r>
                                <a:rPr sz="2100">
                                  <a:latin typeface="Cambria Math" panose="02040503050406030204"/>
                                </a:rPr>
                                <m:t>𝑜𝑙𝑑</m:t>
                              </m:r>
                            </m:sup>
                          </m:sSubSup>
                          <m:r>
                            <a:rPr sz="2100">
                              <a:latin typeface="Cambria Math" panose="02040503050406030204"/>
                            </a:rPr>
                            <m:t>−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𝐹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𝑡</m:t>
                              </m:r>
                            </m:sub>
                            <m:sup>
                              <m:r>
                                <a:rPr sz="2100">
                                  <a:latin typeface="Cambria Math" panose="02040503050406030204"/>
                                </a:rPr>
                                <m:t>𝑐</m:t>
                              </m:r>
                            </m:sup>
                          </m:sSubSup>
                          <m:r>
                            <a:rPr sz="21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)</m:t>
                          </m:r>
                        </m:num>
                        <m:den>
                          <m:r>
                            <a:rPr sz="21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(|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𝐹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𝑡</m:t>
                              </m:r>
                            </m:sub>
                            <m:sup>
                              <m:r>
                                <a:rPr sz="2100">
                                  <a:latin typeface="Cambria Math" panose="02040503050406030204"/>
                                </a:rPr>
                                <m:t>𝑜𝑙𝑑</m:t>
                              </m:r>
                            </m:sup>
                          </m:sSubSup>
                          <m:r>
                            <a:rPr sz="2100">
                              <a:latin typeface="Cambria Math" panose="02040503050406030204"/>
                            </a:rPr>
                            <m:t>|,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1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e032" descr="\zeta_t=\frac{\max(F_t^{\rm old}-F_t^c,0)}{\max(|F_t^{\rm old}|,1)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62456"/>
                <a:ext cx="6611112" cy="758952"/>
              </a:xfrm>
              <a:prstGeom prst="rect">
                <a:avLst/>
              </a:prstGeom>
              <a:blipFill rotWithShape="1">
                <a:blip r:embed="rId1"/>
                <a:stretch>
                  <a:fillRect t="-2979" r="2" b="-2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33" descr="\operatorname{change}=\max_{t\in\mathrm{chunk}}\zeta_t"/>
              <p:cNvSpPr txBox="1"/>
              <p:nvPr/>
            </p:nvSpPr>
            <p:spPr>
              <a:xfrm>
                <a:off x="502920" y="2386584"/>
                <a:ext cx="6611112" cy="5394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𝑐ℎ𝑎𝑛𝑔𝑒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𝑚𝑎𝑥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∈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𝑐ℎ𝑢𝑛𝑘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𝜁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" name="e033" descr="\operatorname{change}=\max_{t\in\mathrm{chunk}}\zeta_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386584"/>
                <a:ext cx="6611112" cy="539496"/>
              </a:xfrm>
              <a:prstGeom prst="rect">
                <a:avLst/>
              </a:prstGeom>
              <a:blipFill rotWithShape="1">
                <a:blip r:embed="rId2"/>
                <a:stretch>
                  <a:fillRect t="-47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02920" y="4087368"/>
            <a:ext cx="661111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因此 converged 只代表该循环停止条件成立，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不能替代独立的终态驻点检查。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驻点指标概述（原理见 seed 第 6 页）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34" descr="\nu_t=\mathbf g_t^{\mathsf T}(H_t+\epsilon_\mu M_t)^{-1}\mathbf g_t,\quad\epsilon_\mu=10^{-12}"/>
              <p:cNvSpPr txBox="1"/>
              <p:nvPr/>
            </p:nvSpPr>
            <p:spPr>
              <a:xfrm>
                <a:off x="502920" y="5458968"/>
                <a:ext cx="6611112" cy="67665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𝜈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𝐠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𝑡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𝐻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𝑡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+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𝜖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𝜇</m:t>
                              </m:r>
                            </m:sub>
                          </m:s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𝑀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𝑡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𝐠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𝜖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𝜇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1" name="e034" descr="\nu_t=\mathbf g_t^{\mathsf T}(H_t+\epsilon_\mu M_t)^{-1}\mathbf g_t,\quad\epsilon_\mu=10^{-12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458968"/>
                <a:ext cx="6611112" cy="676656"/>
              </a:xfrm>
              <a:prstGeom prst="rect">
                <a:avLst/>
              </a:prstGeom>
              <a:blipFill rotWithShape="1">
                <a:blip r:embed="rId3"/>
                <a:stretch>
                  <a:fillRect t="-75" r="2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035" descr="\operatorname{stat}_t=\operatorname{finite}(\nu_t)\land[\nu_t\le10^{-6}]"/>
              <p:cNvSpPr txBox="1"/>
              <p:nvPr/>
            </p:nvSpPr>
            <p:spPr>
              <a:xfrm>
                <a:off x="502920" y="6382512"/>
                <a:ext cx="6611112" cy="5394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𝑠𝑡𝑎𝑡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𝑓𝑖𝑛𝑖𝑡𝑒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𝜈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∧</m:t>
                      </m:r>
                      <m:r>
                        <a:rPr sz="2000">
                          <a:latin typeface="Cambria Math" panose="02040503050406030204"/>
                        </a:rPr>
                        <m:t>[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𝜈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≤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6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035" descr="\operatorname{stat}_t=\operatorname{finite}(\nu_t)\land[\nu_t\le10^{-6}]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382512"/>
                <a:ext cx="6611112" cy="539496"/>
              </a:xfrm>
              <a:prstGeom prst="rect">
                <a:avLst/>
              </a:prstGeom>
              <a:blipFill rotWithShape="1">
                <a:blip r:embed="rId4"/>
                <a:stretch>
                  <a:fillRect t="-24" r="2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7516368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3  主线验收：非有限、非驻点、求交失效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036" descr="n_{\rm nonfinite}=0,\quad \frac{\#\{t:\nu_t&gt;10^{-6}\}}{T}\le10^{-3}"/>
              <p:cNvSpPr txBox="1"/>
              <p:nvPr/>
            </p:nvSpPr>
            <p:spPr>
              <a:xfrm>
                <a:off x="7516368" y="1353312"/>
                <a:ext cx="6611112" cy="7132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𝑛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𝑛𝑜𝑛𝑓𝑖𝑛𝑖𝑡𝑒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0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#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{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: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𝜈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𝑡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&gt;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10</m:t>
                              </m:r>
                            </m:e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sz="2000">
                                  <a:latin typeface="Cambria Math" panose="02040503050406030204"/>
                                </a:rPr>
                                <m:t>6</m:t>
                              </m:r>
                            </m:sup>
                          </m:sSup>
                          <m:r>
                            <a:rPr sz="2000">
                              <a:latin typeface="Cambria Math" panose="02040503050406030204"/>
                            </a:rPr>
                            <m:t>}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𝑇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≤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5" name="e036" descr="n_{\rm nonfinite}=0,\quad \frac{\#\{t:\nu_t&gt;10^{-6}\}}{T}\le10^{-3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53312"/>
                <a:ext cx="6611112" cy="713232"/>
              </a:xfrm>
              <a:prstGeom prst="rect">
                <a:avLst/>
              </a:prstGeom>
              <a:blipFill rotWithShape="1">
                <a:blip r:embed="rId5"/>
                <a:stretch>
                  <a:fillRect l="-8" t="-18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516368" y="3191256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实际预算与精度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3621024"/>
            <a:ext cx="66111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默认 GN：每块最多 60 轮，内部 float64。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包装层 n_iter = 200 仅传给 Adam，不控制 GN。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返回参数按调用方 dtype 转换，再检查终态失效率。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4873752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5  从 seed 到 refit 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5294376"/>
            <a:ext cx="6611112" cy="1801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seed 参数 + 固定几何 + 非目标层测量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初始求交失效率检查 → 固定 gauge、打包 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求交 → 局部残差 → J、H、g → LM 候选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重评目标 → 接受 / 拒绝、更新 μ → change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未停止则循环；停止后独立验收 ν 与失效率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恢复六维 η，作为后续固定径迹输入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4805</Words>
  <Application>WPS 演示</Application>
  <PresentationFormat>On-screen Show (4:3)</PresentationFormat>
  <Paragraphs>313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Cambria Math</vt:lpstr>
      <vt:lpstr>Cambria Math</vt:lpstr>
      <vt:lpstr>Calibri</vt:lpstr>
      <vt:lpstr>Arial Unicode MS</vt:lpstr>
      <vt:lpstr>BatangChe</vt:lpstr>
      <vt:lpstr>Liberation Mono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Refit 数学推导：紧凑审阅版</dc:title>
  <dc:creator>ML_Alignment</dc:creator>
  <dc:description>generated using python-pptx</dc:description>
  <dc:subject>Measurement refit · 六页推导 · 与当前实现核对</dc:subject>
  <cp:lastModifiedBy>是加号不是减号噢</cp:lastModifiedBy>
  <cp:revision>2</cp:revision>
  <dcterms:created xsi:type="dcterms:W3CDTF">2013-01-27T09:14:00Z</dcterms:created>
  <dcterms:modified xsi:type="dcterms:W3CDTF">2026-09-16T01:59:58Z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24CA6BA052924A73A2F2F08B45FAEF80_12</vt:lpwstr>
  </property>
</Properties>
</file>