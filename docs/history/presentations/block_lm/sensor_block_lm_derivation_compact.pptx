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本稿把代码 lambda2 统一记为 ν，避免将其误解为 LM 阻尼或倾角。μ 始终表示自适应阻尼；α、M 保持阻尼尺度角色，但 block-LM 的具体定义不同于 seed/refit 的平均对角元。J、H、g 均指归一化坐标 z 下的量，物理坐标导数显式标为 J_phys。Eⱼ 收集 sensor j 上的 (i,a) 有效分量；i 可汇总多条固定径迹的 hit，hᵢ 表示该 hit 对应的固定 Helix。函数 run_block_lm_alignment 在未传 initial_track_params 时会回退到 seed；这里描述已传入 refit 结果的主线流程，不能将该回退声称为自动执行 refit。默认 active_dof 从配置读取，不硬编码为六自由度。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R_z R_y R_x 使用标准右手旋转，参数顺序对应代码三平移后三旋转。上标 0 是输入工作几何，不必等同于 nominal target 真值；本块残差不使用 nominal 黑点与预测点的全局距离。P 与 refit 相同，取局部三维坐标前两分量。求交复用 12 次 Newton、近平行阈值 10⁻⁶、路径界 1200 mm、面残差阈值 10⁻³ mm，不重复推导。Eⱼ 是每次访问当前有效分量的快照，与 seed 的初始有效集合锚点不同，也与 refit 内层动态比较集合不同。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 ∂_b 表示对选定物理位姿变量 x_b 的偏导；它不同于对固定路径的径迹 θ 偏导。由 nᵀ(h(s(x))−c(x))=0 链式展开即可得到路径导数，分子两项分别来自中心移动和法向转动。局部预测还包含 ∂Rᵀ 项，不能只保留交点平移项。旋转偏导例如 ∂R/∂ω_x=R⁰R_zR_yR_x′，其余角在相应因子处求导；平移与旋转均相对固定输入几何定义。J_phys 的 col_E 记号表示先堆叠各 hit 两行，再只保留固定分量集合的行，不是把无效分量添零。实现中 fixed_mask 是常量索引，但有限次求交内部仍有 where 数值分支；隐式公式只作数学解释，不声称代码用了解析隐式求导。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e_min、e_max 是对称 GN 矩阵的最小与最大特征值，与 seed 的法平面单位向量 e₀、e₁（粗体）区分。通过 z=S⁻¹x，模型所有列按实际物理尺度归一化；矩阵求解使用 torch.linalg.solve 而非显式求逆。β 抬升最小特征值至相对谱下限，μ αI 另外控制步幅，这与平均对角阻尼 M 的角色相同但具体定义不同。无正则化且满秩时 Δ=−H⁻¹g 最小化二次模型，其推导不重复。任何 lstsq 回退计数在最终状态中优先标为 rank_deficient，即使后续步可以接受。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Δxⱼᶜᵃᵖ 是截断后的物理步，Δmax 表示逐分量正步长上限；lⱼ、uⱼ 为累计修正硬边界。candidate 对全部六维行执行硬截断，未选 DOF 保持初始零值。失效率条件锚定 max(当前本块失效率,全局配置阈值)，不是每个块都无条件要求候选 ≤5%。阶梯锚点防止接受多次后 μ 极小，8 次乘十仍不足以试探合适阻尼；达到 10¹² 可提前结束重试。最大预算默认 60 轮，若全部块已退出则提前停止。代码每块每次接受即结束此次阶梯。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 a=Qᵀg_U 仅为谱坐标向量（粗体），与测量分量索引 a 不同；e_b 为自由集 GN 特征值。若存在零 / 负 / 低于相对阈值的特征值，完整逆矩阵指标可能无定义，实际 ν 应理解为保留强模的部分和，不能作为收敛证据；“下界”沿用代码诊断用语而不是对不存在的逆作断言。U 为空时返回 ν=0、rank_deficient=False；有自由变量但 g=0 仍检查秩，不把零梯度隐藏的弱模判满秩。自由集用于一阶箱约束判定，步求解仍在全部 active DOF 上，随后限步和投影。状态优先级为 no_data→intersection_failed→rank_deficient→converged→budget_exhausted；求交失败标志只在整条重试阶梯未获接受时汇总，不是曾出现一次丢点候选就永久失败。lstsq 回退证据则为累计记录。无 hit 与有 hit 但零有效分量必须区分。最终总体失效率按所有真实 hit 统计（并非仅 target），初始与最终均受配置阈值约束；本块候选失效率仅针对本 sensor。CPU 默认 float64，GPU 路径使用 float32，不继承 refit 内部强制 float64 的约定。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符号衔接与 sensor 分块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共同原理：seed 第 5 页的 GN/LM；refit 第 2–4 页的平面求交、局部标准化残差。此处固定径迹，更新位姿。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沿用符号，区分径迹变量与几何变量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35024"/>
          <a:ext cx="6611112" cy="320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056632"/>
              </a:tblGrid>
              <a:tr h="35661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定义 · 维度 / 单位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η；θ；h；t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六维 / 五维径迹参数；位置；路径导数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cⱼ；Rⱼ；nⱼ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sensor 中心；局部→全局旋转；法向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mᵢ；m̂ᵢ；Vᵢ,ₐ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局部测量；预测；分量方差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r；F；J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标准化残差；½χ²；本阶段 Jacobian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H；g；Δ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JᵀJ；Jᵀr；归一化坐标的候选步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μ；α；M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阻尼水平；阻尼尺度；αI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ν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decrement 二次型；本阶段按自由集计算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i, j；a；k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hit、sensor；LOC 分量；外层访问轮次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892040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新增位姿与约束符号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5276088"/>
          <a:ext cx="661111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056632"/>
              </a:tblGrid>
              <a:tr h="35661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定义 · 维度 / 单位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ξⱼ；xⱼ；zⱼ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六维位姿修正；选定 DOF；归一化坐标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Sⱼ；dⱼ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正对角物理尺度；选定 DOF 数 ≤ 6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Eⱼ；Nⱼ；Uⱼ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固定比较分量集；其大小；自由变量集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βⱼ；εeig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谱下限补偿；特征值比例阈值 10⁻⁴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16368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算法入口：refit 径迹固定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1353312"/>
            <a:ext cx="661111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主线传入非目标层 refit 的 η，并停止梯度。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仅优化 target sensor 的位姿；局部测量保持固定。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00" descr="F(\{\boldsymbol\xi_j\})=\sum_j F_j(\boldsymbol\xi_j),\quad F_j=\tfrac12\|\mathbf r_j\|^2"/>
              <p:cNvSpPr txBox="1"/>
              <p:nvPr/>
            </p:nvSpPr>
            <p:spPr>
              <a:xfrm>
                <a:off x="7516368" y="2188020"/>
                <a:ext cx="6611112" cy="70802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35">
                          <a:latin typeface="Cambria Math" panose="02040503050406030204"/>
                        </a:rPr>
                        <m:t>𝐹</m:t>
                      </m:r>
                      <m:r>
                        <a:rPr sz="1935">
                          <a:latin typeface="Cambria Math" panose="02040503050406030204"/>
                        </a:rPr>
                        <m:t>({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35">
                              <a:latin typeface="Cambria Math" panose="02040503050406030204"/>
                            </a:rPr>
                            <m:t>𝝃</m:t>
                          </m:r>
                        </m:e>
                        <m:sub>
                          <m:r>
                            <a:rPr sz="1935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35">
                          <a:latin typeface="Cambria Math" panose="02040503050406030204"/>
                        </a:rPr>
                        <m:t>}</m:t>
                      </m:r>
                      <m:r>
                        <a:rPr sz="1935">
                          <a:latin typeface="Cambria Math" panose="02040503050406030204"/>
                        </a:rPr>
                        <m:t>)=</m:t>
                      </m:r>
                      <m:nary>
                        <m:naryPr>
                          <m:chr m:val="∑"/>
                          <m:grow m:val="on"/>
                          <m:limLoc m:val="subSup"/>
                          <m:supHide m:val="on"/>
                          <m:ctrlPr>
                            <a:rPr/>
                          </m:ctrlPr>
                        </m:naryPr>
                        <m:sub>
                          <m:r>
                            <a:rPr sz="1935">
                              <a:latin typeface="Cambria Math" panose="02040503050406030204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/>
                                </a:rPr>
                                <m:t>𝐹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  <m:r>
                            <a:rPr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/>
                                </a:rPr>
                                <m:t>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  <m:r>
                            <a:rPr>
                              <a:latin typeface="Cambria Math" panose="02040503050406030204"/>
                            </a:rPr>
                            <m:t>)</m:t>
                          </m:r>
                        </m:e>
                      </m:nary>
                      <m:r>
                        <a:rPr sz="1935">
                          <a:latin typeface="Cambria Math" panose="02040503050406030204"/>
                        </a:rPr>
                        <m:t>,</m:t>
                      </m:r>
                      <m:r>
                        <a:rPr sz="1935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35">
                              <a:latin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sz="1935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35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935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1935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a:rPr sz="1935">
                          <a:latin typeface="Cambria Math" panose="02040503050406030204"/>
                        </a:rPr>
                        <m:t>‖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35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1935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35">
                              <a:latin typeface="Cambria Math" panose="02040503050406030204"/>
                            </a:rPr>
                            <m:t>‖</m:t>
                          </m:r>
                        </m:e>
                        <m:sup>
                          <m:r>
                            <a:rPr sz="1935">
                              <a:latin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1" name="e000" descr="F(\{\boldsymbol\xi_j\})=\sum_j F_j(\boldsymbol\xi_j),\quad F_j=\tfrac12\|\mathbf r_j\|^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188020"/>
                <a:ext cx="6611112" cy="708025"/>
              </a:xfrm>
              <a:prstGeom prst="rect">
                <a:avLst/>
              </a:prstGeom>
              <a:blipFill rotWithShape="1">
                <a:blip r:embed="rId1"/>
                <a:stretch>
                  <a:fillRect l="-8" t="-63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001" descr="\frac{\partial\mathbf r_j}{\partial\boldsymbol\xi_l}=0\quad(j\ne l)"/>
              <p:cNvSpPr txBox="1"/>
              <p:nvPr/>
            </p:nvSpPr>
            <p:spPr>
              <a:xfrm>
                <a:off x="7562088" y="3447288"/>
                <a:ext cx="6611112" cy="67665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100">
                              <a:latin typeface="Cambria Math" panose="02040503050406030204"/>
                            </a:rPr>
                            <m:t>𝜕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𝐫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sz="2100">
                              <a:latin typeface="Cambria Math" panose="02040503050406030204"/>
                            </a:rPr>
                            <m:t>𝜕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𝝃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sz="2100">
                          <a:latin typeface="Cambria Math" panose="02040503050406030204"/>
                        </a:rPr>
                        <m:t>=</m:t>
                      </m:r>
                      <m:r>
                        <a:rPr sz="2100">
                          <a:latin typeface="Cambria Math" panose="02040503050406030204"/>
                        </a:rPr>
                        <m:t>0</m:t>
                      </m:r>
                      <m:r>
                        <a:rPr sz="2100">
                          <a:latin typeface="Cambria Math" panose="02040503050406030204"/>
                        </a:rPr>
                        <m:t> </m:t>
                      </m:r>
                      <m:r>
                        <a:rPr sz="2100">
                          <a:latin typeface="Cambria Math" panose="02040503050406030204"/>
                        </a:rPr>
                        <m:t>(</m:t>
                      </m:r>
                      <m:r>
                        <a:rPr sz="2100">
                          <a:latin typeface="Cambria Math" panose="02040503050406030204"/>
                        </a:rPr>
                        <m:t>𝑗</m:t>
                      </m:r>
                      <m:r>
                        <a:rPr sz="2100">
                          <a:latin typeface="Cambria Math" panose="02040503050406030204"/>
                        </a:rPr>
                        <m:t>≠</m:t>
                      </m:r>
                      <m:r>
                        <a:rPr sz="2100">
                          <a:latin typeface="Cambria Math" panose="02040503050406030204"/>
                        </a:rPr>
                        <m:t>𝑙</m:t>
                      </m:r>
                      <m:r>
                        <a:rPr sz="21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e001" descr="\frac{\partial\mathbf r_j}{\partial\boldsymbol\xi_l}=0\quad(j\ne l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088" y="3447288"/>
                <a:ext cx="6611112" cy="676656"/>
              </a:xfrm>
              <a:prstGeom prst="rect">
                <a:avLst/>
              </a:prstGeom>
              <a:blipFill rotWithShape="1">
                <a:blip r:embed="rId2"/>
                <a:stretch>
                  <a:fillRect l="-8" t="-4955" b="-49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002" descr="H_{\rm all}=\operatorname{blockdiag}(H_1,H_2,\ldots)"/>
              <p:cNvSpPr txBox="1"/>
              <p:nvPr/>
            </p:nvSpPr>
            <p:spPr>
              <a:xfrm>
                <a:off x="7516368" y="4343400"/>
                <a:ext cx="6611112" cy="51206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𝐻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𝑎𝑙𝑙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𝑏𝑙𝑜𝑐𝑘𝑑𝑖𝑎𝑔</m:t>
                      </m:r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𝐻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𝐻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,…)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e002" descr="H_{\rm all}=\operatorname{blockdiag}(H_1,H_2,\ldots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4343400"/>
                <a:ext cx="6611112" cy="512064"/>
              </a:xfrm>
              <a:prstGeom prst="rect">
                <a:avLst/>
              </a:prstGeom>
              <a:blipFill rotWithShape="1">
                <a:blip r:embed="rId3"/>
                <a:stretch>
                  <a:fillRect l="-8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516368" y="609904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3  与前两阶段的关系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6510528"/>
            <a:ext cx="6611112" cy="1033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ξ 不复用径迹 θ；r 仍为“测量减预测”并标准化。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独立块各自维护 μ；驻点块可退出后续访问。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解耦成立于固定径迹、无跨 sensor 约束的本模型。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493000" y="311848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2  为什么可以逐 </a:t>
            </a:r>
            <a:r>
              <a:rPr lang="en-US" altLang="zh-CN"/>
              <a:t>sensor </a:t>
            </a:r>
            <a:r>
              <a:rPr lang="zh-CN" altLang="en-US"/>
              <a:t>独立求解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位姿参数化与固定集合目标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实现：apply_alignment_torch / torch_euler_to_rotation_matrix / _sensor_residual_data / _block_lm_fixed_chi2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相对输入几何的局部平移与 Euler 旋转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03" descr="\boldsymbol\xi_j=(d_u,d_v,d_w,\omega_x,\omega_y,\omega_z)"/>
              <p:cNvSpPr txBox="1"/>
              <p:nvPr/>
            </p:nvSpPr>
            <p:spPr>
              <a:xfrm>
                <a:off x="502920" y="1353312"/>
                <a:ext cx="6611112" cy="5212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𝝃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𝑢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𝑣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𝑤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𝜔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𝑥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𝜔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𝑦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𝜔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𝑧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003" descr="\boldsymbol\xi_j=(d_u,d_v,d_w,\omega_x,\omega_y,\omega_z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53312"/>
                <a:ext cx="6611112" cy="521207"/>
              </a:xfrm>
              <a:prstGeom prst="rect">
                <a:avLst/>
              </a:prstGeom>
              <a:blipFill rotWithShape="1">
                <a:blip r:embed="rId1"/>
                <a:stretch>
                  <a:fillRect t="-24" r="2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04" descr="\mathbf c_j=\mathbf c_j^0+R_j^0\mathbf d_j,\quad \mathbf d_j=(d_u,d_v,d_w)^{\mathsf T}"/>
              <p:cNvSpPr txBox="1"/>
              <p:nvPr/>
            </p:nvSpPr>
            <p:spPr>
              <a:xfrm>
                <a:off x="502920" y="2066543"/>
                <a:ext cx="6611112" cy="5669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𝐜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𝐜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+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p>
                      </m:sSub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𝐝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𝐝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𝑢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𝑣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𝑤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7" name="e004" descr="\mathbf c_j=\mathbf c_j^0+R_j^0\mathbf d_j,\quad \mathbf d_j=(d_u,d_v,d_w)^{\mathsf T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066543"/>
                <a:ext cx="6611112" cy="566928"/>
              </a:xfrm>
              <a:prstGeom prst="rect">
                <a:avLst/>
              </a:prstGeom>
              <a:blipFill rotWithShape="1">
                <a:blip r:embed="rId2"/>
                <a:stretch>
                  <a:fillRect t="-45" r="2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005" descr="R_j=R_j^0 R_z(\omega_z)R_y(\omega_y)R_x(\omega_x)"/>
              <p:cNvSpPr txBox="1"/>
              <p:nvPr/>
            </p:nvSpPr>
            <p:spPr>
              <a:xfrm>
                <a:off x="502920" y="2816352"/>
                <a:ext cx="6611112" cy="5212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p>
                      </m:sSub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𝑧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𝜔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𝑧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𝑦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𝜔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𝑦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𝑥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𝜔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𝑥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e005" descr="R_j=R_j^0 R_z(\omega_z)R_y(\omega_y)R_x(\omega_x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816352"/>
                <a:ext cx="6611112" cy="521207"/>
              </a:xfrm>
              <a:prstGeom prst="rect">
                <a:avLst/>
              </a:prstGeom>
              <a:blipFill rotWithShape="1">
                <a:blip r:embed="rId3"/>
                <a:stretch>
                  <a:fillRect t="-24" r="2" b="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006" descr="\mathbf n_j=R_j\mathbf e_z,\qquad\mathbf e_z=(0,0,1)^{\mathsf T}"/>
              <p:cNvSpPr txBox="1"/>
              <p:nvPr/>
            </p:nvSpPr>
            <p:spPr>
              <a:xfrm>
                <a:off x="502920" y="3557016"/>
                <a:ext cx="6611112" cy="5303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𝐧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𝐞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𝑧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𝐞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𝑧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9" name="e006" descr="\mathbf n_j=R_j\mathbf e_z,\qquad\mathbf e_z=(0,0,1)^{\mathsf T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557016"/>
                <a:ext cx="6611112" cy="530352"/>
              </a:xfrm>
              <a:prstGeom prst="rect">
                <a:avLst/>
              </a:prstGeom>
              <a:blipFill rotWithShape="1">
                <a:blip r:embed="rId4"/>
                <a:stretch>
                  <a:fillRect t="-72" r="2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02920" y="5513832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改变平面后必须重新求交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007" descr="\phi_{ij}(s,\boldsymbol\xi_j)=\mathbf n_j^{\mathsf T}[\mathbf h_i(s)-\mathbf c_j]=0"/>
              <p:cNvSpPr txBox="1"/>
              <p:nvPr/>
            </p:nvSpPr>
            <p:spPr>
              <a:xfrm>
                <a:off x="502920" y="5925312"/>
                <a:ext cx="6611112" cy="61264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𝜙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𝝃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𝐧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[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𝐡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𝐜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]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e007" descr="\phi_{ij}(s,\boldsymbol\xi_j)=\mathbf n_j^{\mathsf T}[\mathbf h_i(s)-\mathbf c_j]=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925312"/>
                <a:ext cx="6611112" cy="612648"/>
              </a:xfrm>
              <a:prstGeom prst="rect">
                <a:avLst/>
              </a:prstGeom>
              <a:blipFill rotWithShape="1">
                <a:blip r:embed="rId5"/>
                <a:stretch>
                  <a:fillRect t="-21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008" descr="\widehat{\mathbf m}_{ij}=PR_j^{\mathsf T}[\mathbf h_i(\hat s_{ij}^{\cap})-\mathbf c_j]"/>
              <p:cNvSpPr txBox="1"/>
              <p:nvPr/>
            </p:nvSpPr>
            <p:spPr>
              <a:xfrm>
                <a:off x="502920" y="6812280"/>
                <a:ext cx="6611112" cy="57607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𝐦</m:t>
                              </m:r>
                            </m:e>
                            <m:lim>
                              <m:r>
                                <a:rPr sz="2000">
                                  <a:latin typeface="Cambria Math" panose="02040503050406030204"/>
                                </a:rPr>
                                <m:t>ˆ</m:t>
                              </m:r>
                            </m:lim>
                          </m:limUpp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𝑃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[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𝐡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lim>
                              <m:r>
                                <a:rPr sz="2000">
                                  <a:latin typeface="Cambria Math" panose="02040503050406030204"/>
                                </a:rPr>
                                <m:t>ˆ</m:t>
                              </m:r>
                            </m:lim>
                          </m:limUpp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∩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𝐜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e008" descr="\widehat{\mathbf m}_{ij}=PR_j^{\mathsf T}[\mathbf h_i(\hat s_{ij}^{\cap})-\mathbf c_j]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812280"/>
                <a:ext cx="6611112" cy="576072"/>
              </a:xfrm>
              <a:prstGeom prst="rect">
                <a:avLst/>
              </a:prstGeom>
              <a:blipFill rotWithShape="1">
                <a:blip r:embed="rId6"/>
                <a:stretch>
                  <a:fillRect r="2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009" descr="\widetilde r_{ij,a}=\frac{m_{i,a}-\widehat m_{ij,a}}{\sqrt{\max(V_{i,a},10^{-8})}}"/>
              <p:cNvSpPr txBox="1"/>
              <p:nvPr/>
            </p:nvSpPr>
            <p:spPr>
              <a:xfrm>
                <a:off x="7516368" y="1344168"/>
                <a:ext cx="6611112" cy="9326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2090">
                                  <a:latin typeface="Cambria Math" panose="02040503050406030204"/>
                                </a:rPr>
                                <m:t>𝑟</m:t>
                              </m:r>
                            </m:e>
                            <m:lim>
                              <m:r>
                                <a:rPr sz="2090">
                                  <a:latin typeface="Cambria Math" panose="02040503050406030204"/>
                                </a:rPr>
                                <m:t>~</m:t>
                              </m:r>
                            </m:lim>
                          </m:limUpp>
                        </m:e>
                        <m:sub>
                          <m:r>
                            <a:rPr sz="2090">
                              <a:latin typeface="Cambria Math" panose="02040503050406030204"/>
                            </a:rPr>
                            <m:t>𝑖𝑗</m:t>
                          </m:r>
                          <m:r>
                            <a:rPr sz="209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090">
                              <a:latin typeface="Cambria Math" panose="02040503050406030204"/>
                            </a:rPr>
                            <m:t>𝑎</m:t>
                          </m:r>
                        </m:sub>
                      </m:sSub>
                      <m:r>
                        <a:rPr sz="209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90">
                                  <a:latin typeface="Cambria Math" panose="02040503050406030204"/>
                                </a:rPr>
                                <m:t>𝑚</m:t>
                              </m:r>
                            </m:e>
                            <m:sub>
                              <m:r>
                                <a:rPr sz="2090">
                                  <a:latin typeface="Cambria Math" panose="02040503050406030204"/>
                                </a:rPr>
                                <m:t>𝑖</m:t>
                              </m:r>
                              <m:r>
                                <a:rPr sz="2090"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 sz="2090">
                                  <a:latin typeface="Cambria Math" panose="02040503050406030204"/>
                                </a:rPr>
                                <m:t>𝑎</m:t>
                              </m:r>
                            </m:sub>
                          </m:sSub>
                          <m:r>
                            <a:rPr sz="2090">
                              <a:latin typeface="Cambria Math" panose="02040503050406030204"/>
                            </a:rPr>
                            <m:t>−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/>
                                  </m:ctrlPr>
                                </m:limUppPr>
                                <m:e>
                                  <m:r>
                                    <a:rPr sz="2090">
                                      <a:latin typeface="Cambria Math" panose="02040503050406030204"/>
                                    </a:rPr>
                                    <m:t>𝑚</m:t>
                                  </m:r>
                                </m:e>
                                <m:lim>
                                  <m:r>
                                    <a:rPr sz="2090">
                                      <a:latin typeface="Cambria Math" panose="02040503050406030204"/>
                                    </a:rPr>
                                    <m:t>ˆ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2090">
                                  <a:latin typeface="Cambria Math" panose="02040503050406030204"/>
                                </a:rPr>
                                <m:t>𝑖𝑗</m:t>
                              </m:r>
                              <m:r>
                                <a:rPr sz="2090"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 sz="2090">
                                  <a:latin typeface="Cambria Math" panose="02040503050406030204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/>
                              </m:ctrlPr>
                            </m:radPr>
                            <m:deg/>
                            <m:e>
                              <m:r>
                                <a:rPr sz="2090">
                                  <a:latin typeface="Cambria Math" panose="02040503050406030204"/>
                                </a:rPr>
                                <m:t>𝑚𝑎𝑥</m:t>
                              </m:r>
                              <m:r>
                                <a:rPr sz="2090">
                                  <a:latin typeface="Cambria Math" panose="02040503050406030204"/>
                                </a:rPr>
                                <m:t>⁡</m:t>
                              </m:r>
                              <m:r>
                                <a:rPr sz="2090">
                                  <a:latin typeface="Cambria Math" panose="02040503050406030204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sz="2090">
                                      <a:latin typeface="Cambria Math" panose="02040503050406030204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sz="2090">
                                      <a:latin typeface="Cambria Math" panose="02040503050406030204"/>
                                    </a:rPr>
                                    <m:t>𝑖</m:t>
                                  </m:r>
                                  <m:r>
                                    <a:rPr sz="2090">
                                      <a:latin typeface="Cambria Math" panose="02040503050406030204"/>
                                    </a:rPr>
                                    <m:t>,</m:t>
                                  </m:r>
                                  <m:r>
                                    <a:rPr sz="2090">
                                      <a:latin typeface="Cambria Math" panose="02040503050406030204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sz="2090">
                                  <a:latin typeface="Cambria Math" panose="02040503050406030204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/>
                                  </m:ctrlPr>
                                </m:sSupPr>
                                <m:e>
                                  <m:r>
                                    <a:rPr sz="2090">
                                      <a:latin typeface="Cambria Math" panose="02040503050406030204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sz="2090">
                                      <a:latin typeface="Cambria Math" panose="02040503050406030204"/>
                                    </a:rPr>
                                    <m:t>−</m:t>
                                  </m:r>
                                  <m:r>
                                    <a:rPr sz="2090">
                                      <a:latin typeface="Cambria Math" panose="02040503050406030204"/>
                                    </a:rPr>
                                    <m:t>8</m:t>
                                  </m:r>
                                </m:sup>
                              </m:sSup>
                              <m:r>
                                <a:rPr sz="2090">
                                  <a:latin typeface="Cambria Math" panose="02040503050406030204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5" name="e009" descr="\widetilde r_{ij,a}=\frac{m_{i,a}-\widehat m_{ij,a}}{\sqrt{\max(V_{i,a},10^{-8})}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344168"/>
                <a:ext cx="6611112" cy="932688"/>
              </a:xfrm>
              <a:prstGeom prst="rect">
                <a:avLst/>
              </a:prstGeom>
              <a:blipFill rotWithShape="1">
                <a:blip r:embed="rId7"/>
                <a:stretch>
                  <a:fillRect l="-8" t="-2982" b="-2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010" descr="\mathcal E_j^{(k)}=\{(i,a):\text{current valid component}\}"/>
              <p:cNvSpPr txBox="1"/>
              <p:nvPr/>
            </p:nvSpPr>
            <p:spPr>
              <a:xfrm>
                <a:off x="7516368" y="2340864"/>
                <a:ext cx="6611112" cy="5394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ℰ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𝑘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{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r>
                        <a:rPr sz="1900">
                          <a:latin typeface="Cambria Math" panose="02040503050406030204"/>
                        </a:rPr>
                        <m:t>𝑖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𝑎</m:t>
                      </m:r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:</m:t>
                      </m:r>
                      <m:r>
                        <m:rPr>
                          <m:nor/>
                        </m:rPr>
                        <a:rPr sz="1900">
                          <a:latin typeface="Cambria Math" panose="02040503050406030204"/>
                        </a:rPr>
                        <m:t>current</m:t>
                      </m:r>
                      <m:r>
                        <m:rPr>
                          <m:nor/>
                        </m:rPr>
                        <a:rPr sz="1900">
                          <a:latin typeface="Cambria Math" panose="02040503050406030204"/>
                        </a:rPr>
                        <m:t> </m:t>
                      </m:r>
                      <m:r>
                        <m:rPr>
                          <m:nor/>
                        </m:rPr>
                        <a:rPr sz="1900">
                          <a:latin typeface="Cambria Math" panose="02040503050406030204"/>
                        </a:rPr>
                        <m:t>valid</m:t>
                      </m:r>
                      <m:r>
                        <m:rPr>
                          <m:nor/>
                        </m:rPr>
                        <a:rPr sz="1900">
                          <a:latin typeface="Cambria Math" panose="02040503050406030204"/>
                        </a:rPr>
                        <m:t> </m:t>
                      </m:r>
                      <m:r>
                        <m:rPr>
                          <m:nor/>
                        </m:rPr>
                        <a:rPr sz="1900">
                          <a:latin typeface="Cambria Math" panose="02040503050406030204"/>
                        </a:rPr>
                        <m:t>component</m:t>
                      </m:r>
                      <m:r>
                        <a:rPr sz="1900">
                          <a:latin typeface="Cambria Math" panose="02040503050406030204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6" name="e010" descr="\mathcal E_j^{(k)}=\{(i,a):\text{current valid component}\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340864"/>
                <a:ext cx="6611112" cy="539496"/>
              </a:xfrm>
              <a:prstGeom prst="rect">
                <a:avLst/>
              </a:prstGeom>
              <a:blipFill rotWithShape="1">
                <a:blip r:embed="rId8"/>
                <a:stretch>
                  <a:fillRect l="-8" t="-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011" descr="\mathbf r_j=\operatorname{col}_{(i,a)\in\mathcal E_j^{(k)}}(\widetilde r_{ij,a}),\quad N_j=|\mathcal E_j^{(k)}|"/>
              <p:cNvSpPr txBox="1"/>
              <p:nvPr/>
            </p:nvSpPr>
            <p:spPr>
              <a:xfrm>
                <a:off x="7516368" y="3099816"/>
                <a:ext cx="6611112" cy="60350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𝑐𝑜𝑙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𝑎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∈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ℰ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  <m:sup>
                              <m:r>
                                <a:rPr sz="1900">
                                  <a:latin typeface="Cambria Math" panose="02040503050406030204"/>
                                </a:rPr>
                                <m:t>(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𝑘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)</m:t>
                              </m:r>
                            </m:sup>
                          </m:sSubSup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𝑟</m:t>
                              </m:r>
                            </m:e>
                            <m:lim>
                              <m:r>
                                <a:rPr sz="1900">
                                  <a:latin typeface="Cambria Math" panose="02040503050406030204"/>
                                </a:rPr>
                                <m:t>~</m:t>
                              </m:r>
                            </m:lim>
                          </m:limUpp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𝑖𝑗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𝑎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𝑁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=|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ℰ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𝑘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|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7" name="e011" descr="\mathbf r_j=\operatorname{col}_{(i,a)\in\mathcal E_j^{(k)}}(\widetilde r_{ij,a}),\quad N_j=|\mathcal E_j^{(k)}|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3099816"/>
                <a:ext cx="6611112" cy="603504"/>
              </a:xfrm>
              <a:prstGeom prst="rect">
                <a:avLst/>
              </a:prstGeom>
              <a:blipFill rotWithShape="1">
                <a:blip r:embed="rId9"/>
                <a:stretch>
                  <a:fillRect l="-8" t="-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012" descr="F_j=\tfrac12\mathbf r_j^{\mathsf T}\mathbf r_j,\quad \chi_j^2=2F_j"/>
              <p:cNvSpPr txBox="1"/>
              <p:nvPr/>
            </p:nvSpPr>
            <p:spPr>
              <a:xfrm>
                <a:off x="7516368" y="3941063"/>
                <a:ext cx="6611112" cy="5303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𝜒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2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8" name="e012" descr="F_j=\tfrac12\mathbf r_j^{\mathsf T}\mathbf r_j,\quad \chi_j^2=2F_j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3941063"/>
                <a:ext cx="6611112" cy="530352"/>
              </a:xfrm>
              <a:prstGeom prst="rect">
                <a:avLst/>
              </a:prstGeom>
              <a:blipFill rotWithShape="1">
                <a:blip r:embed="rId10"/>
                <a:stretch>
                  <a:fillRect l="-8" t="-9626" b="-9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7516368" y="5669280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目标固定到哪一层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6071616"/>
            <a:ext cx="6611112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Eⱼ 在本次线性化及全部阻尼重试中保持不变。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候选可增加有效分量，但不得丢失 Eⱼ 中的分量。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下次访问重新定义 Eⱼ，集合可增长，故跨轮历史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目标不保证单调；不能以删掉难拟合点换取下降。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27050" y="419925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平移沿输入面的局部轴；旋转右乘输入 </a:t>
            </a:r>
            <a:r>
              <a:rPr lang="en-US" altLang="zh-CN"/>
              <a:t>R⁰。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7433945" y="92392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3  残差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移动测量面时的几何 Jacobian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理论：精确交点、固定有效分支；实现：_block_lm_linearized_block 对实际有限次求交及坐标变换自动微分。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固定径迹，位姿参数改变平面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661111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令 xⱼ 为选定的物理位姿变量，本页对其第 b 个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分量求导；η 固定，hᵢ 对该分量的显式偏导为零。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13" descr="0=\partial_b\mathbf n_j^{\mathsf T}(\mathbf h_i-\mathbf c_j)+\mathbf n_j^{\mathsf T}(\mathbf t_i\partial_b s-\partial_b\mathbf c_j)"/>
              <p:cNvSpPr txBox="1"/>
              <p:nvPr/>
            </p:nvSpPr>
            <p:spPr>
              <a:xfrm>
                <a:off x="502920" y="2258568"/>
                <a:ext cx="6611112" cy="6400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𝜕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𝐧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𝐡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𝐜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+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𝐧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𝐭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𝜕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𝑠</m:t>
                      </m:r>
                      <m:r>
                        <a:rPr sz="19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𝜕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𝐜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013" descr="0=\partial_b\mathbf n_j^{\mathsf T}(\mathbf h_i-\mathbf c_j)+\mathbf n_j^{\mathsf T}(\mathbf t_i\partial_b s-\partial_b\mathbf c_j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258568"/>
                <a:ext cx="6611112" cy="640080"/>
              </a:xfrm>
              <a:prstGeom prst="rect">
                <a:avLst/>
              </a:prstGeom>
              <a:blipFill rotWithShape="1">
                <a:blip r:embed="rId1"/>
                <a:stretch>
                  <a:fillRect t="-79" r="2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014" descr="\frac{\partial s}{\partial x_b}=\frac{\mathbf n_j^{\mathsf T}\partial_b\mathbf c_j-(\partial_b\mathbf n_j)^{\mathsf T}(\mathbf h_i-\mathbf c_j)}{\mathbf n_j^{\mathsf T}\mathbf t_i}"/>
              <p:cNvSpPr txBox="1"/>
              <p:nvPr/>
            </p:nvSpPr>
            <p:spPr>
              <a:xfrm>
                <a:off x="502920" y="3163824"/>
                <a:ext cx="6611112" cy="84124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𝜕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𝜕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𝐧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  <m:sup>
                              <m:r>
                                <a:rPr sz="2000">
                                  <a:latin typeface="Cambria Math" panose="02040503050406030204"/>
                                </a:rPr>
                                <m:t>𝖳</m:t>
                              </m:r>
                            </m:sup>
                          </m:sSubSup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𝜕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𝑏</m:t>
                              </m:r>
                            </m:sub>
                          </m:s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𝐜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/>
                            </a:rPr>
                            <m:t>−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sz="2000">
                                  <a:latin typeface="Cambria Math" panose="02040503050406030204"/>
                                </a:rPr>
                                <m:t>)</m:t>
                              </m:r>
                            </m:e>
                            <m:sup>
                              <m:r>
                                <a:rPr sz="2000">
                                  <a:latin typeface="Cambria Math" panose="02040503050406030204"/>
                                </a:rPr>
                                <m:t>𝖳</m:t>
                              </m:r>
                            </m:sup>
                          </m:sSup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/>
                            </a:rPr>
                            <m:t>−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𝐜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num>
                        <m:den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𝐧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  <m:sup>
                              <m:r>
                                <a:rPr sz="2000">
                                  <a:latin typeface="Cambria Math" panose="02040503050406030204"/>
                                </a:rPr>
                                <m:t>𝖳</m:t>
                              </m:r>
                            </m:sup>
                          </m:sSubSup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𝐭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8" name="e014" descr="\frac{\partial s}{\partial x_b}=\frac{\mathbf n_j^{\mathsf T}\partial_b\mathbf c_j-(\partial_b\mathbf n_j)^{\mathsf T}(\mathbf h_i-\mathbf c_j)}{\mathbf n_j^{\mathsf T}\mathbf t_i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163824"/>
                <a:ext cx="6611112" cy="841248"/>
              </a:xfrm>
              <a:prstGeom prst="rect">
                <a:avLst/>
              </a:prstGeom>
              <a:blipFill rotWithShape="1">
                <a:blip r:embed="rId2"/>
                <a:stretch>
                  <a:fillRect t="-559" r="2" b="-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02920" y="5202936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局部预测同时包含坐标系与交点变化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15" descr="\partial_b\widehat{\mathbf m}_{ij}=P\left[(\partial_bR_j)^{\mathsf T}(\mathbf h_i-\mathbf c_j)\right."/>
              <p:cNvSpPr txBox="1"/>
              <p:nvPr/>
            </p:nvSpPr>
            <p:spPr>
              <a:xfrm>
                <a:off x="502920" y="5623560"/>
                <a:ext cx="6611112" cy="7040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𝜕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𝐦</m:t>
                              </m:r>
                            </m:e>
                            <m:lim>
                              <m:r>
                                <a:rPr sz="2000">
                                  <a:latin typeface="Cambria Math" panose="02040503050406030204"/>
                                </a:rPr>
                                <m:t>ˆ</m:t>
                              </m:r>
                            </m:lim>
                          </m:limUpp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𝑃</m:t>
                      </m:r>
                      <m:r>
                        <a:rPr sz="2000">
                          <a:latin typeface="Cambria Math" panose="02040503050406030204"/>
                        </a:rPr>
                        <m:t>[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𝜕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𝑏</m:t>
                              </m:r>
                            </m:sub>
                          </m:s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𝑅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𝐡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𝐜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e015" descr="\partial_b\widehat{\mathbf m}_{ij}=P\left[(\partial_bR_j)^{\mathsf T}(\mathbf h_i-\mathbf c_j)\right.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623560"/>
                <a:ext cx="6611112" cy="704088"/>
              </a:xfrm>
              <a:prstGeom prst="rect">
                <a:avLst/>
              </a:prstGeom>
              <a:blipFill rotWithShape="1">
                <a:blip r:embed="rId3"/>
                <a:stretch>
                  <a:fillRect r="2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016" descr="\left.\qquad+R_j^{\mathsf T}(\mathbf t_i\partial_b s-\partial_b\mathbf c_j)\right]"/>
              <p:cNvSpPr txBox="1"/>
              <p:nvPr/>
            </p:nvSpPr>
            <p:spPr>
              <a:xfrm>
                <a:off x="502920" y="6620256"/>
                <a:ext cx="6611112" cy="6583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𝑅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𝐭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𝜕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𝜕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𝐜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e016" descr="\left.\qquad+R_j^{\mathsf T}(\mathbf t_i\partial_b s-\partial_b\mathbf c_j)\right]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620256"/>
                <a:ext cx="6611112" cy="658368"/>
              </a:xfrm>
              <a:prstGeom prst="rect">
                <a:avLst/>
              </a:prstGeom>
              <a:blipFill rotWithShape="1">
                <a:blip r:embed="rId4"/>
                <a:stretch>
                  <a:fillRect t="-58" r="2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fallback_e017" descr="\partial_b\mathbf n_j=(\partial_b R_j)\mathbf e_z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1479243"/>
            <a:ext cx="1875354" cy="2784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018" descr="J_{j,\rm phys}=-\operatorname{col}_{\mathcal E_j}\left(W_i\frac{\partial\widehat{\mathbf m}_{ij}}{\partial\mathbf x_j}\right)"/>
              <p:cNvSpPr txBox="1"/>
              <p:nvPr/>
            </p:nvSpPr>
            <p:spPr>
              <a:xfrm>
                <a:off x="7516368" y="3035808"/>
                <a:ext cx="6611112" cy="81381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𝐽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𝑝ℎ𝑦𝑠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𝑐𝑜𝑙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ℰ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𝑊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𝜕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/>
                                  </m:ctrlPr>
                                </m:limUppPr>
                                <m:e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𝐦</m:t>
                                  </m:r>
                                </m:e>
                                <m:lim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ˆ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𝜕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𝐱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6" name="e018" descr="J_{j,\rm phys}=-\operatorname{col}_{\mathcal E_j}\left(W_i\frac{\partial\widehat{\mathbf m}_{ij}}{\partial\mathbf x_j}\righ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3035808"/>
                <a:ext cx="6611112" cy="813816"/>
              </a:xfrm>
              <a:prstGeom prst="rect">
                <a:avLst/>
              </a:prstGeom>
              <a:blipFill rotWithShape="1">
                <a:blip r:embed="rId6"/>
                <a:stretch>
                  <a:fillRect l="-8" t="-5446" b="-54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7516368" y="5010912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实际求导路径与理论边界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5440680"/>
            <a:ext cx="6611112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xⱼ → 六维位姿行 → cⱼ、Rⱼ、nⱼ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12 次 Newton 求交 → 局部预测 → rⱼ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autograd.functional.jacobian。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6629400"/>
            <a:ext cx="66111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路径参与求导；固定集合与布尔有效性不连续求导。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有限迭代 / 分支边界处不保证等于精确根隐式导数。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442200" y="96647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3  位姿偏导与标准化残差的符号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603490" y="197040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平移变量：</a:t>
            </a:r>
            <a:r>
              <a:rPr lang="en-US" altLang="zh-CN"/>
              <a:t>𝜕</a:t>
            </a:r>
            <a:r>
              <a:rPr lang="en-US" altLang="zh-CN"/>
              <a:t>𝑐</a:t>
            </a:r>
            <a:r>
              <a:rPr lang="en-US" altLang="zh-CN"/>
              <a:t>/</a:t>
            </a:r>
            <a:r>
              <a:rPr lang="en-US" altLang="zh-CN"/>
              <a:t>𝜕</a:t>
            </a:r>
            <a:r>
              <a:rPr lang="en-US" altLang="zh-CN"/>
              <a:t>𝑑</a:t>
            </a:r>
            <a:r>
              <a:rPr lang="" altLang="en-US"/>
              <a:t>ᵤ = </a:t>
            </a:r>
            <a:r>
              <a:rPr lang="en-US" altLang="zh-CN"/>
              <a:t>R⁰e</a:t>
            </a:r>
            <a:r>
              <a:rPr lang="" altLang="en-US"/>
              <a:t>ᵤ，∂</a:t>
            </a:r>
            <a:r>
              <a:rPr lang="en-US" altLang="zh-CN"/>
              <a:t>R/∂d</a:t>
            </a:r>
            <a:r>
              <a:rPr lang="" altLang="en-US"/>
              <a:t>ᵤ = 0</a:t>
            </a:r>
            <a:endParaRPr lang="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748270" y="242125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旋转变量：</a:t>
            </a:r>
            <a:r>
              <a:rPr lang="en-US" altLang="zh-CN"/>
              <a:t>𝜕</a:t>
            </a:r>
            <a:r>
              <a:rPr lang="en-US" altLang="zh-CN"/>
              <a:t>𝑐</a:t>
            </a:r>
            <a:r>
              <a:rPr lang="en-US" altLang="zh-CN"/>
              <a:t>/</a:t>
            </a:r>
            <a:r>
              <a:rPr lang="en-US" altLang="zh-CN"/>
              <a:t>𝜕ω = 0，∂R/∂ω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7552690" y="408876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</a:t>
            </a:r>
            <a:r>
              <a:rPr lang="" altLang="en-US"/>
              <a:t>ᵢ </a:t>
            </a:r>
            <a:r>
              <a:rPr lang="zh-CN" altLang="en-US"/>
              <a:t>为相同的对角标准差逆矩阵，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参数尺度与 block-LM 正规方程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实现：_block_lm_linearized_block / regularize_fisher_matrix；GN 二次模型沿用 seed 第 5 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物理位姿变量 → 无量纲优化坐标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19" descr="\mathbf x_j=S_j\mathbf z_j,\quad S_j=\operatorname{diag}(s_b)_{b\in\mathrm{active}}"/>
              <p:cNvSpPr txBox="1"/>
              <p:nvPr/>
            </p:nvSpPr>
            <p:spPr>
              <a:xfrm>
                <a:off x="502920" y="1353312"/>
                <a:ext cx="6611112" cy="5669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𝑆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𝐳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𝑆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𝑑𝑖𝑎𝑔</m:t>
                      </m:r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𝑏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𝑏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∈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𝑎𝑐𝑡𝑖𝑣𝑒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" name="e019" descr="\mathbf x_j=S_j\mathbf z_j,\quad S_j=\operatorname{diag}(s_b)_{b\in\mathrm{active}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53312"/>
                <a:ext cx="6611112" cy="566928"/>
              </a:xfrm>
              <a:prstGeom prst="rect">
                <a:avLst/>
              </a:prstGeom>
              <a:blipFill rotWithShape="1">
                <a:blip r:embed="rId1"/>
                <a:stretch>
                  <a:fillRect t="-22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fallback_e020" descr="J_j=J_{j,\rm phys}S_j,\quad H_j=J_j^{\mathsf T}J_j,\quad\mathbf g_j=J_j^{\mathsf T}\mathbf r_j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95553"/>
            <a:ext cx="4296587" cy="3114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e021" descr="m_j(\Delta)=F_j+\mathbf g_j^{\mathsf T}\Delta+\tfrac12\Delta^{\mathsf T}H_j\Delta"/>
              <p:cNvSpPr txBox="1"/>
              <p:nvPr/>
            </p:nvSpPr>
            <p:spPr>
              <a:xfrm>
                <a:off x="502920" y="3904487"/>
                <a:ext cx="6611112" cy="5669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𝑚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𝐠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sz="20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𝐻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" name="e021" descr="m_j(\Delta)=F_j+\mathbf g_j^{\mathsf T}\Delta+\tfrac12\Delta^{\mathsf T}H_j\Delt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904487"/>
                <a:ext cx="6611112" cy="566928"/>
              </a:xfrm>
              <a:prstGeom prst="rect">
                <a:avLst/>
              </a:prstGeom>
              <a:blipFill rotWithShape="1">
                <a:blip r:embed="rId3"/>
                <a:stretch>
                  <a:fillRect t="-5914" r="2" b="-5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02920" y="5614416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本阶段的谱保护与阻尼尺度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022" descr="\overline H_j=\tfrac12(H_j+H_j^{\mathsf T}),\quad e_{\min},e_{\max}=\text{extreme eigenvalues}"/>
              <p:cNvSpPr txBox="1"/>
              <p:nvPr/>
            </p:nvSpPr>
            <p:spPr>
              <a:xfrm>
                <a:off x="502920" y="6044184"/>
                <a:ext cx="6611112" cy="57607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8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borderBox>
                            <m:borderBoxPr>
                              <m:hideBot m:val="on"/>
                              <m:hideLeft m:val="on"/>
                              <m:hideRight m:val="on"/>
                              <m:ctrlPr>
                                <a:rPr/>
                              </m:ctrlPr>
                            </m:borderBoxPr>
                            <m:e>
                              <m:r>
                                <a:rPr sz="1800">
                                  <a:latin typeface="Cambria Math" panose="02040503050406030204"/>
                                </a:rPr>
                                <m:t>𝐻</m:t>
                              </m:r>
                            </m:e>
                          </m:borderBox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8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80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18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a:rPr sz="18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00">
                              <a:latin typeface="Cambria Math" panose="02040503050406030204"/>
                            </a:rPr>
                            <m:t>𝐻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800">
                          <a:latin typeface="Cambria Math" panose="02040503050406030204"/>
                        </a:rPr>
                        <m:t>+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800">
                              <a:latin typeface="Cambria Math" panose="02040503050406030204"/>
                            </a:rPr>
                            <m:t>𝐻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18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1800">
                          <a:latin typeface="Cambria Math" panose="02040503050406030204"/>
                        </a:rPr>
                        <m:t>)</m:t>
                      </m:r>
                      <m:r>
                        <a:rPr sz="1800">
                          <a:latin typeface="Cambria Math" panose="02040503050406030204"/>
                        </a:rPr>
                        <m:t>,</m:t>
                      </m:r>
                      <m:r>
                        <a:rPr sz="18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00">
                              <a:latin typeface="Cambria Math" panose="02040503050406030204"/>
                            </a:rPr>
                            <m:t>𝑒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𝑚𝑖𝑛</m:t>
                          </m:r>
                          <m:r>
                            <a:rPr sz="1800">
                              <a:latin typeface="Cambria Math" panose="02040503050406030204"/>
                            </a:rPr>
                            <m:t>⁡</m:t>
                          </m:r>
                        </m:sub>
                      </m:sSub>
                      <m:r>
                        <a:rPr sz="18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00">
                              <a:latin typeface="Cambria Math" panose="02040503050406030204"/>
                            </a:rPr>
                            <m:t>𝑒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1800">
                              <a:latin typeface="Cambria Math" panose="02040503050406030204"/>
                            </a:rPr>
                            <m:t>⁡</m:t>
                          </m:r>
                        </m:sub>
                      </m:sSub>
                      <m:r>
                        <a:rPr sz="1800">
                          <a:latin typeface="Cambria Math" panose="02040503050406030204"/>
                        </a:rPr>
                        <m:t>=</m:t>
                      </m:r>
                      <m:r>
                        <m:rPr>
                          <m:nor/>
                        </m:rPr>
                        <a:rPr sz="1800">
                          <a:latin typeface="Cambria Math" panose="02040503050406030204"/>
                        </a:rPr>
                        <m:t>extreme</m:t>
                      </m:r>
                      <m:r>
                        <m:rPr>
                          <m:nor/>
                        </m:rPr>
                        <a:rPr sz="1800">
                          <a:latin typeface="Cambria Math" panose="02040503050406030204"/>
                        </a:rPr>
                        <m:t> </m:t>
                      </m:r>
                      <m:r>
                        <m:rPr>
                          <m:nor/>
                        </m:rPr>
                        <a:rPr sz="1800">
                          <a:latin typeface="Cambria Math" panose="02040503050406030204"/>
                        </a:rPr>
                        <m:t>eigenvalues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e022" descr="\overline H_j=\tfrac12(H_j+H_j^{\mathsf T}),\quad e_{\min},e_{\max}=\text{extreme eigenvalues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044184"/>
                <a:ext cx="6611112" cy="576072"/>
              </a:xfrm>
              <a:prstGeom prst="rect">
                <a:avLst/>
              </a:prstGeom>
              <a:blipFill rotWithShape="1">
                <a:blip r:embed="rId4"/>
                <a:stretch>
                  <a:fillRect t="-44" r="2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023" descr="\beta_j=\max\{0,\varepsilon_{\rm eig}\max(e_{\max},0)-e_{\min}\}"/>
              <p:cNvSpPr txBox="1"/>
              <p:nvPr/>
            </p:nvSpPr>
            <p:spPr>
              <a:xfrm>
                <a:off x="502920" y="6839712"/>
                <a:ext cx="6611112" cy="5943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𝛽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𝑚𝑎𝑥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{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𝜀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𝑒𝑖𝑔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𝑚𝑎𝑥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𝑒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⁡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𝑒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𝑚𝑖𝑛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⁡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e023" descr="\beta_j=\max\{0,\varepsilon_{\rm eig}\max(e_{\max},0)-e_{\min}\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839712"/>
                <a:ext cx="6611112" cy="594360"/>
              </a:xfrm>
              <a:prstGeom prst="rect">
                <a:avLst/>
              </a:prstGeom>
              <a:blipFill rotWithShape="1">
                <a:blip r:embed="rId5"/>
                <a:stretch>
                  <a:fillRect t="-21" r="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024" descr="\alpha_j=\max(e_{\max},1),\qquad M_j=\alpha_j I_{d_j}"/>
              <p:cNvSpPr txBox="1"/>
              <p:nvPr/>
            </p:nvSpPr>
            <p:spPr>
              <a:xfrm>
                <a:off x="7516368" y="1344168"/>
                <a:ext cx="6611112" cy="57607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𝛼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=</m:t>
                      </m:r>
                      <m:r>
                        <a:rPr sz="2100">
                          <a:latin typeface="Cambria Math" panose="02040503050406030204"/>
                        </a:rPr>
                        <m:t>𝑚𝑎𝑥</m:t>
                      </m:r>
                      <m:r>
                        <a:rPr sz="2100">
                          <a:latin typeface="Cambria Math" panose="02040503050406030204"/>
                        </a:rPr>
                        <m:t>⁡</m:t>
                      </m:r>
                      <m:r>
                        <a:rPr sz="21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𝑒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⁡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,</m:t>
                      </m:r>
                      <m:r>
                        <a:rPr sz="2100">
                          <a:latin typeface="Cambria Math" panose="02040503050406030204"/>
                        </a:rPr>
                        <m:t>1</m:t>
                      </m:r>
                      <m:r>
                        <a:rPr sz="2100">
                          <a:latin typeface="Cambria Math" panose="02040503050406030204"/>
                        </a:rPr>
                        <m:t>)</m:t>
                      </m:r>
                      <m:r>
                        <a:rPr sz="2100">
                          <a:latin typeface="Cambria Math" panose="02040503050406030204"/>
                        </a:rPr>
                        <m:t>,</m:t>
                      </m:r>
                      <m:r>
                        <a:rPr sz="21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𝑀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𝛼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" name="e024" descr="\alpha_j=\max(e_{\max},1),\qquad M_j=\alpha_j I_{d_j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344168"/>
                <a:ext cx="6611112" cy="576072"/>
              </a:xfrm>
              <a:prstGeom prst="rect">
                <a:avLst/>
              </a:prstGeom>
              <a:blipFill rotWithShape="1">
                <a:blip r:embed="rId6"/>
                <a:stretch>
                  <a:fillRect l="-8" t="-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025" descr="(\overline H_j+\beta_j I_{d_j}+\mu_jM_j)\Delta_j=-\mathbf g_j"/>
              <p:cNvSpPr txBox="1"/>
              <p:nvPr/>
            </p:nvSpPr>
            <p:spPr>
              <a:xfrm>
                <a:off x="7516368" y="2185416"/>
                <a:ext cx="6611112" cy="57607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1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borderBox>
                            <m:borderBoxPr>
                              <m:hideBot m:val="on"/>
                              <m:hideLeft m:val="on"/>
                              <m:hideRight m:val="on"/>
                              <m:ctrlPr>
                                <a:rPr/>
                              </m:ctrlPr>
                            </m:borderBox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𝐻</m:t>
                              </m:r>
                            </m:e>
                          </m:borderBox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𝛽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𝐼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100">
                                  <a:latin typeface="Cambria Math" panose="02040503050406030204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21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𝜇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𝑀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)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sz="21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 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=−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𝐠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6" name="e025" descr="(\overline H_j+\beta_j I_{d_j}+\mu_jM_j)\Delta_j=-\mathbf g_j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185416"/>
                <a:ext cx="6611112" cy="576072"/>
              </a:xfrm>
              <a:prstGeom prst="rect">
                <a:avLst/>
              </a:prstGeom>
              <a:blipFill rotWithShape="1">
                <a:blip r:embed="rId7"/>
                <a:stretch>
                  <a:fillRect l="-8" t="-66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026" descr="\Delta\mathbf x_j=S_j\Delta_j"/>
              <p:cNvSpPr txBox="1"/>
              <p:nvPr/>
            </p:nvSpPr>
            <p:spPr>
              <a:xfrm>
                <a:off x="7516368" y="3026664"/>
                <a:ext cx="6611112" cy="49377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2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sz="2200">
                          <a:latin typeface="Cambria Math" panose="02040503050406030204"/>
                        </a:rPr>
                        <m:t>Δ</m:t>
                      </m:r>
                      <m:r>
                        <a:rPr sz="22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200">
                              <a:latin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a:rPr sz="22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2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200">
                              <a:latin typeface="Cambria Math" panose="02040503050406030204"/>
                            </a:rPr>
                            <m:t>𝑆</m:t>
                          </m:r>
                        </m:e>
                        <m:sub>
                          <m:r>
                            <a:rPr sz="22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sz="22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2200">
                              <a:latin typeface="Cambria Math" panose="02040503050406030204"/>
                            </a:rPr>
                            <m:t> </m:t>
                          </m:r>
                        </m:e>
                        <m:sub>
                          <m:r>
                            <a:rPr sz="22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" name="e026" descr="\Delta\mathbf x_j=S_j\Delta_j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3026664"/>
                <a:ext cx="6611112" cy="493776"/>
              </a:xfrm>
              <a:prstGeom prst="rect">
                <a:avLst/>
              </a:prstGeom>
              <a:blipFill rotWithShape="1">
                <a:blip r:embed="rId8"/>
                <a:stretch>
                  <a:fillRect l="-8" t="-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7516368" y="5056632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求步与诊断使用不同矩阵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5468112"/>
            <a:ext cx="6611112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求步对全部选定 active DOF 解正则化方程；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自由集只用于驻点 / KKT 检查，不缩减此求步系统。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6446520"/>
            <a:ext cx="66111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solve 失败时回退 lstsq，并记录秩亏证据。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阻尼可使方程可解，却不能恢复数据缺少的约束；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不能用加大阻尼后的低 decrement 证明收敛。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24815" y="2047240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全六维尺度为 (1, 1, 1 </a:t>
            </a:r>
            <a:r>
              <a:rPr lang="en-US" altLang="zh-CN"/>
              <a:t>mm；0.01, 0.01, 0.01 rad)，</a:t>
            </a:r>
            <a:endParaRPr lang="en-US" altLang="zh-CN"/>
          </a:p>
          <a:p>
            <a:r>
              <a:rPr lang="zh-CN" altLang="en-US"/>
              <a:t>按 </a:t>
            </a:r>
            <a:r>
              <a:rPr lang="en-US" altLang="zh-CN"/>
              <a:t>active_dof </a:t>
            </a:r>
            <a:r>
              <a:rPr lang="zh-CN" altLang="en-US"/>
              <a:t>选取；</a:t>
            </a:r>
            <a:r>
              <a:rPr lang="en-US" altLang="zh-CN"/>
              <a:t>S</a:t>
            </a:r>
            <a:r>
              <a:rPr lang="en-US" altLang="en-US"/>
              <a:t>ⱼ </a:t>
            </a:r>
            <a:r>
              <a:rPr lang="zh-CN" altLang="en-US"/>
              <a:t>严格正对角。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288530" y="85407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  LM </a:t>
            </a:r>
            <a:r>
              <a:rPr lang="zh-CN" altLang="en-US"/>
              <a:t>方程：谱下限补偿 + 自适应阻尼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候选限制、固定集接受与阻尼重试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实现：run_block_lm_alignment / _block_lm_retry_damping；同次访问的拒绝重试复用 J、H、g。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步长上限与可行域边界分别处理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27" descr="\Delta\mathbf x_j^{\rm cap}=\operatorname{clip}(S_j\Delta_j,-\Delta_{\max},\Delta_{\max})"/>
              <p:cNvSpPr txBox="1"/>
              <p:nvPr/>
            </p:nvSpPr>
            <p:spPr>
              <a:xfrm>
                <a:off x="502920" y="1344168"/>
                <a:ext cx="6611112" cy="55778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𝑐𝑎𝑝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𝑐𝑙𝑖𝑝</m:t>
                      </m:r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𝑆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sz="20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sz="20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sz="20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027" descr="\Delta\mathbf x_j^{\rm cap}=\operatorname{clip}(S_j\Delta_j,-\Delta_{\max},\Delta_{\max}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44168"/>
                <a:ext cx="6611112" cy="557784"/>
              </a:xfrm>
              <a:prstGeom prst="rect">
                <a:avLst/>
              </a:prstGeom>
              <a:blipFill rotWithShape="1">
                <a:blip r:embed="rId1"/>
                <a:stretch>
                  <a:fillRect t="-91" r="2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28" descr="\mathbf x_j^c=\operatorname{clip}(\mathbf x_j+\Delta\mathbf x_j^{\rm cap},\mathbf l_j,\mathbf u_j)"/>
              <p:cNvSpPr txBox="1"/>
              <p:nvPr/>
            </p:nvSpPr>
            <p:spPr>
              <a:xfrm>
                <a:off x="502920" y="2148840"/>
                <a:ext cx="6611112" cy="5394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𝑐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𝑐𝑙𝑖𝑝</m:t>
                      </m:r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𝐱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𝑐𝑎𝑝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𝐥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𝐮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028" descr="\mathbf x_j^c=\operatorname{clip}(\mathbf x_j+\Delta\mathbf x_j^{\rm cap},\mathbf l_j,\mathbf u_j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148840"/>
                <a:ext cx="6611112" cy="539496"/>
              </a:xfrm>
              <a:prstGeom prst="rect">
                <a:avLst/>
              </a:prstGeom>
              <a:blipFill rotWithShape="1">
                <a:blip r:embed="rId2"/>
                <a:stretch>
                  <a:fillRect r="2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02920" y="4206240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重新求交，在同一个 Eⱼ 上评分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029" descr="(\chi_j^2)^c_{\mathcal E_j}&lt; (\chi_j^2)_{\mathcal E_j},\quad\mathcal E_j\subseteq\mathcal E_j^c"/>
              <p:cNvSpPr txBox="1"/>
              <p:nvPr/>
            </p:nvSpPr>
            <p:spPr>
              <a:xfrm>
                <a:off x="502920" y="4636008"/>
                <a:ext cx="6611112" cy="5669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𝜒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  <m:sup>
                              <m:r>
                                <a:rPr sz="2000">
                                  <a:latin typeface="Cambria Math" panose="02040503050406030204"/>
                                </a:rPr>
                                <m:t>2</m:t>
                              </m:r>
                            </m:sup>
                          </m:sSubSup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ℰ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𝑐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&lt;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𝜒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  <m:sup>
                              <m:r>
                                <a:rPr sz="2000">
                                  <a:latin typeface="Cambria Math" panose="02040503050406030204"/>
                                </a:rPr>
                                <m:t>2</m:t>
                              </m:r>
                            </m:sup>
                          </m:sSubSup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ℰ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ℰ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⊆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ℰ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𝑐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0" name="e029" descr="(\chi_j^2)^c_{\mathcal E_j}&lt; (\chi_j^2)_{\mathcal E_j},\quad\mathcal E_j\subseteq\mathcal E_j^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636008"/>
                <a:ext cx="6611112" cy="566928"/>
              </a:xfrm>
              <a:prstGeom prst="rect">
                <a:avLst/>
              </a:prstGeom>
              <a:blipFill rotWithShape="1">
                <a:blip r:embed="rId3"/>
                <a:stretch>
                  <a:fillRect t="-90" r="2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30" descr="\operatorname{finite}((\chi_j^2)^c_{\mathcal E_j}),\quad q_j^c\le\max(q_j,q_{\max})"/>
              <p:cNvSpPr txBox="1"/>
              <p:nvPr/>
            </p:nvSpPr>
            <p:spPr>
              <a:xfrm>
                <a:off x="502920" y="5449824"/>
                <a:ext cx="6611112" cy="58521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𝑓𝑖𝑛𝑖𝑡𝑒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𝜒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  <m:sup>
                              <m:r>
                                <a:rPr sz="1900">
                                  <a:latin typeface="Cambria Math" panose="02040503050406030204"/>
                                </a:rPr>
                                <m:t>2</m:t>
                              </m:r>
                            </m:sup>
                          </m:sSubSup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ℰ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</m:sSub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𝑐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𝑞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𝑐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≤</m:t>
                      </m:r>
                      <m:r>
                        <a:rPr sz="1900">
                          <a:latin typeface="Cambria Math" panose="02040503050406030204"/>
                        </a:rPr>
                        <m:t>𝑚𝑎𝑥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𝑞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𝑞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⁡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e030" descr="\operatorname{finite}((\chi_j^2)^c_{\mathcal E_j}),\quad q_j^c\le\max(q_j,q_{\max}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449824"/>
                <a:ext cx="6611112" cy="585216"/>
              </a:xfrm>
              <a:prstGeom prst="rect">
                <a:avLst/>
              </a:prstGeom>
              <a:blipFill rotWithShape="1">
                <a:blip r:embed="rId4"/>
                <a:stretch>
                  <a:fillRect t="-43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7516368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3  接受后减半；拒绝后沿绝对阶梯增大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031" descr="\text{accept}:\quad\mu_j^+=\max(\mu_j/2,10^{-12})"/>
              <p:cNvSpPr txBox="1"/>
              <p:nvPr/>
            </p:nvSpPr>
            <p:spPr>
              <a:xfrm>
                <a:off x="7516368" y="1362456"/>
                <a:ext cx="6611112" cy="5486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sz="2100">
                          <a:latin typeface="Cambria Math" panose="02040503050406030204"/>
                        </a:rPr>
                        <m:t>accept</m:t>
                      </m:r>
                      <m:r>
                        <a:rPr sz="2100">
                          <a:latin typeface="Cambria Math" panose="02040503050406030204"/>
                        </a:rPr>
                        <m:t>:</m:t>
                      </m:r>
                      <m:r>
                        <a:rPr sz="21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100">
                              <a:latin typeface="Cambria Math" panose="02040503050406030204"/>
                            </a:rPr>
                            <m:t>𝜇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2100">
                              <a:latin typeface="Cambria Math" panose="02040503050406030204"/>
                            </a:rPr>
                            <m:t>+</m:t>
                          </m:r>
                        </m:sup>
                      </m:sSubSup>
                      <m:r>
                        <a:rPr sz="2100">
                          <a:latin typeface="Cambria Math" panose="02040503050406030204"/>
                        </a:rPr>
                        <m:t>=</m:t>
                      </m:r>
                      <m:r>
                        <a:rPr sz="2100">
                          <a:latin typeface="Cambria Math" panose="02040503050406030204"/>
                        </a:rPr>
                        <m:t>𝑚𝑎𝑥</m:t>
                      </m:r>
                      <m:r>
                        <a:rPr sz="2100">
                          <a:latin typeface="Cambria Math" panose="02040503050406030204"/>
                        </a:rPr>
                        <m:t>⁡</m:t>
                      </m:r>
                      <m:r>
                        <a:rPr sz="21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𝜇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00">
                              <a:latin typeface="Cambria Math" panose="02040503050406030204"/>
                            </a:rPr>
                            <m:t>2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21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12</m:t>
                          </m:r>
                        </m:sup>
                      </m:sSup>
                      <m:r>
                        <a:rPr sz="21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e031" descr="\text{accept}:\quad\mu_j^+=\max(\mu_j/2,10^{-12}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362456"/>
                <a:ext cx="6611112" cy="548640"/>
              </a:xfrm>
              <a:prstGeom prst="rect">
                <a:avLst/>
              </a:prstGeom>
              <a:blipFill rotWithShape="1">
                <a:blip r:embed="rId5"/>
                <a:stretch>
                  <a:fillRect l="-8" t="-6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032" descr="\mu_{\rm anchor}=\max(\mu_{\rm init},10^{-3})"/>
              <p:cNvSpPr txBox="1"/>
              <p:nvPr/>
            </p:nvSpPr>
            <p:spPr>
              <a:xfrm>
                <a:off x="7516368" y="2157984"/>
                <a:ext cx="6611112" cy="5212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𝜇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𝑎𝑛𝑐ℎ𝑜𝑟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=</m:t>
                      </m:r>
                      <m:r>
                        <a:rPr sz="2100">
                          <a:latin typeface="Cambria Math" panose="02040503050406030204"/>
                        </a:rPr>
                        <m:t>𝑚𝑎𝑥</m:t>
                      </m:r>
                      <m:r>
                        <a:rPr sz="2100">
                          <a:latin typeface="Cambria Math" panose="02040503050406030204"/>
                        </a:rPr>
                        <m:t>⁡</m:t>
                      </m:r>
                      <m:r>
                        <a:rPr sz="21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𝜇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𝑖𝑛𝑖𝑡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,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21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3</m:t>
                          </m:r>
                        </m:sup>
                      </m:sSup>
                      <m:r>
                        <a:rPr sz="21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5" name="e032" descr="\mu_{\rm anchor}=\max(\mu_{\rm init},10^{-3}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157984"/>
                <a:ext cx="6611112" cy="521207"/>
              </a:xfrm>
              <a:prstGeom prst="rect">
                <a:avLst/>
              </a:prstGeom>
              <a:blipFill rotWithShape="1">
                <a:blip r:embed="rId6"/>
                <a:stretch>
                  <a:fillRect l="-8" t="-49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033" descr="\text{retry }b:\quad\mu_j^+=\min\{\max(10\mu_j,\mu_{\rm anchor}10^b),10^{12}\}"/>
              <p:cNvSpPr txBox="1"/>
              <p:nvPr/>
            </p:nvSpPr>
            <p:spPr>
              <a:xfrm>
                <a:off x="7516368" y="2953512"/>
                <a:ext cx="6611112" cy="60350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8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sz="1800">
                          <a:latin typeface="Cambria Math" panose="02040503050406030204"/>
                        </a:rPr>
                        <m:t>retry</m:t>
                      </m:r>
                      <m:r>
                        <a:rPr sz="1800">
                          <a:latin typeface="Cambria Math" panose="02040503050406030204"/>
                        </a:rPr>
                        <m:t>𝑏</m:t>
                      </m:r>
                      <m:r>
                        <a:rPr sz="1800">
                          <a:latin typeface="Cambria Math" panose="02040503050406030204"/>
                        </a:rPr>
                        <m:t>:</m:t>
                      </m:r>
                      <m:r>
                        <a:rPr sz="18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800">
                              <a:latin typeface="Cambria Math" panose="02040503050406030204"/>
                            </a:rPr>
                            <m:t>𝜇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𝑗</m:t>
                          </m:r>
                        </m:sub>
                        <m:sup>
                          <m:r>
                            <a:rPr sz="1800">
                              <a:latin typeface="Cambria Math" panose="02040503050406030204"/>
                            </a:rPr>
                            <m:t>+</m:t>
                          </m:r>
                        </m:sup>
                      </m:sSubSup>
                      <m:r>
                        <a:rPr sz="1800">
                          <a:latin typeface="Cambria Math" panose="02040503050406030204"/>
                        </a:rPr>
                        <m:t>=</m:t>
                      </m:r>
                      <m:r>
                        <a:rPr sz="1800">
                          <a:latin typeface="Cambria Math" panose="02040503050406030204"/>
                        </a:rPr>
                        <m:t>𝑚𝑖𝑛</m:t>
                      </m:r>
                      <m:r>
                        <a:rPr sz="1800">
                          <a:latin typeface="Cambria Math" panose="02040503050406030204"/>
                        </a:rPr>
                        <m:t>⁡</m:t>
                      </m:r>
                      <m:r>
                        <a:rPr sz="1800">
                          <a:latin typeface="Cambria Math" panose="02040503050406030204"/>
                        </a:rPr>
                        <m:t>{</m:t>
                      </m:r>
                      <m:r>
                        <a:rPr sz="1800">
                          <a:latin typeface="Cambria Math" panose="02040503050406030204"/>
                        </a:rPr>
                        <m:t>𝑚𝑎𝑥</m:t>
                      </m:r>
                      <m:r>
                        <a:rPr sz="1800">
                          <a:latin typeface="Cambria Math" panose="02040503050406030204"/>
                        </a:rPr>
                        <m:t>⁡</m:t>
                      </m:r>
                      <m:r>
                        <a:rPr sz="1800">
                          <a:latin typeface="Cambria Math" panose="02040503050406030204"/>
                        </a:rPr>
                        <m:t>(</m:t>
                      </m:r>
                      <m:r>
                        <a:rPr sz="1800">
                          <a:latin typeface="Cambria Math" panose="02040503050406030204"/>
                        </a:rPr>
                        <m:t>10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00">
                              <a:latin typeface="Cambria Math" panose="02040503050406030204"/>
                            </a:rPr>
                            <m:t>𝜇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8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00">
                              <a:latin typeface="Cambria Math" panose="02040503050406030204"/>
                            </a:rPr>
                            <m:t>𝜇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𝑎𝑛𝑐ℎ𝑜𝑟</m:t>
                          </m:r>
                        </m:sub>
                      </m:sSub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8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1800">
                              <a:latin typeface="Cambria Math" panose="02040503050406030204"/>
                            </a:rPr>
                            <m:t>𝑏</m:t>
                          </m:r>
                        </m:sup>
                      </m:sSup>
                      <m:r>
                        <a:rPr sz="1800">
                          <a:latin typeface="Cambria Math" panose="02040503050406030204"/>
                        </a:rPr>
                        <m:t>)</m:t>
                      </m:r>
                      <m:r>
                        <a:rPr sz="1800">
                          <a:latin typeface="Cambria Math" panose="02040503050406030204"/>
                        </a:rPr>
                        <m:t>,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8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1800">
                              <a:latin typeface="Cambria Math" panose="02040503050406030204"/>
                            </a:rPr>
                            <m:t>12</m:t>
                          </m:r>
                        </m:sup>
                      </m:sSup>
                      <m:r>
                        <a:rPr sz="1800">
                          <a:latin typeface="Cambria Math" panose="02040503050406030204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6" name="e033" descr="\text{retry }b:\quad\mu_j^+=\min\{\max(10\mu_j,\mu_{\rm anchor}10^b),10^{12}\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953512"/>
                <a:ext cx="6611112" cy="603504"/>
              </a:xfrm>
              <a:prstGeom prst="rect">
                <a:avLst/>
              </a:prstGeom>
              <a:blipFill rotWithShape="1">
                <a:blip r:embed="rId7"/>
                <a:stretch>
                  <a:fillRect l="-8" t="-21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7516368" y="4809744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一次块访问的结果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5248656"/>
            <a:ext cx="6611112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接受：提交 ξ，保留减小后的 μ，下一轮重新线性化。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重试耗尽：保留 ξ，记录失败原因并退出该块。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谱秩亏本身不会立即退出，仍可尝试正则化求步。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6528816"/>
            <a:ext cx="661111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采用分量限步与阻尼阶梯，不计算 gain ratio。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新加入的有效分量在下一次线性化进入比较集合。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84505" y="2948940"/>
            <a:ext cx="52336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逐分量步长上限：平移 0.1 </a:t>
            </a:r>
            <a:r>
              <a:rPr lang="en-US" altLang="zh-CN"/>
              <a:t>mm，</a:t>
            </a:r>
            <a:r>
              <a:rPr lang="zh-CN" altLang="en-US"/>
              <a:t>旋转 5×10⁻³ </a:t>
            </a:r>
            <a:r>
              <a:rPr lang="en-US" altLang="zh-CN"/>
              <a:t>rad。</a:t>
            </a:r>
            <a:endParaRPr lang="en-US" altLang="zh-CN"/>
          </a:p>
          <a:p>
            <a:r>
              <a:rPr lang="zh-CN" altLang="en-US"/>
              <a:t>累计硬边界：平移 ±1.5 </a:t>
            </a:r>
            <a:r>
              <a:rPr lang="en-US" altLang="zh-CN"/>
              <a:t>mm，</a:t>
            </a:r>
            <a:r>
              <a:rPr lang="zh-CN" altLang="en-US"/>
              <a:t>旋转 ±0.05 </a:t>
            </a:r>
            <a:r>
              <a:rPr lang="en-US" altLang="zh-CN"/>
              <a:t>rad。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自由集、驻点指标与终态分类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实现：_block_lm_free_dof_mask / _block_lm_decrement / _block_lm_block_status；ν 对应代码 lambda2。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硬边界上的一阶 KKT 条件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34" descr="\mathcal U_j=\{b:\neg[(x_b\ge u_b-\epsilon_b\land g_b&lt;0)"/>
              <p:cNvSpPr txBox="1"/>
              <p:nvPr/>
            </p:nvSpPr>
            <p:spPr>
              <a:xfrm>
                <a:off x="502920" y="1335024"/>
                <a:ext cx="6611112" cy="52120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𝒰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={</m:t>
                      </m:r>
                      <m:r>
                        <a:rPr sz="1900">
                          <a:latin typeface="Cambria Math" panose="02040503050406030204"/>
                        </a:rPr>
                        <m:t>𝑏</m:t>
                      </m:r>
                      <m:r>
                        <a:rPr sz="1900">
                          <a:latin typeface="Cambria Math" panose="02040503050406030204"/>
                        </a:rPr>
                        <m:t>:¬[(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𝑥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≥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𝑢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𝜖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∧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𝑔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&lt;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034" descr="\mathcal U_j=\{b:\neg[(x_b\ge u_b-\epsilon_b\land g_b&lt;0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35024"/>
                <a:ext cx="6611112" cy="521207"/>
              </a:xfrm>
              <a:prstGeom prst="rect">
                <a:avLst/>
              </a:prstGeom>
              <a:blipFill rotWithShape="1">
                <a:blip r:embed="rId1"/>
                <a:stretch>
                  <a:fillRect t="-49" r="2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35" descr="\qquad\lor(x_b\le l_b+\epsilon_b\land g_b&gt;0)]\}"/>
              <p:cNvSpPr txBox="1"/>
              <p:nvPr/>
            </p:nvSpPr>
            <p:spPr>
              <a:xfrm>
                <a:off x="502920" y="1929384"/>
                <a:ext cx="6611112" cy="5029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∨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𝑥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≤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𝑙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𝜖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∧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𝑔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&gt;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]}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035" descr="\qquad\lor(x_b\le l_b+\epsilon_b\land g_b&gt;0)]\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929384"/>
                <a:ext cx="6611112" cy="502920"/>
              </a:xfrm>
              <a:prstGeom prst="rect">
                <a:avLst/>
              </a:prstGeom>
              <a:blipFill rotWithShape="1">
                <a:blip r:embed="rId2"/>
                <a:stretch>
                  <a:fillRect t="-51" r="2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02920" y="3575304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自由集谱分解，诊断不加阻尼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036" descr="\overline H_{\mathcal U}=Q\operatorname{diag}(e_b)Q^{\mathsf T},\quad\mathbf a=Q^{\mathsf T}\mathbf g_{\mathcal U}"/>
              <p:cNvSpPr txBox="1"/>
              <p:nvPr/>
            </p:nvSpPr>
            <p:spPr>
              <a:xfrm>
                <a:off x="502920" y="3995928"/>
                <a:ext cx="6611112" cy="57607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borderBox>
                            <m:borderBoxPr>
                              <m:hideBot m:val="on"/>
                              <m:hideLeft m:val="on"/>
                              <m:hideRight m:val="on"/>
                              <m:ctrlPr>
                                <a:rPr/>
                              </m:ctrlPr>
                            </m:borderBox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𝐻</m:t>
                              </m:r>
                            </m:e>
                          </m:borderBox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𝒰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𝑄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𝑑𝑖𝑎𝑔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𝑒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𝑄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𝐚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𝑄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𝐠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𝒰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" name="e036" descr="\overline H_{\mathcal U}=Q\operatorname{diag}(e_b)Q^{\mathsf T},\quad\mathbf a=Q^{\mathsf T}\mathbf g_{\mathcal U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995928"/>
                <a:ext cx="6611112" cy="576072"/>
              </a:xfrm>
              <a:prstGeom prst="rect">
                <a:avLst/>
              </a:prstGeom>
              <a:blipFill rotWithShape="1">
                <a:blip r:embed="rId3"/>
                <a:stretch>
                  <a:fillRect t="-88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37" descr="\nu_j=\sum_{e_b&gt;\varepsilon_{\rm eig}\max(e_{\max,\mathcal U},0)}\frac{a_b^2}{e_b}"/>
              <p:cNvSpPr txBox="1"/>
              <p:nvPr/>
            </p:nvSpPr>
            <p:spPr>
              <a:xfrm>
                <a:off x="502920" y="4666488"/>
                <a:ext cx="6611112" cy="10363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55">
                              <a:latin typeface="Cambria Math" panose="02040503050406030204"/>
                            </a:rPr>
                            <m:t>𝜈</m:t>
                          </m:r>
                        </m:e>
                        <m:sub>
                          <m:r>
                            <a:rPr sz="1955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55">
                          <a:latin typeface="Cambria Math" panose="02040503050406030204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limLoc m:val="subSup"/>
                          <m:supHide m:val="on"/>
                          <m:ctrlPr>
                            <a:rPr/>
                          </m:ctrlPr>
                        </m:naryPr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55">
                                  <a:latin typeface="Cambria Math" panose="02040503050406030204"/>
                                </a:rPr>
                                <m:t>𝑒</m:t>
                              </m:r>
                            </m:e>
                            <m:sub>
                              <m:r>
                                <a:rPr sz="1955">
                                  <a:latin typeface="Cambria Math" panose="02040503050406030204"/>
                                </a:rPr>
                                <m:t>𝑏</m:t>
                              </m:r>
                            </m:sub>
                          </m:sSub>
                          <m:r>
                            <a:rPr sz="1955">
                              <a:latin typeface="Cambria Math" panose="02040503050406030204"/>
                            </a:rPr>
                            <m:t>&gt;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55">
                                  <a:latin typeface="Cambria Math" panose="02040503050406030204"/>
                                </a:rPr>
                                <m:t>𝜀</m:t>
                              </m:r>
                            </m:e>
                            <m:sub>
                              <m:r>
                                <a:rPr sz="1955">
                                  <a:latin typeface="Cambria Math" panose="02040503050406030204"/>
                                </a:rPr>
                                <m:t>𝑒𝑖𝑔</m:t>
                              </m:r>
                            </m:sub>
                          </m:sSub>
                          <m:r>
                            <a:rPr sz="1955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1955">
                              <a:latin typeface="Cambria Math" panose="02040503050406030204"/>
                            </a:rPr>
                            <m:t>⁡(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55">
                                  <a:latin typeface="Cambria Math" panose="02040503050406030204"/>
                                </a:rPr>
                                <m:t>𝑒</m:t>
                              </m:r>
                            </m:e>
                            <m:sub>
                              <m:r>
                                <a:rPr sz="1955">
                                  <a:latin typeface="Cambria Math" panose="02040503050406030204"/>
                                </a:rPr>
                                <m:t>𝑚𝑎𝑥</m:t>
                              </m:r>
                              <m:r>
                                <a:rPr sz="1955">
                                  <a:latin typeface="Cambria Math" panose="02040503050406030204"/>
                                </a:rPr>
                                <m:t>⁡</m:t>
                              </m:r>
                              <m:r>
                                <a:rPr sz="1955">
                                  <a:latin typeface="Cambria Math" panose="02040503050406030204"/>
                                </a:rPr>
                                <m:t> ,</m:t>
                              </m:r>
                              <m:r>
                                <a:rPr sz="1955">
                                  <a:latin typeface="Cambria Math" panose="02040503050406030204"/>
                                </a:rPr>
                                <m:t>𝒰</m:t>
                              </m:r>
                            </m:sub>
                          </m:sSub>
                          <m:r>
                            <a:rPr sz="1955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55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955">
                              <a:latin typeface="Cambria Math" panose="02040503050406030204"/>
                            </a:rPr>
                            <m:t>)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/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/>
                                  </m:ctrlPr>
                                </m:sSubSupPr>
                                <m:e>
                                  <m:r>
                                    <a:rPr>
                                      <a:latin typeface="Cambria Math" panose="02040503050406030204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>
                                      <a:latin typeface="Cambria Math" panose="02040503050406030204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/>
                                    </a:rPr>
                                    <m:t>𝑏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1" name="e037" descr="\nu_j=\sum_{e_b&gt;\varepsilon_{\rm eig}\max(e_{\max,\mathcal U},0)}\frac{a_b^2}{e_b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666488"/>
                <a:ext cx="6611112" cy="1036320"/>
              </a:xfrm>
              <a:prstGeom prst="rect">
                <a:avLst/>
              </a:prstGeom>
              <a:blipFill rotWithShape="1">
                <a:blip r:embed="rId4"/>
                <a:stretch>
                  <a:fillRect t="-49" r="2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038" descr="\mathcal U_j=\varnothing\quad\text{or}\quad\nu_j/N_j\le10^{-6}"/>
              <p:cNvSpPr txBox="1"/>
              <p:nvPr/>
            </p:nvSpPr>
            <p:spPr>
              <a:xfrm>
                <a:off x="502920" y="6793992"/>
                <a:ext cx="6611112" cy="57607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𝒰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=⌀</m:t>
                      </m:r>
                      <m:r>
                        <a:rPr sz="2100">
                          <a:latin typeface="Cambria Math" panose="02040503050406030204"/>
                        </a:rPr>
                        <m:t> </m:t>
                      </m:r>
                      <m:r>
                        <m:rPr>
                          <m:nor/>
                        </m:rPr>
                        <a:rPr sz="2100">
                          <a:latin typeface="Cambria Math" panose="02040503050406030204"/>
                        </a:rPr>
                        <m:t>or</m:t>
                      </m:r>
                      <m:r>
                        <a:rPr sz="21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𝜈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/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100">
                              <a:latin typeface="Cambria Math" panose="02040503050406030204"/>
                            </a:rPr>
                            <m:t>𝑁</m:t>
                          </m:r>
                        </m:e>
                        <m:sub>
                          <m:r>
                            <a:rPr sz="21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2100">
                          <a:latin typeface="Cambria Math" panose="02040503050406030204"/>
                        </a:rPr>
                        <m:t>≤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1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21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2100">
                              <a:latin typeface="Cambria Math" panose="02040503050406030204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3" name="e038" descr="\mathcal U_j=\varnothing\quad\text{or}\quad\nu_j/N_j\le10^{-6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793992"/>
                <a:ext cx="6611112" cy="576072"/>
              </a:xfrm>
              <a:prstGeom prst="rect">
                <a:avLst/>
              </a:prstGeom>
              <a:blipFill rotWithShape="1">
                <a:blip r:embed="rId5"/>
                <a:stretch>
                  <a:fillRect t="-22" r="2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7516368" y="1335024"/>
            <a:ext cx="6611112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仅非秩亏块满足左下判据才按驻点退出。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自由集为空意味着箱约束 KKT 条件成立；其 ν = 0。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阈值按有效分量归一化，不是 refit 的逐轨绝对 ν。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516368" y="2670048"/>
          <a:ext cx="661111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5038344"/>
              </a:tblGrid>
              <a:tr h="35661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情况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状态与含义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无 target hit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no_data；不进入有数据块统计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求交失败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intersection_failed；无有效点 / 重试丢点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秩亏证据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rank_deficient；弱模 / 曾用 lstsq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驻点 / KKT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converged；在上述优先级之后判定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剩余情况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budget_exhausted；轮数 / 重试耗尽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516368" y="5084064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最后一次记录不等于重新验收终态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5504688"/>
            <a:ext cx="6611112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默认最多 60 轮；最后一轮接受后，代码不额外重算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该块的终态 ν。预算耗尽记录可能来自接受前线性化。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最终只另评总体残差与求交失效率；返回当前几何，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不回滚到 best_iteration。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7095744"/>
            <a:ext cx="661111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驻点说明局部模型难以继续下降，不证明几何真值恢复。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09905" y="5891530"/>
            <a:ext cx="5139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存在弱模即秩亏：截去弱模后的 </a:t>
            </a:r>
            <a:r>
              <a:rPr lang="en-US" altLang="zh-CN"/>
              <a:t>ν </a:t>
            </a:r>
            <a:r>
              <a:rPr lang="zh-CN" altLang="en-US"/>
              <a:t>仅为保守下界，</a:t>
            </a:r>
            <a:endParaRPr lang="en-US" altLang="zh-CN"/>
          </a:p>
          <a:p>
            <a:r>
              <a:rPr lang="zh-CN" altLang="en-US"/>
              <a:t>不能凭小 </a:t>
            </a:r>
            <a:r>
              <a:rPr lang="en-US" altLang="zh-CN"/>
              <a:t>ν </a:t>
            </a:r>
            <a:r>
              <a:rPr lang="zh-CN" altLang="en-US"/>
              <a:t>判收敛；满秩时才等于 </a:t>
            </a:r>
            <a:r>
              <a:rPr lang="en-US" altLang="zh-CN"/>
              <a:t>g</a:t>
            </a:r>
            <a:r>
              <a:rPr lang="" altLang="en-US"/>
              <a:t>ᵁᵀ</a:t>
            </a:r>
            <a:r>
              <a:rPr lang="en-US" altLang="zh-CN"/>
              <a:t>H</a:t>
            </a:r>
            <a:r>
              <a:rPr lang="" altLang="en-US"/>
              <a:t>ᵁ⁻¹</a:t>
            </a:r>
            <a:r>
              <a:rPr lang="en-US" altLang="zh-CN"/>
              <a:t>g</a:t>
            </a:r>
            <a:r>
              <a:rPr lang="" altLang="en-US"/>
              <a:t>ᵁ</a:t>
            </a:r>
            <a:endParaRPr lang="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425055" y="84772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3  判据与状态的优先级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4785</Words>
  <Application>WPS 演示</Application>
  <PresentationFormat>On-screen Show (4:3)</PresentationFormat>
  <Paragraphs>304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Cambria Math</vt:lpstr>
      <vt:lpstr>Cambria Math</vt:lpstr>
      <vt:lpstr>Calibri</vt:lpstr>
      <vt:lpstr>Arial Unicode MS</vt:lpstr>
      <vt:lpstr>BatangChe</vt:lpstr>
      <vt:lpstr>Liberation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block-LM 数学推导：紧凑审阅版</dc:title>
  <dc:creator>ML_Alignment</dc:creator>
  <dc:description>generated using python-pptx</dc:description>
  <dc:subject>Sensor block-LM · 六页推导 · 与当前实现核对</dc:subject>
  <cp:lastModifiedBy>是加号不是减号噢</cp:lastModifiedBy>
  <cp:revision>2</cp:revision>
  <dcterms:created xsi:type="dcterms:W3CDTF">2013-01-27T09:14:00Z</dcterms:created>
  <dcterms:modified xsi:type="dcterms:W3CDTF">2026-09-16T04:03:47Z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3BB0543ECA204490964D123784F881E8_12</vt:lpwstr>
  </property>
</Properties>
</file>